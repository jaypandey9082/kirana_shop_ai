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(30 sec): We are Team HackHorizon. We started from the merchant's workflow, not from the AI model: what takes time at the counter, what is still manual, and what a shopkeeper would actually use on a busy day. Payments are digital, but the rest of the store is still fragmented. So we designed Kirana Shop AI: Counter, Shop, Khata and Salaahkaar, one operating loop around Paytm payments.
One-line promise: an AI business partner for every neighbourhood dukaan.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these as initial workflow observations and opportunity hypotheses, not as statistically proven findings. We do not quote a number of shopkeeper conversations. The discovery questions on the left guide our ongoing merchant discovery and will be used to validate these observations during the pilot.
Key message (hypothesis to validate): the main friction appears to be operational (billing, stock, udhaar, decisions), not payment acceptance. Payment is the part that already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not payments alone. Payment acceptance is solved and mainstream. What is still fragmented is the workflow around the payment: billing, stock, receivables and decisions.
Sources: DPIIT/ONDC communication (12 June 2026) on 1.4 crore+ kirana stores and ~75–80% of FMCG sales. NPCI UPI product statistics: 24,508.96 million UPI transactions worth ₹29,82,355.95 crore in August 2026. Present the 1.4 crore number as the problem space, not as an immediate revenue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(60 sec): At the Counter, a merchant can create a bill four ways: barcode, camera, voice or parchi. In Shop, that same catalogue becomes a QR-powered storefront where customers can order and pay. In Khata, udhaar becomes a digital collection workflow. And Salaahkaar is the AI layer: the merchant can speak in their own language and ask about sales, stock, dues and what to do next.
We do not build a new payment rail. The payment layer uses Paytm's existing merchant acceptance and payment-gateway capabilities.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Counter: four input modes create one invoice. Barcode = product lookup. Photo = visual match to the catalogue, merchant confirms if unsure. Voice = speech-to-text, intent extraction, catalogue lookup. Parchi = OCR plus structured extraction plus merchant confirmation.
Product rule: AI assists the bill; it never silently decides the final amount. Every uncertain line is editable before payment.
Shop: every merchant gets a lightweight storefront from the same catalogue. Customer opens it from a QR or shared link, orders, and pays through the Paytm checkout flow. Payment and order records stay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Khata is not just a ledger: it turns receivables into an action queue. Who owes, how much, since when, and what should happen next. Credit is attached to the bill automatically; a payment closes the entry and reconciles the balance. Reminders are drafted politely in the customer's language and sent only after the merchant approves.
Salaahkaar is the "why" layer above the data. Instead of dashboards, the shopkeeper asks practical questions in their own language. Query classes: sales, inventory, Khata, trends, actions. Answers are grounded in the merchant's own data via structured tools, and every action with external or money impact needs explicit approval.
Sarvam publicly documents Indian-language STT/TTS with code-mixed input support and document intelligence. That makes the voice interface technically plausible for this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one journey. A customer hands over a handwritten parchi. The merchant photographs it; AI extracts line items and asks for confirmation on the uncertain one. The bill is created and stock is checked. The customer pays through Paytm checkout (staging in the hackathon). The server receives and verifies the payment result, then marks the order paid, decrements inventory and updates the Khata where applicable.
Then the merchant asks Salaahkaar: "Aaj ka sale kitna hua aur kya low stock hai?" The assistant answers from the shop's actual data and proposes an action (a reorder). The merchant approves; the action is logged.
All numbers on this slide are demo-store data for illustration. Barcode and photo recognition are alternate input modes, not separate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Flywheel line: "Every payment creates data. Every piece of data creates an action. Every action creates more merchant value. That is how payments can become merchant growth."
Paytm is part of the operating loop, not a logo: customer payment → verified payment event → order status → invoice → inventory → merchant insight.
Soundbox positioning: do not claim a Soundbox hardware integration. The merchant experience can include software voice confirmation and, subject to Paytm integration access, extend the intelligence around the existing Soundbox ecosystem.
The gains on the right are strategic hypotheses, not guaranteed outcomes. The pilot measures activation, repeat usage and retention before any financial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model: free core for daily usage; a paid Pro/AI tier for Salaahkaar and automation; optional commerce and analytics plans; device attach and financial-product distribution only where Paytm's commercial terms, merchant eligibility and consent allow. We do not assume any revenue share from Paytm.
₹149/month is a proposed pilot price, not researched market pricing. Scenarios: 10,000 paid merchants = ₹14.9 lakh MRR / ₹1.79 Cr ARR. 1,40,000 (1% of 1.4 Cr) = ₹2.09 Cr MRR / ₹25.03 Cr ARR. At an assumed ₹50/month variable cost, contribution is ₹99/month (66%) before fixed costs. Real AI/API, infra and support costs must be tested.
Architecture: Next.js/React PWA; Node.js/TypeScript API; PostgreSQL/Supabase; Paytm Payment Gateway staging (checkout, transaction status, callback/webhook); Sarvam STT/TTS and Document AI (or equivalent); an LLM with structured tools grounded in merchant data; n8n for event-driven workflows. Production would need normal Paytm merchant onboarding and approval.
Trust controls: merchant review before final invoice; server-side payment verification; least-privilege access and audit logs for Khata/PII; confirmation prompts for voice; explicit approval for money movement and external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Round 1 concept → hackathon MVP (golden path: parchi/voice billing → Paytm staging payment → reconciliation → Khata/stock update → Salaahkaar insight) → pilot with 20–50 local merchants in one region and one language with a narrow SKU set → scale with more languages, richer inventory, multi-store and Mini App / merchant integrations where Paytm approves.
We show direction, not numeric targets: we set targets after measuring a baseline in the pilot. Also track 30/60/90-day merchant retention.
North star: weekly active merchants completing at least one bill/payment workflow and one value-added action (stock, reorder, Khata or an AI query).
Close: "The business model starts with recurring merchant software revenue. The bigger Paytm opportunity is strategic: better merchant workflows can deepen engagement, retention and product adoption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slideLayout" Target="../slideLayouts/slideLayout1.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3.png"/><Relationship Id="rId5" Type="http://schemas.openxmlformats.org/officeDocument/2006/relationships/image" Target="../media/image-7-3.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44"/>
        </a:solidFill>
      </p:bgPr>
    </p:bg>
    <p:spTree>
      <p:nvGrpSpPr>
        <p:cNvPr id="1" name=""/>
        <p:cNvGrpSpPr/>
        <p:nvPr/>
      </p:nvGrpSpPr>
      <p:grpSpPr>
        <a:xfrm>
          <a:off x="0" y="0"/>
          <a:ext cx="0" cy="0"/>
          <a:chOff x="0" y="0"/>
          <a:chExt cx="0" cy="0"/>
        </a:xfrm>
      </p:grpSpPr>
      <p:sp>
        <p:nvSpPr>
          <p:cNvPr id="2" name="Shape 0"/>
          <p:cNvSpPr/>
          <p:nvPr/>
        </p:nvSpPr>
        <p:spPr>
          <a:xfrm>
            <a:off x="6903720" y="502920"/>
            <a:ext cx="5120640" cy="5120640"/>
          </a:xfrm>
          <a:prstGeom prst="ellipse">
            <a:avLst/>
          </a:prstGeom>
          <a:solidFill>
            <a:srgbClr val="132D5E"/>
          </a:solidFill>
          <a:ln/>
        </p:spPr>
      </p:sp>
      <p:sp>
        <p:nvSpPr>
          <p:cNvPr id="3" name="Shape 1"/>
          <p:cNvSpPr/>
          <p:nvPr/>
        </p:nvSpPr>
        <p:spPr>
          <a:xfrm>
            <a:off x="7635240" y="1234440"/>
            <a:ext cx="3657600" cy="3657600"/>
          </a:xfrm>
          <a:prstGeom prst="ellipse">
            <a:avLst/>
          </a:prstGeom>
          <a:solidFill>
            <a:srgbClr val="1C3A6E">
              <a:alpha val="70000"/>
            </a:srgbClr>
          </a:solidFill>
          <a:ln/>
        </p:spPr>
      </p:sp>
      <p:sp>
        <p:nvSpPr>
          <p:cNvPr id="4" name="Text 2"/>
          <p:cNvSpPr txBox="1"/>
          <p:nvPr/>
        </p:nvSpPr>
        <p:spPr>
          <a:xfrm>
            <a:off x="640080" y="566928"/>
            <a:ext cx="6400800" cy="274320"/>
          </a:xfrm>
          <a:prstGeom prst="rect">
            <a:avLst/>
          </a:prstGeom>
          <a:noFill/>
          <a:ln/>
        </p:spPr>
        <p:txBody>
          <a:bodyPr wrap="square" lIns="0" tIns="0" rIns="0" bIns="0" rtlCol="0" anchor="t"/>
          <a:lstStyle/>
          <a:p>
            <a:pPr algn="l" indent="0" marL="0">
              <a:lnSpc>
                <a:spcPct val="100000"/>
              </a:lnSpc>
              <a:buNone/>
            </a:pPr>
            <a:r>
              <a:rPr lang="en-US" sz="1050" b="1" spc="140" kern="0" dirty="0">
                <a:solidFill>
                  <a:srgbClr val="8FD6F5"/>
                </a:solidFill>
                <a:latin typeface="Arial" pitchFamily="34" charset="0"/>
                <a:ea typeface="Arial" pitchFamily="34" charset="-122"/>
                <a:cs typeface="Arial" pitchFamily="34" charset="-120"/>
              </a:rPr>
              <a:t>PAYTM BUILD FOR INDIA AI HACKATHON  ·  MERCHANT GROWTH AI TRACK</a:t>
            </a:r>
            <a:endParaRPr lang="en-US" sz="1050" dirty="0"/>
          </a:p>
        </p:txBody>
      </p:sp>
      <p:sp>
        <p:nvSpPr>
          <p:cNvPr id="5" name="Text 3"/>
          <p:cNvSpPr txBox="1"/>
          <p:nvPr/>
        </p:nvSpPr>
        <p:spPr>
          <a:xfrm>
            <a:off x="640080" y="1325880"/>
            <a:ext cx="6400800" cy="914400"/>
          </a:xfrm>
          <a:prstGeom prst="rect">
            <a:avLst/>
          </a:prstGeom>
          <a:noFill/>
          <a:ln/>
        </p:spPr>
        <p:txBody>
          <a:bodyPr wrap="square" lIns="0" tIns="0" rIns="0" bIns="0" rtlCol="0" anchor="t"/>
          <a:lstStyle/>
          <a:p>
            <a:pPr algn="l" indent="0" marL="0">
              <a:lnSpc>
                <a:spcPct val="100000"/>
              </a:lnSpc>
              <a:buNone/>
            </a:pPr>
            <a:r>
              <a:rPr lang="en-US" sz="5400" b="1" dirty="0">
                <a:solidFill>
                  <a:srgbClr val="FFFFFF"/>
                </a:solidFill>
                <a:latin typeface="Arial" pitchFamily="34" charset="0"/>
                <a:ea typeface="Arial" pitchFamily="34" charset="-122"/>
                <a:cs typeface="Arial" pitchFamily="34" charset="-120"/>
              </a:rPr>
              <a:t>Kirana Shop AI</a:t>
            </a:r>
            <a:endParaRPr lang="en-US" sz="5400" dirty="0"/>
          </a:p>
        </p:txBody>
      </p:sp>
      <p:sp>
        <p:nvSpPr>
          <p:cNvPr id="6" name="Text 4"/>
          <p:cNvSpPr txBox="1"/>
          <p:nvPr/>
        </p:nvSpPr>
        <p:spPr>
          <a:xfrm>
            <a:off x="640080" y="2286000"/>
            <a:ext cx="6035040" cy="960120"/>
          </a:xfrm>
          <a:prstGeom prst="rect">
            <a:avLst/>
          </a:prstGeom>
          <a:noFill/>
          <a:ln/>
        </p:spPr>
        <p:txBody>
          <a:bodyPr wrap="square" lIns="0" tIns="0" rIns="0" bIns="0" rtlCol="0" anchor="t"/>
          <a:lstStyle/>
          <a:p>
            <a:pPr algn="l" indent="0" marL="0">
              <a:lnSpc>
                <a:spcPct val="105000"/>
              </a:lnSpc>
              <a:buNone/>
            </a:pPr>
            <a:r>
              <a:rPr lang="en-US" sz="2500" dirty="0">
                <a:solidFill>
                  <a:srgbClr val="FFFFFF"/>
                </a:solidFill>
                <a:latin typeface="Arial" pitchFamily="34" charset="0"/>
                <a:ea typeface="Arial" pitchFamily="34" charset="-122"/>
                <a:cs typeface="Arial" pitchFamily="34" charset="-120"/>
              </a:rPr>
              <a:t>An AI business partner for every neighbourhood dukaan.</a:t>
            </a:r>
            <a:endParaRPr lang="en-US" sz="2500" dirty="0"/>
          </a:p>
        </p:txBody>
      </p:sp>
      <p:sp>
        <p:nvSpPr>
          <p:cNvPr id="7" name="Text 5"/>
          <p:cNvSpPr txBox="1"/>
          <p:nvPr/>
        </p:nvSpPr>
        <p:spPr>
          <a:xfrm>
            <a:off x="640080" y="3429000"/>
            <a:ext cx="5669280" cy="960120"/>
          </a:xfrm>
          <a:prstGeom prst="rect">
            <a:avLst/>
          </a:prstGeom>
          <a:noFill/>
          <a:ln/>
        </p:spPr>
        <p:txBody>
          <a:bodyPr wrap="square" lIns="0" tIns="0" rIns="0" bIns="0" rtlCol="0" anchor="t"/>
          <a:lstStyle/>
          <a:p>
            <a:pPr algn="l" indent="0" marL="0">
              <a:lnSpc>
                <a:spcPct val="110000"/>
              </a:lnSpc>
              <a:buNone/>
            </a:pPr>
            <a:r>
              <a:rPr lang="en-US" sz="1450" dirty="0">
                <a:solidFill>
                  <a:srgbClr val="B8C8E2"/>
                </a:solidFill>
                <a:latin typeface="Arial" pitchFamily="34" charset="0"/>
                <a:ea typeface="Arial" pitchFamily="34" charset="-122"/>
                <a:cs typeface="Arial" pitchFamily="34" charset="-120"/>
              </a:rPr>
              <a:t>Payments at the kirana are already digital. Kirana Shop AI helps the rest of the shop catch up: billing, online orders, udhaar and daily decisions, in the shopkeeper’s own language.</a:t>
            </a:r>
            <a:endParaRPr lang="en-US" sz="1450" dirty="0"/>
          </a:p>
        </p:txBody>
      </p:sp>
      <p:sp>
        <p:nvSpPr>
          <p:cNvPr id="8" name="Shape 6"/>
          <p:cNvSpPr/>
          <p:nvPr/>
        </p:nvSpPr>
        <p:spPr>
          <a:xfrm>
            <a:off x="640080" y="4709160"/>
            <a:ext cx="1371600" cy="868680"/>
          </a:xfrm>
          <a:prstGeom prst="roundRect">
            <a:avLst>
              <a:gd name="adj" fmla="val 12632"/>
            </a:avLst>
          </a:prstGeom>
          <a:solidFill>
            <a:srgbClr val="132D5E"/>
          </a:solidFill>
          <a:ln/>
        </p:spPr>
      </p:sp>
      <p:pic>
        <p:nvPicPr>
          <p:cNvPr id="9" name="Image 0" descr="/private/tmp/claude-501/-Users-jaypandey-Library-Application-Support-Claude-scratch-workspaces-e205fcbe-ff17-47a0-b0da-08b9c2cd8dd1-9a575c31-2854-4c86-a69f-21eba1183528-scratch-2026-09-25-918942/ab509d62-e048-41fc-927b-5525291df5de/scratchpad/img/icons/LuScanBarcode_8FD6F5.png">    </p:cNvPr>
          <p:cNvPicPr>
            <a:picLocks noChangeAspect="1"/>
          </p:cNvPicPr>
          <p:nvPr/>
        </p:nvPicPr>
        <p:blipFill>
          <a:blip r:embed="rId1"/>
          <a:stretch>
            <a:fillRect/>
          </a:stretch>
        </p:blipFill>
        <p:spPr>
          <a:xfrm>
            <a:off x="768096" y="4837176"/>
            <a:ext cx="237744" cy="237744"/>
          </a:xfrm>
          <a:prstGeom prst="rect">
            <a:avLst/>
          </a:prstGeom>
        </p:spPr>
      </p:pic>
      <p:sp>
        <p:nvSpPr>
          <p:cNvPr id="10" name="Text 7"/>
          <p:cNvSpPr txBox="1"/>
          <p:nvPr/>
        </p:nvSpPr>
        <p:spPr>
          <a:xfrm>
            <a:off x="768096" y="5111496"/>
            <a:ext cx="1188720" cy="219456"/>
          </a:xfrm>
          <a:prstGeom prst="rect">
            <a:avLst/>
          </a:prstGeom>
          <a:noFill/>
          <a:ln/>
        </p:spPr>
        <p:txBody>
          <a:bodyPr wrap="square" lIns="0" tIns="0" rIns="0" bIns="0" rtlCol="0" anchor="t"/>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Counter</a:t>
            </a:r>
            <a:endParaRPr lang="en-US" sz="1250" dirty="0"/>
          </a:p>
        </p:txBody>
      </p:sp>
      <p:sp>
        <p:nvSpPr>
          <p:cNvPr id="11" name="Text 8"/>
          <p:cNvSpPr txBox="1"/>
          <p:nvPr/>
        </p:nvSpPr>
        <p:spPr>
          <a:xfrm>
            <a:off x="768096" y="5321808"/>
            <a:ext cx="1188720" cy="182880"/>
          </a:xfrm>
          <a:prstGeom prst="rect">
            <a:avLst/>
          </a:prstGeom>
          <a:noFill/>
          <a:ln/>
        </p:spPr>
        <p:txBody>
          <a:bodyPr wrap="square" lIns="0" tIns="0" rIns="0" bIns="0" rtlCol="0" anchor="t"/>
          <a:lstStyle/>
          <a:p>
            <a:pPr algn="l" indent="0" marL="0">
              <a:lnSpc>
                <a:spcPct val="100000"/>
              </a:lnSpc>
              <a:buNone/>
            </a:pPr>
            <a:r>
              <a:rPr lang="en-US" sz="900" dirty="0">
                <a:solidFill>
                  <a:srgbClr val="B8C8E2"/>
                </a:solidFill>
                <a:latin typeface="Arial" pitchFamily="34" charset="0"/>
                <a:ea typeface="Arial" pitchFamily="34" charset="-122"/>
                <a:cs typeface="Arial" pitchFamily="34" charset="-120"/>
              </a:rPr>
              <a:t>Every sale, easy</a:t>
            </a:r>
            <a:endParaRPr lang="en-US" sz="900" dirty="0"/>
          </a:p>
        </p:txBody>
      </p:sp>
      <p:sp>
        <p:nvSpPr>
          <p:cNvPr id="12" name="Shape 9"/>
          <p:cNvSpPr/>
          <p:nvPr/>
        </p:nvSpPr>
        <p:spPr>
          <a:xfrm>
            <a:off x="2121408" y="4709160"/>
            <a:ext cx="1371600" cy="868680"/>
          </a:xfrm>
          <a:prstGeom prst="roundRect">
            <a:avLst>
              <a:gd name="adj" fmla="val 12632"/>
            </a:avLst>
          </a:prstGeom>
          <a:solidFill>
            <a:srgbClr val="132D5E"/>
          </a:solidFill>
          <a:ln/>
        </p:spPr>
      </p:sp>
      <p:pic>
        <p:nvPicPr>
          <p:cNvPr id="13" name="Image 1" descr="/private/tmp/claude-501/-Users-jaypandey-Library-Application-Support-Claude-scratch-workspaces-e205fcbe-ff17-47a0-b0da-08b9c2cd8dd1-9a575c31-2854-4c86-a69f-21eba1183528-scratch-2026-09-25-918942/ab509d62-e048-41fc-927b-5525291df5de/scratchpad/img/icons/LuStore_8FD6F5.png">    </p:cNvPr>
          <p:cNvPicPr>
            <a:picLocks noChangeAspect="1"/>
          </p:cNvPicPr>
          <p:nvPr/>
        </p:nvPicPr>
        <p:blipFill>
          <a:blip r:embed="rId2"/>
          <a:stretch>
            <a:fillRect/>
          </a:stretch>
        </p:blipFill>
        <p:spPr>
          <a:xfrm>
            <a:off x="2249424" y="4837176"/>
            <a:ext cx="237744" cy="237744"/>
          </a:xfrm>
          <a:prstGeom prst="rect">
            <a:avLst/>
          </a:prstGeom>
        </p:spPr>
      </p:pic>
      <p:sp>
        <p:nvSpPr>
          <p:cNvPr id="14" name="Text 10"/>
          <p:cNvSpPr txBox="1"/>
          <p:nvPr/>
        </p:nvSpPr>
        <p:spPr>
          <a:xfrm>
            <a:off x="2249424" y="5111496"/>
            <a:ext cx="1188720" cy="219456"/>
          </a:xfrm>
          <a:prstGeom prst="rect">
            <a:avLst/>
          </a:prstGeom>
          <a:noFill/>
          <a:ln/>
        </p:spPr>
        <p:txBody>
          <a:bodyPr wrap="square" lIns="0" tIns="0" rIns="0" bIns="0" rtlCol="0" anchor="t"/>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Shop</a:t>
            </a:r>
            <a:endParaRPr lang="en-US" sz="1250" dirty="0"/>
          </a:p>
        </p:txBody>
      </p:sp>
      <p:sp>
        <p:nvSpPr>
          <p:cNvPr id="15" name="Text 11"/>
          <p:cNvSpPr txBox="1"/>
          <p:nvPr/>
        </p:nvSpPr>
        <p:spPr>
          <a:xfrm>
            <a:off x="2249424" y="5321808"/>
            <a:ext cx="1188720" cy="182880"/>
          </a:xfrm>
          <a:prstGeom prst="rect">
            <a:avLst/>
          </a:prstGeom>
          <a:noFill/>
          <a:ln/>
        </p:spPr>
        <p:txBody>
          <a:bodyPr wrap="square" lIns="0" tIns="0" rIns="0" bIns="0" rtlCol="0" anchor="t"/>
          <a:lstStyle/>
          <a:p>
            <a:pPr algn="l" indent="0" marL="0">
              <a:lnSpc>
                <a:spcPct val="100000"/>
              </a:lnSpc>
              <a:buNone/>
            </a:pPr>
            <a:r>
              <a:rPr lang="en-US" sz="900" dirty="0">
                <a:solidFill>
                  <a:srgbClr val="B8C8E2"/>
                </a:solidFill>
                <a:latin typeface="Arial" pitchFamily="34" charset="0"/>
                <a:ea typeface="Arial" pitchFamily="34" charset="-122"/>
                <a:cs typeface="Arial" pitchFamily="34" charset="-120"/>
              </a:rPr>
              <a:t>Every store, online</a:t>
            </a:r>
            <a:endParaRPr lang="en-US" sz="900" dirty="0"/>
          </a:p>
        </p:txBody>
      </p:sp>
      <p:sp>
        <p:nvSpPr>
          <p:cNvPr id="16" name="Shape 12"/>
          <p:cNvSpPr/>
          <p:nvPr/>
        </p:nvSpPr>
        <p:spPr>
          <a:xfrm>
            <a:off x="3602736" y="4709160"/>
            <a:ext cx="1371600" cy="868680"/>
          </a:xfrm>
          <a:prstGeom prst="roundRect">
            <a:avLst>
              <a:gd name="adj" fmla="val 12632"/>
            </a:avLst>
          </a:prstGeom>
          <a:solidFill>
            <a:srgbClr val="132D5E"/>
          </a:solidFill>
          <a:ln/>
        </p:spPr>
      </p:sp>
      <p:pic>
        <p:nvPicPr>
          <p:cNvPr id="17" name="Image 2" descr="/private/tmp/claude-501/-Users-jaypandey-Library-Application-Support-Claude-scratch-workspaces-e205fcbe-ff17-47a0-b0da-08b9c2cd8dd1-9a575c31-2854-4c86-a69f-21eba1183528-scratch-2026-09-25-918942/ab509d62-e048-41fc-927b-5525291df5de/scratchpad/img/icons/LuNotebookPen_8FD6F5.png">    </p:cNvPr>
          <p:cNvPicPr>
            <a:picLocks noChangeAspect="1"/>
          </p:cNvPicPr>
          <p:nvPr/>
        </p:nvPicPr>
        <p:blipFill>
          <a:blip r:embed="rId3"/>
          <a:stretch>
            <a:fillRect/>
          </a:stretch>
        </p:blipFill>
        <p:spPr>
          <a:xfrm>
            <a:off x="3730752" y="4837176"/>
            <a:ext cx="237744" cy="237744"/>
          </a:xfrm>
          <a:prstGeom prst="rect">
            <a:avLst/>
          </a:prstGeom>
        </p:spPr>
      </p:pic>
      <p:sp>
        <p:nvSpPr>
          <p:cNvPr id="18" name="Text 13"/>
          <p:cNvSpPr txBox="1"/>
          <p:nvPr/>
        </p:nvSpPr>
        <p:spPr>
          <a:xfrm>
            <a:off x="3730752" y="5111496"/>
            <a:ext cx="1188720" cy="219456"/>
          </a:xfrm>
          <a:prstGeom prst="rect">
            <a:avLst/>
          </a:prstGeom>
          <a:noFill/>
          <a:ln/>
        </p:spPr>
        <p:txBody>
          <a:bodyPr wrap="square" lIns="0" tIns="0" rIns="0" bIns="0" rtlCol="0" anchor="t"/>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Khata</a:t>
            </a:r>
            <a:endParaRPr lang="en-US" sz="1250" dirty="0"/>
          </a:p>
        </p:txBody>
      </p:sp>
      <p:sp>
        <p:nvSpPr>
          <p:cNvPr id="19" name="Text 14"/>
          <p:cNvSpPr txBox="1"/>
          <p:nvPr/>
        </p:nvSpPr>
        <p:spPr>
          <a:xfrm>
            <a:off x="3730752" y="5321808"/>
            <a:ext cx="1188720" cy="182880"/>
          </a:xfrm>
          <a:prstGeom prst="rect">
            <a:avLst/>
          </a:prstGeom>
          <a:noFill/>
          <a:ln/>
        </p:spPr>
        <p:txBody>
          <a:bodyPr wrap="square" lIns="0" tIns="0" rIns="0" bIns="0" rtlCol="0" anchor="t"/>
          <a:lstStyle/>
          <a:p>
            <a:pPr algn="l" indent="0" marL="0">
              <a:lnSpc>
                <a:spcPct val="100000"/>
              </a:lnSpc>
              <a:buNone/>
            </a:pPr>
            <a:r>
              <a:rPr lang="en-US" sz="900" dirty="0">
                <a:solidFill>
                  <a:srgbClr val="B8C8E2"/>
                </a:solidFill>
                <a:latin typeface="Arial" pitchFamily="34" charset="0"/>
                <a:ea typeface="Arial" pitchFamily="34" charset="-122"/>
                <a:cs typeface="Arial" pitchFamily="34" charset="-120"/>
              </a:rPr>
              <a:t>Every due, tracked</a:t>
            </a:r>
            <a:endParaRPr lang="en-US" sz="900" dirty="0"/>
          </a:p>
        </p:txBody>
      </p:sp>
      <p:sp>
        <p:nvSpPr>
          <p:cNvPr id="20" name="Shape 15"/>
          <p:cNvSpPr/>
          <p:nvPr/>
        </p:nvSpPr>
        <p:spPr>
          <a:xfrm>
            <a:off x="5084064" y="4709160"/>
            <a:ext cx="1371600" cy="868680"/>
          </a:xfrm>
          <a:prstGeom prst="roundRect">
            <a:avLst>
              <a:gd name="adj" fmla="val 12632"/>
            </a:avLst>
          </a:prstGeom>
          <a:solidFill>
            <a:srgbClr val="00A7E1"/>
          </a:solidFill>
          <a:ln/>
        </p:spPr>
      </p:sp>
      <p:pic>
        <p:nvPicPr>
          <p:cNvPr id="21" name="Image 3" descr="/private/tmp/claude-501/-Users-jaypandey-Library-Application-Support-Claude-scratch-workspaces-e205fcbe-ff17-47a0-b0da-08b9c2cd8dd1-9a575c31-2854-4c86-a69f-21eba1183528-scratch-2026-09-25-918942/ab509d62-e048-41fc-927b-5525291df5de/scratchpad/img/icons/LuMic_FFFFFF.png">    </p:cNvPr>
          <p:cNvPicPr>
            <a:picLocks noChangeAspect="1"/>
          </p:cNvPicPr>
          <p:nvPr/>
        </p:nvPicPr>
        <p:blipFill>
          <a:blip r:embed="rId4"/>
          <a:stretch>
            <a:fillRect/>
          </a:stretch>
        </p:blipFill>
        <p:spPr>
          <a:xfrm>
            <a:off x="5212080" y="4837176"/>
            <a:ext cx="237744" cy="237744"/>
          </a:xfrm>
          <a:prstGeom prst="rect">
            <a:avLst/>
          </a:prstGeom>
        </p:spPr>
      </p:pic>
      <p:sp>
        <p:nvSpPr>
          <p:cNvPr id="22" name="Text 16"/>
          <p:cNvSpPr txBox="1"/>
          <p:nvPr/>
        </p:nvSpPr>
        <p:spPr>
          <a:xfrm>
            <a:off x="5212080" y="5111496"/>
            <a:ext cx="1188720" cy="219456"/>
          </a:xfrm>
          <a:prstGeom prst="rect">
            <a:avLst/>
          </a:prstGeom>
          <a:noFill/>
          <a:ln/>
        </p:spPr>
        <p:txBody>
          <a:bodyPr wrap="square" lIns="0" tIns="0" rIns="0" bIns="0" rtlCol="0" anchor="t"/>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Salaahkaar</a:t>
            </a:r>
            <a:endParaRPr lang="en-US" sz="1250" dirty="0"/>
          </a:p>
        </p:txBody>
      </p:sp>
      <p:sp>
        <p:nvSpPr>
          <p:cNvPr id="23" name="Text 17"/>
          <p:cNvSpPr txBox="1"/>
          <p:nvPr/>
        </p:nvSpPr>
        <p:spPr>
          <a:xfrm>
            <a:off x="5212080" y="5321808"/>
            <a:ext cx="1188720" cy="182880"/>
          </a:xfrm>
          <a:prstGeom prst="rect">
            <a:avLst/>
          </a:prstGeom>
          <a:noFill/>
          <a:ln/>
        </p:spPr>
        <p:txBody>
          <a:bodyPr wrap="square" lIns="0" tIns="0" rIns="0" bIns="0" rtlCol="0" anchor="t"/>
          <a:lstStyle/>
          <a:p>
            <a:pPr algn="l" indent="0" marL="0">
              <a:lnSpc>
                <a:spcPct val="100000"/>
              </a:lnSpc>
              <a:buNone/>
            </a:pPr>
            <a:r>
              <a:rPr lang="en-US" sz="900" dirty="0">
                <a:solidFill>
                  <a:srgbClr val="FFFFFF"/>
                </a:solidFill>
                <a:latin typeface="Arial" pitchFamily="34" charset="0"/>
                <a:ea typeface="Arial" pitchFamily="34" charset="-122"/>
                <a:cs typeface="Arial" pitchFamily="34" charset="-120"/>
              </a:rPr>
              <a:t>Data → decisions</a:t>
            </a:r>
            <a:endParaRPr lang="en-US" sz="900" dirty="0"/>
          </a:p>
        </p:txBody>
      </p:sp>
      <p:sp>
        <p:nvSpPr>
          <p:cNvPr id="24" name="Text 18"/>
          <p:cNvSpPr txBox="1"/>
          <p:nvPr/>
        </p:nvSpPr>
        <p:spPr>
          <a:xfrm>
            <a:off x="640080" y="6035040"/>
            <a:ext cx="5943600" cy="256032"/>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Arial" pitchFamily="34" charset="0"/>
                <a:ea typeface="Arial" pitchFamily="34" charset="-122"/>
                <a:cs typeface="Arial" pitchFamily="34" charset="-120"/>
              </a:rPr>
              <a:t>Team HackHorizon</a:t>
            </a:r>
            <a:pPr algn="l" indent="0" marL="0">
              <a:lnSpc>
                <a:spcPct val="100000"/>
              </a:lnSpc>
              <a:buNone/>
            </a:pPr>
            <a:r>
              <a:rPr lang="en-US" sz="1000" dirty="0">
                <a:solidFill>
                  <a:srgbClr val="7F93B5"/>
                </a:solidFill>
                <a:latin typeface="Arial" pitchFamily="34" charset="0"/>
                <a:ea typeface="Arial" pitchFamily="34" charset="-122"/>
                <a:cs typeface="Arial" pitchFamily="34" charset="-120"/>
              </a:rPr>
              <a:t>   ·   Round 1 submission  ·  September 2026</a:t>
            </a:r>
            <a:endParaRPr lang="en-US" sz="1000" dirty="0"/>
          </a:p>
        </p:txBody>
      </p:sp>
      <p:pic>
        <p:nvPicPr>
          <p:cNvPr id="25" name="Image 4" descr="/private/tmp/claude-501/-Users-jaypandey-Library-Application-Support-Claude-scratch-workspaces-e205fcbe-ff17-47a0-b0da-08b9c2cd8dd1-9a575c31-2854-4c86-a69f-21eba1183528-scratch-2026-09-25-918942/ab509d62-e048-41fc-927b-5525291df5de/scratchpad/img/shop.png">    </p:cNvPr>
          <p:cNvPicPr>
            <a:picLocks noChangeAspect="1"/>
          </p:cNvPicPr>
          <p:nvPr/>
        </p:nvPicPr>
        <p:blipFill>
          <a:blip r:embed="rId5"/>
          <a:stretch>
            <a:fillRect/>
          </a:stretch>
        </p:blipFill>
        <p:spPr>
          <a:xfrm>
            <a:off x="7086600" y="1051560"/>
            <a:ext cx="2376134" cy="4892040"/>
          </a:xfrm>
          <a:prstGeom prst="rect">
            <a:avLst/>
          </a:prstGeom>
        </p:spPr>
      </p:pic>
      <p:pic>
        <p:nvPicPr>
          <p:cNvPr id="26" name="Image 5" descr="/private/tmp/claude-501/-Users-jaypandey-Library-Application-Support-Claude-scratch-workspaces-e205fcbe-ff17-47a0-b0da-08b9c2cd8dd1-9a575c31-2854-4c86-a69f-21eba1183528-scratch-2026-09-25-918942/ab509d62-e048-41fc-927b-5525291df5de/scratchpad/img/salaahkaar.png">    </p:cNvPr>
          <p:cNvPicPr>
            <a:picLocks noChangeAspect="1"/>
          </p:cNvPicPr>
          <p:nvPr/>
        </p:nvPicPr>
        <p:blipFill>
          <a:blip r:embed="rId6"/>
          <a:stretch>
            <a:fillRect/>
          </a:stretch>
        </p:blipFill>
        <p:spPr>
          <a:xfrm>
            <a:off x="8869680" y="594360"/>
            <a:ext cx="2709237" cy="5577840"/>
          </a:xfrm>
          <a:prstGeom prst="rect">
            <a:avLst/>
          </a:prstGeom>
        </p:spPr>
      </p:pic>
      <p:sp>
        <p:nvSpPr>
          <p:cNvPr id="27" name="Text 19"/>
          <p:cNvSpPr txBox="1"/>
          <p:nvPr/>
        </p:nvSpPr>
        <p:spPr>
          <a:xfrm>
            <a:off x="7086600" y="6144768"/>
            <a:ext cx="1737360" cy="201168"/>
          </a:xfrm>
          <a:prstGeom prst="rect">
            <a:avLst/>
          </a:prstGeom>
          <a:noFill/>
          <a:ln/>
        </p:spPr>
        <p:txBody>
          <a:bodyPr wrap="square" lIns="0" tIns="0" rIns="0" bIns="0" rtlCol="0" anchor="t"/>
          <a:lstStyle/>
          <a:p>
            <a:pPr algn="l" indent="0" marL="0">
              <a:lnSpc>
                <a:spcPct val="100000"/>
              </a:lnSpc>
              <a:buNone/>
            </a:pPr>
            <a:r>
              <a:rPr lang="en-US" sz="850" dirty="0">
                <a:solidFill>
                  <a:srgbClr val="7F93B5"/>
                </a:solidFill>
                <a:latin typeface="Arial" pitchFamily="34" charset="0"/>
                <a:ea typeface="Arial" pitchFamily="34" charset="-122"/>
                <a:cs typeface="Arial" pitchFamily="34" charset="-120"/>
              </a:rPr>
              <a:t>Concept screens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072BC"/>
                </a:solidFill>
                <a:latin typeface="Arial" pitchFamily="34" charset="0"/>
                <a:ea typeface="Arial" pitchFamily="34" charset="-122"/>
                <a:cs typeface="Arial" pitchFamily="34" charset="-120"/>
              </a:rPr>
              <a:t>MERCHANT WORKFLOW DISCOVERY</a:t>
            </a:r>
            <a:endParaRPr lang="en-US" sz="1100" dirty="0"/>
          </a:p>
        </p:txBody>
      </p:sp>
      <p:sp>
        <p:nvSpPr>
          <p:cNvPr id="3" name="Text 1"/>
          <p:cNvSpPr txBox="1"/>
          <p:nvPr/>
        </p:nvSpPr>
        <p:spPr>
          <a:xfrm>
            <a:off x="548640" y="676656"/>
            <a:ext cx="11064240" cy="566928"/>
          </a:xfrm>
          <a:prstGeom prst="rect">
            <a:avLst/>
          </a:prstGeom>
          <a:noFill/>
          <a:ln/>
        </p:spPr>
        <p:txBody>
          <a:bodyPr wrap="square" lIns="0" tIns="0" rIns="0" bIns="0" rtlCol="0" anchor="t"/>
          <a:lstStyle/>
          <a:p>
            <a:pPr algn="l" indent="0" marL="0">
              <a:lnSpc>
                <a:spcPct val="100000"/>
              </a:lnSpc>
              <a:buNone/>
            </a:pPr>
            <a:r>
              <a:rPr lang="en-US" sz="3000" b="1" dirty="0">
                <a:solidFill>
                  <a:srgbClr val="0B1F44"/>
                </a:solidFill>
                <a:latin typeface="Arial" pitchFamily="34" charset="0"/>
                <a:ea typeface="Arial" pitchFamily="34" charset="-122"/>
                <a:cs typeface="Arial" pitchFamily="34" charset="-120"/>
              </a:rPr>
              <a:t>The merchant problem starts at the counter.</a:t>
            </a:r>
            <a:endParaRPr lang="en-US" sz="3000" dirty="0"/>
          </a:p>
        </p:txBody>
      </p:sp>
      <p:sp>
        <p:nvSpPr>
          <p:cNvPr id="4" name="Shape 2"/>
          <p:cNvSpPr/>
          <p:nvPr/>
        </p:nvSpPr>
        <p:spPr>
          <a:xfrm>
            <a:off x="548640" y="1554480"/>
            <a:ext cx="3520440" cy="4343400"/>
          </a:xfrm>
          <a:prstGeom prst="roundRect">
            <a:avLst>
              <a:gd name="adj" fmla="val 4156"/>
            </a:avLst>
          </a:prstGeom>
          <a:solidFill>
            <a:srgbClr val="0B1F44"/>
          </a:solidFill>
          <a:ln/>
        </p:spPr>
      </p:sp>
      <p:sp>
        <p:nvSpPr>
          <p:cNvPr id="5" name="Text 3"/>
          <p:cNvSpPr txBox="1"/>
          <p:nvPr/>
        </p:nvSpPr>
        <p:spPr>
          <a:xfrm>
            <a:off x="822960" y="1783080"/>
            <a:ext cx="3017520" cy="274320"/>
          </a:xfrm>
          <a:prstGeom prst="rect">
            <a:avLst/>
          </a:prstGeom>
          <a:noFill/>
          <a:ln/>
        </p:spPr>
        <p:txBody>
          <a:bodyPr wrap="square" lIns="0" tIns="0" rIns="0" bIns="0" rtlCol="0" anchor="t"/>
          <a:lstStyle/>
          <a:p>
            <a:pPr algn="l" indent="0" marL="0">
              <a:lnSpc>
                <a:spcPct val="100000"/>
              </a:lnSpc>
              <a:buNone/>
            </a:pPr>
            <a:r>
              <a:rPr lang="en-US" sz="1000" b="1" spc="130" kern="0" dirty="0">
                <a:solidFill>
                  <a:srgbClr val="8FD6F5"/>
                </a:solidFill>
                <a:latin typeface="Arial" pitchFamily="34" charset="0"/>
                <a:ea typeface="Arial" pitchFamily="34" charset="-122"/>
                <a:cs typeface="Arial" pitchFamily="34" charset="-120"/>
              </a:rPr>
              <a:t>DISCOVERY QUESTIONS</a:t>
            </a:r>
            <a:endParaRPr lang="en-US" sz="1000" dirty="0"/>
          </a:p>
        </p:txBody>
      </p:sp>
      <p:sp>
        <p:nvSpPr>
          <p:cNvPr id="6" name="Shape 4"/>
          <p:cNvSpPr/>
          <p:nvPr/>
        </p:nvSpPr>
        <p:spPr>
          <a:xfrm>
            <a:off x="822960" y="2212848"/>
            <a:ext cx="365760" cy="365760"/>
          </a:xfrm>
          <a:prstGeom prst="ellipse">
            <a:avLst/>
          </a:prstGeom>
          <a:solidFill>
            <a:srgbClr val="00A7E1"/>
          </a:solidFill>
          <a:ln/>
        </p:spPr>
      </p:sp>
      <p:sp>
        <p:nvSpPr>
          <p:cNvPr id="7" name="Text 5"/>
          <p:cNvSpPr txBox="1"/>
          <p:nvPr/>
        </p:nvSpPr>
        <p:spPr>
          <a:xfrm>
            <a:off x="822960" y="2212848"/>
            <a:ext cx="365760" cy="365760"/>
          </a:xfrm>
          <a:prstGeom prst="rect">
            <a:avLst/>
          </a:prstGeom>
          <a:noFill/>
          <a:ln/>
        </p:spPr>
        <p:txBody>
          <a:bodyPr wrap="square" lIns="0" tIns="0" rIns="0" bIns="0" rtlCol="0" anchor="ctr"/>
          <a:lstStyle/>
          <a:p>
            <a:pPr algn="ctr" indent="0" marL="0">
              <a:lnSpc>
                <a:spcPct val="100000"/>
              </a:lnSpc>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txBox="1"/>
          <p:nvPr/>
        </p:nvSpPr>
        <p:spPr>
          <a:xfrm>
            <a:off x="1325880" y="2194560"/>
            <a:ext cx="2514600" cy="658368"/>
          </a:xfrm>
          <a:prstGeom prst="rect">
            <a:avLst/>
          </a:prstGeom>
          <a:noFill/>
          <a:ln/>
        </p:spPr>
        <p:txBody>
          <a:bodyPr wrap="square" lIns="0" tIns="0" rIns="0" bIns="0" rtlCol="0" anchor="t"/>
          <a:lstStyle/>
          <a:p>
            <a:pPr algn="l" indent="0" marL="0">
              <a:lnSpc>
                <a:spcPct val="105000"/>
              </a:lnSpc>
              <a:buNone/>
            </a:pPr>
            <a:r>
              <a:rPr lang="en-US" sz="1400" dirty="0">
                <a:solidFill>
                  <a:srgbClr val="FFFFFF"/>
                </a:solidFill>
                <a:latin typeface="Arial" pitchFamily="34" charset="0"/>
                <a:ea typeface="Arial" pitchFamily="34" charset="-122"/>
                <a:cs typeface="Arial" pitchFamily="34" charset="-120"/>
              </a:rPr>
              <a:t>What takes the most time in your day?</a:t>
            </a:r>
            <a:endParaRPr lang="en-US" sz="1400" dirty="0"/>
          </a:p>
        </p:txBody>
      </p:sp>
      <p:sp>
        <p:nvSpPr>
          <p:cNvPr id="9" name="Shape 7"/>
          <p:cNvSpPr/>
          <p:nvPr/>
        </p:nvSpPr>
        <p:spPr>
          <a:xfrm>
            <a:off x="822960" y="3035808"/>
            <a:ext cx="365760" cy="365760"/>
          </a:xfrm>
          <a:prstGeom prst="ellipse">
            <a:avLst/>
          </a:prstGeom>
          <a:solidFill>
            <a:srgbClr val="00A7E1"/>
          </a:solidFill>
          <a:ln/>
        </p:spPr>
      </p:sp>
      <p:sp>
        <p:nvSpPr>
          <p:cNvPr id="10" name="Text 8"/>
          <p:cNvSpPr txBox="1"/>
          <p:nvPr/>
        </p:nvSpPr>
        <p:spPr>
          <a:xfrm>
            <a:off x="822960" y="3035808"/>
            <a:ext cx="365760" cy="365760"/>
          </a:xfrm>
          <a:prstGeom prst="rect">
            <a:avLst/>
          </a:prstGeom>
          <a:noFill/>
          <a:ln/>
        </p:spPr>
        <p:txBody>
          <a:bodyPr wrap="square" lIns="0" tIns="0" rIns="0" bIns="0" rtlCol="0" anchor="ctr"/>
          <a:lstStyle/>
          <a:p>
            <a:pPr algn="ctr" indent="0" marL="0">
              <a:lnSpc>
                <a:spcPct val="100000"/>
              </a:lnSpc>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1325880" y="3017520"/>
            <a:ext cx="2514600" cy="658368"/>
          </a:xfrm>
          <a:prstGeom prst="rect">
            <a:avLst/>
          </a:prstGeom>
          <a:noFill/>
          <a:ln/>
        </p:spPr>
        <p:txBody>
          <a:bodyPr wrap="square" lIns="0" tIns="0" rIns="0" bIns="0" rtlCol="0" anchor="t"/>
          <a:lstStyle/>
          <a:p>
            <a:pPr algn="l" indent="0" marL="0">
              <a:lnSpc>
                <a:spcPct val="105000"/>
              </a:lnSpc>
              <a:buNone/>
            </a:pPr>
            <a:r>
              <a:rPr lang="en-US" sz="1400" dirty="0">
                <a:solidFill>
                  <a:srgbClr val="FFFFFF"/>
                </a:solidFill>
                <a:latin typeface="Arial" pitchFamily="34" charset="0"/>
                <a:ea typeface="Arial" pitchFamily="34" charset="-122"/>
                <a:cs typeface="Arial" pitchFamily="34" charset="-120"/>
              </a:rPr>
              <a:t>What do you still do by hand?</a:t>
            </a:r>
            <a:endParaRPr lang="en-US" sz="1400" dirty="0"/>
          </a:p>
        </p:txBody>
      </p:sp>
      <p:sp>
        <p:nvSpPr>
          <p:cNvPr id="12" name="Shape 10"/>
          <p:cNvSpPr/>
          <p:nvPr/>
        </p:nvSpPr>
        <p:spPr>
          <a:xfrm>
            <a:off x="822960" y="3858768"/>
            <a:ext cx="365760" cy="365760"/>
          </a:xfrm>
          <a:prstGeom prst="ellipse">
            <a:avLst/>
          </a:prstGeom>
          <a:solidFill>
            <a:srgbClr val="00A7E1"/>
          </a:solidFill>
          <a:ln/>
        </p:spPr>
      </p:sp>
      <p:sp>
        <p:nvSpPr>
          <p:cNvPr id="13" name="Text 11"/>
          <p:cNvSpPr txBox="1"/>
          <p:nvPr/>
        </p:nvSpPr>
        <p:spPr>
          <a:xfrm>
            <a:off x="822960" y="3858768"/>
            <a:ext cx="365760" cy="365760"/>
          </a:xfrm>
          <a:prstGeom prst="rect">
            <a:avLst/>
          </a:prstGeom>
          <a:noFill/>
          <a:ln/>
        </p:spPr>
        <p:txBody>
          <a:bodyPr wrap="square" lIns="0" tIns="0" rIns="0" bIns="0" rtlCol="0" anchor="ctr"/>
          <a:lstStyle/>
          <a:p>
            <a:pPr algn="ctr" indent="0" marL="0">
              <a:lnSpc>
                <a:spcPct val="100000"/>
              </a:lnSpc>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1325880" y="3840480"/>
            <a:ext cx="2514600" cy="658368"/>
          </a:xfrm>
          <a:prstGeom prst="rect">
            <a:avLst/>
          </a:prstGeom>
          <a:noFill/>
          <a:ln/>
        </p:spPr>
        <p:txBody>
          <a:bodyPr wrap="square" lIns="0" tIns="0" rIns="0" bIns="0" rtlCol="0" anchor="t"/>
          <a:lstStyle/>
          <a:p>
            <a:pPr algn="l" indent="0" marL="0">
              <a:lnSpc>
                <a:spcPct val="105000"/>
              </a:lnSpc>
              <a:buNone/>
            </a:pPr>
            <a:r>
              <a:rPr lang="en-US" sz="1400" dirty="0">
                <a:solidFill>
                  <a:srgbClr val="FFFFFF"/>
                </a:solidFill>
                <a:latin typeface="Arial" pitchFamily="34" charset="0"/>
                <a:ea typeface="Arial" pitchFamily="34" charset="-122"/>
                <a:cs typeface="Arial" pitchFamily="34" charset="-120"/>
              </a:rPr>
              <a:t>Where do mistakes happen?</a:t>
            </a:r>
            <a:endParaRPr lang="en-US" sz="1400" dirty="0"/>
          </a:p>
        </p:txBody>
      </p:sp>
      <p:sp>
        <p:nvSpPr>
          <p:cNvPr id="15" name="Shape 13"/>
          <p:cNvSpPr/>
          <p:nvPr/>
        </p:nvSpPr>
        <p:spPr>
          <a:xfrm>
            <a:off x="822960" y="4681728"/>
            <a:ext cx="365760" cy="365760"/>
          </a:xfrm>
          <a:prstGeom prst="ellipse">
            <a:avLst/>
          </a:prstGeom>
          <a:solidFill>
            <a:srgbClr val="00A7E1"/>
          </a:solidFill>
          <a:ln/>
        </p:spPr>
      </p:sp>
      <p:sp>
        <p:nvSpPr>
          <p:cNvPr id="16" name="Text 14"/>
          <p:cNvSpPr txBox="1"/>
          <p:nvPr/>
        </p:nvSpPr>
        <p:spPr>
          <a:xfrm>
            <a:off x="822960" y="4681728"/>
            <a:ext cx="365760" cy="365760"/>
          </a:xfrm>
          <a:prstGeom prst="rect">
            <a:avLst/>
          </a:prstGeom>
          <a:noFill/>
          <a:ln/>
        </p:spPr>
        <p:txBody>
          <a:bodyPr wrap="square" lIns="0" tIns="0" rIns="0" bIns="0" rtlCol="0" anchor="ctr"/>
          <a:lstStyle/>
          <a:p>
            <a:pPr algn="ctr" indent="0" marL="0">
              <a:lnSpc>
                <a:spcPct val="100000"/>
              </a:lnSpc>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7" name="Text 15"/>
          <p:cNvSpPr txBox="1"/>
          <p:nvPr/>
        </p:nvSpPr>
        <p:spPr>
          <a:xfrm>
            <a:off x="1325880" y="4663440"/>
            <a:ext cx="2514600" cy="658368"/>
          </a:xfrm>
          <a:prstGeom prst="rect">
            <a:avLst/>
          </a:prstGeom>
          <a:noFill/>
          <a:ln/>
        </p:spPr>
        <p:txBody>
          <a:bodyPr wrap="square" lIns="0" tIns="0" rIns="0" bIns="0" rtlCol="0" anchor="t"/>
          <a:lstStyle/>
          <a:p>
            <a:pPr algn="l" indent="0" marL="0">
              <a:lnSpc>
                <a:spcPct val="105000"/>
              </a:lnSpc>
              <a:buNone/>
            </a:pPr>
            <a:r>
              <a:rPr lang="en-US" sz="1400" dirty="0">
                <a:solidFill>
                  <a:srgbClr val="FFFFFF"/>
                </a:solidFill>
                <a:latin typeface="Arial" pitchFamily="34" charset="0"/>
                <a:ea typeface="Arial" pitchFamily="34" charset="-122"/>
                <a:cs typeface="Arial" pitchFamily="34" charset="-120"/>
              </a:rPr>
              <a:t>What would you actually use during a busy hour?</a:t>
            </a:r>
            <a:endParaRPr lang="en-US" sz="1400" dirty="0"/>
          </a:p>
        </p:txBody>
      </p:sp>
      <p:sp>
        <p:nvSpPr>
          <p:cNvPr id="18" name="Text 16"/>
          <p:cNvSpPr txBox="1"/>
          <p:nvPr/>
        </p:nvSpPr>
        <p:spPr>
          <a:xfrm>
            <a:off x="822960" y="5440680"/>
            <a:ext cx="3017520" cy="329184"/>
          </a:xfrm>
          <a:prstGeom prst="rect">
            <a:avLst/>
          </a:prstGeom>
          <a:noFill/>
          <a:ln/>
        </p:spPr>
        <p:txBody>
          <a:bodyPr wrap="square" lIns="0" tIns="0" rIns="0" bIns="0" rtlCol="0" anchor="t"/>
          <a:lstStyle/>
          <a:p>
            <a:pPr algn="l" indent="0" marL="0">
              <a:lnSpc>
                <a:spcPct val="100000"/>
              </a:lnSpc>
              <a:buNone/>
            </a:pPr>
            <a:r>
              <a:rPr lang="en-US" sz="1000" i="1" dirty="0">
                <a:solidFill>
                  <a:srgbClr val="B8C8E2"/>
                </a:solidFill>
                <a:latin typeface="Arial" pitchFamily="34" charset="0"/>
                <a:ea typeface="Arial" pitchFamily="34" charset="-122"/>
                <a:cs typeface="Arial" pitchFamily="34" charset="-120"/>
              </a:rPr>
              <a:t>Questions that guide our merchant discovery and pilot validation.</a:t>
            </a:r>
            <a:endParaRPr lang="en-US" sz="1000" dirty="0"/>
          </a:p>
        </p:txBody>
      </p:sp>
      <p:sp>
        <p:nvSpPr>
          <p:cNvPr id="19" name="Text 17"/>
          <p:cNvSpPr txBox="1"/>
          <p:nvPr/>
        </p:nvSpPr>
        <p:spPr>
          <a:xfrm>
            <a:off x="5074920" y="1417320"/>
            <a:ext cx="3657600" cy="228600"/>
          </a:xfrm>
          <a:prstGeom prst="rect">
            <a:avLst/>
          </a:prstGeom>
          <a:noFill/>
          <a:ln/>
        </p:spPr>
        <p:txBody>
          <a:bodyPr wrap="square" lIns="0" tIns="0" rIns="0" bIns="0" rtlCol="0" anchor="t"/>
          <a:lstStyle/>
          <a:p>
            <a:pPr algn="l" indent="0" marL="0">
              <a:lnSpc>
                <a:spcPct val="100000"/>
              </a:lnSpc>
              <a:buNone/>
            </a:pPr>
            <a:r>
              <a:rPr lang="en-US" sz="950" b="1" spc="130" kern="0" dirty="0">
                <a:solidFill>
                  <a:srgbClr val="5A6A85"/>
                </a:solidFill>
                <a:latin typeface="Arial" pitchFamily="34" charset="0"/>
                <a:ea typeface="Arial" pitchFamily="34" charset="-122"/>
                <a:cs typeface="Arial" pitchFamily="34" charset="-120"/>
              </a:rPr>
              <a:t>WORKFLOW OBSERVATION</a:t>
            </a:r>
            <a:endParaRPr lang="en-US" sz="950" dirty="0"/>
          </a:p>
        </p:txBody>
      </p:sp>
      <p:sp>
        <p:nvSpPr>
          <p:cNvPr id="20" name="Text 18"/>
          <p:cNvSpPr txBox="1"/>
          <p:nvPr/>
        </p:nvSpPr>
        <p:spPr>
          <a:xfrm>
            <a:off x="9418320" y="1417320"/>
            <a:ext cx="2221992" cy="228600"/>
          </a:xfrm>
          <a:prstGeom prst="rect">
            <a:avLst/>
          </a:prstGeom>
          <a:noFill/>
          <a:ln/>
        </p:spPr>
        <p:txBody>
          <a:bodyPr wrap="square" lIns="0" tIns="0" rIns="0" bIns="0" rtlCol="0" anchor="t"/>
          <a:lstStyle/>
          <a:p>
            <a:pPr algn="l" indent="0" marL="0">
              <a:lnSpc>
                <a:spcPct val="100000"/>
              </a:lnSpc>
              <a:buNone/>
            </a:pPr>
            <a:r>
              <a:rPr lang="en-US" sz="950" b="1" spc="130" kern="0" dirty="0">
                <a:solidFill>
                  <a:srgbClr val="0072BC"/>
                </a:solidFill>
                <a:latin typeface="Arial" pitchFamily="34" charset="0"/>
                <a:ea typeface="Arial" pitchFamily="34" charset="-122"/>
                <a:cs typeface="Arial" pitchFamily="34" charset="-120"/>
              </a:rPr>
              <a:t>OPPORTUNITY HYPOTHESIS</a:t>
            </a:r>
            <a:endParaRPr lang="en-US" sz="950" dirty="0"/>
          </a:p>
        </p:txBody>
      </p:sp>
      <p:sp>
        <p:nvSpPr>
          <p:cNvPr id="21" name="Shape 19"/>
          <p:cNvSpPr/>
          <p:nvPr/>
        </p:nvSpPr>
        <p:spPr>
          <a:xfrm>
            <a:off x="4389120" y="1719072"/>
            <a:ext cx="7251192" cy="758952"/>
          </a:xfrm>
          <a:prstGeom prst="roundRect">
            <a:avLst>
              <a:gd name="adj" fmla="val 14458"/>
            </a:avLst>
          </a:prstGeom>
          <a:solidFill>
            <a:srgbClr val="F4F8FC"/>
          </a:solidFill>
          <a:ln/>
        </p:spPr>
      </p:sp>
      <p:sp>
        <p:nvSpPr>
          <p:cNvPr id="22" name="Shape 20"/>
          <p:cNvSpPr/>
          <p:nvPr/>
        </p:nvSpPr>
        <p:spPr>
          <a:xfrm>
            <a:off x="4544568" y="1874520"/>
            <a:ext cx="448056" cy="448056"/>
          </a:xfrm>
          <a:prstGeom prst="ellipse">
            <a:avLst/>
          </a:prstGeom>
          <a:solidFill>
            <a:srgbClr val="FFFFFF"/>
          </a:solidFill>
          <a:ln/>
        </p:spPr>
      </p:sp>
      <p:pic>
        <p:nvPicPr>
          <p:cNvPr id="23" name="Image 0" descr="/private/tmp/claude-501/-Users-jaypandey-Library-Application-Support-Claude-scratch-workspaces-e205fcbe-ff17-47a0-b0da-08b9c2cd8dd1-9a575c31-2854-4c86-a69f-21eba1183528-scratch-2026-09-25-918942/ab509d62-e048-41fc-927b-5525291df5de/scratchpad/img/icons/LuReceiptText_0072BC.png">    </p:cNvPr>
          <p:cNvPicPr>
            <a:picLocks noChangeAspect="1"/>
          </p:cNvPicPr>
          <p:nvPr/>
        </p:nvPicPr>
        <p:blipFill>
          <a:blip r:embed="rId1"/>
          <a:stretch>
            <a:fillRect/>
          </a:stretch>
        </p:blipFill>
        <p:spPr>
          <a:xfrm>
            <a:off x="4652101" y="1982053"/>
            <a:ext cx="232989" cy="232989"/>
          </a:xfrm>
          <a:prstGeom prst="rect">
            <a:avLst/>
          </a:prstGeom>
        </p:spPr>
      </p:pic>
      <p:sp>
        <p:nvSpPr>
          <p:cNvPr id="24" name="Text 21"/>
          <p:cNvSpPr txBox="1"/>
          <p:nvPr/>
        </p:nvSpPr>
        <p:spPr>
          <a:xfrm>
            <a:off x="5074920" y="1810512"/>
            <a:ext cx="1097280" cy="576072"/>
          </a:xfrm>
          <a:prstGeom prst="rect">
            <a:avLst/>
          </a:prstGeom>
          <a:noFill/>
          <a:ln/>
        </p:spPr>
        <p:txBody>
          <a:bodyPr wrap="square" lIns="0" tIns="0" rIns="0" bIns="0" rtlCol="0" anchor="ctr"/>
          <a:lstStyle/>
          <a:p>
            <a:pPr algn="l" indent="0" marL="0">
              <a:lnSpc>
                <a:spcPct val="100000"/>
              </a:lnSpc>
              <a:buNone/>
            </a:pPr>
            <a:r>
              <a:rPr lang="en-US" sz="1250" b="1" dirty="0">
                <a:solidFill>
                  <a:srgbClr val="0B1F44"/>
                </a:solidFill>
                <a:latin typeface="Arial" pitchFamily="34" charset="0"/>
                <a:ea typeface="Arial" pitchFamily="34" charset="-122"/>
                <a:cs typeface="Arial" pitchFamily="34" charset="-120"/>
              </a:rPr>
              <a:t>Billing</a:t>
            </a:r>
            <a:endParaRPr lang="en-US" sz="1250" dirty="0"/>
          </a:p>
        </p:txBody>
      </p:sp>
      <p:sp>
        <p:nvSpPr>
          <p:cNvPr id="25" name="Text 22"/>
          <p:cNvSpPr txBox="1"/>
          <p:nvPr/>
        </p:nvSpPr>
        <p:spPr>
          <a:xfrm>
            <a:off x="6172200" y="1792224"/>
            <a:ext cx="2926080" cy="612648"/>
          </a:xfrm>
          <a:prstGeom prst="rect">
            <a:avLst/>
          </a:prstGeom>
          <a:noFill/>
          <a:ln/>
        </p:spPr>
        <p:txBody>
          <a:bodyPr wrap="square" lIns="0" tIns="0" rIns="0" bIns="0" rtlCol="0" anchor="ctr"/>
          <a:lstStyle/>
          <a:p>
            <a:pPr algn="l" indent="0" marL="0">
              <a:lnSpc>
                <a:spcPct val="102000"/>
              </a:lnSpc>
              <a:buNone/>
            </a:pPr>
            <a:r>
              <a:rPr lang="en-US" sz="1150" dirty="0">
                <a:solidFill>
                  <a:srgbClr val="0F1B33"/>
                </a:solidFill>
                <a:latin typeface="Arial" pitchFamily="34" charset="0"/>
                <a:ea typeface="Arial" pitchFamily="34" charset="-122"/>
                <a:cs typeface="Arial" pitchFamily="34" charset="-120"/>
              </a:rPr>
              <a:t>Items are often identified from memory, barcodes or a handwritten parchi, then entered by hand.</a:t>
            </a:r>
            <a:endParaRPr lang="en-US" sz="1150" dirty="0"/>
          </a:p>
        </p:txBody>
      </p:sp>
      <p:sp>
        <p:nvSpPr>
          <p:cNvPr id="26" name="Shape 23"/>
          <p:cNvSpPr/>
          <p:nvPr/>
        </p:nvSpPr>
        <p:spPr>
          <a:xfrm>
            <a:off x="9125712" y="2098548"/>
            <a:ext cx="219456" cy="91"/>
          </a:xfrm>
          <a:prstGeom prst="line">
            <a:avLst/>
          </a:prstGeom>
          <a:noFill/>
          <a:ln w="19050">
            <a:solidFill>
              <a:srgbClr val="00A7E1"/>
            </a:solidFill>
            <a:prstDash val="solid"/>
            <a:tailEnd type="triangle"/>
          </a:ln>
        </p:spPr>
      </p:sp>
      <p:sp>
        <p:nvSpPr>
          <p:cNvPr id="27" name="Text 24"/>
          <p:cNvSpPr txBox="1"/>
          <p:nvPr/>
        </p:nvSpPr>
        <p:spPr>
          <a:xfrm>
            <a:off x="9418320" y="1792224"/>
            <a:ext cx="2103120" cy="612648"/>
          </a:xfrm>
          <a:prstGeom prst="rect">
            <a:avLst/>
          </a:prstGeom>
          <a:noFill/>
          <a:ln/>
        </p:spPr>
        <p:txBody>
          <a:bodyPr wrap="square" lIns="0" tIns="0" rIns="0" bIns="0" rtlCol="0" anchor="ctr"/>
          <a:lstStyle/>
          <a:p>
            <a:pPr algn="l" indent="0" marL="0">
              <a:lnSpc>
                <a:spcPct val="102000"/>
              </a:lnSpc>
              <a:buNone/>
            </a:pPr>
            <a:r>
              <a:rPr lang="en-US" sz="1150" b="1" dirty="0">
                <a:solidFill>
                  <a:srgbClr val="0072BC"/>
                </a:solidFill>
                <a:latin typeface="Arial" pitchFamily="34" charset="0"/>
                <a:ea typeface="Arial" pitchFamily="34" charset="-122"/>
                <a:cs typeface="Arial" pitchFamily="34" charset="-120"/>
              </a:rPr>
              <a:t>One bill from any input: scan, photo, voice or parchi.</a:t>
            </a:r>
            <a:endParaRPr lang="en-US" sz="1150" dirty="0"/>
          </a:p>
        </p:txBody>
      </p:sp>
      <p:sp>
        <p:nvSpPr>
          <p:cNvPr id="28" name="Shape 25"/>
          <p:cNvSpPr/>
          <p:nvPr/>
        </p:nvSpPr>
        <p:spPr>
          <a:xfrm>
            <a:off x="4389120" y="2569464"/>
            <a:ext cx="7251192" cy="758952"/>
          </a:xfrm>
          <a:prstGeom prst="roundRect">
            <a:avLst>
              <a:gd name="adj" fmla="val 14458"/>
            </a:avLst>
          </a:prstGeom>
          <a:solidFill>
            <a:srgbClr val="F4F8FC"/>
          </a:solidFill>
          <a:ln/>
        </p:spPr>
      </p:sp>
      <p:sp>
        <p:nvSpPr>
          <p:cNvPr id="29" name="Shape 26"/>
          <p:cNvSpPr/>
          <p:nvPr/>
        </p:nvSpPr>
        <p:spPr>
          <a:xfrm>
            <a:off x="4544568" y="2724912"/>
            <a:ext cx="448056" cy="448056"/>
          </a:xfrm>
          <a:prstGeom prst="ellipse">
            <a:avLst/>
          </a:prstGeom>
          <a:solidFill>
            <a:srgbClr val="FFFFFF"/>
          </a:solidFill>
          <a:ln/>
        </p:spPr>
      </p:sp>
      <p:pic>
        <p:nvPicPr>
          <p:cNvPr id="30" name="Image 1" descr="/private/tmp/claude-501/-Users-jaypandey-Library-Application-Support-Claude-scratch-workspaces-e205fcbe-ff17-47a0-b0da-08b9c2cd8dd1-9a575c31-2854-4c86-a69f-21eba1183528-scratch-2026-09-25-918942/ab509d62-e048-41fc-927b-5525291df5de/scratchpad/img/icons/LuQrCode_0072BC.png">    </p:cNvPr>
          <p:cNvPicPr>
            <a:picLocks noChangeAspect="1"/>
          </p:cNvPicPr>
          <p:nvPr/>
        </p:nvPicPr>
        <p:blipFill>
          <a:blip r:embed="rId2"/>
          <a:stretch>
            <a:fillRect/>
          </a:stretch>
        </p:blipFill>
        <p:spPr>
          <a:xfrm>
            <a:off x="4652101" y="2832445"/>
            <a:ext cx="232989" cy="232989"/>
          </a:xfrm>
          <a:prstGeom prst="rect">
            <a:avLst/>
          </a:prstGeom>
        </p:spPr>
      </p:pic>
      <p:sp>
        <p:nvSpPr>
          <p:cNvPr id="31" name="Text 27"/>
          <p:cNvSpPr txBox="1"/>
          <p:nvPr/>
        </p:nvSpPr>
        <p:spPr>
          <a:xfrm>
            <a:off x="5074920" y="2660904"/>
            <a:ext cx="1097280" cy="576072"/>
          </a:xfrm>
          <a:prstGeom prst="rect">
            <a:avLst/>
          </a:prstGeom>
          <a:noFill/>
          <a:ln/>
        </p:spPr>
        <p:txBody>
          <a:bodyPr wrap="square" lIns="0" tIns="0" rIns="0" bIns="0" rtlCol="0" anchor="ctr"/>
          <a:lstStyle/>
          <a:p>
            <a:pPr algn="l" indent="0" marL="0">
              <a:lnSpc>
                <a:spcPct val="100000"/>
              </a:lnSpc>
              <a:buNone/>
            </a:pPr>
            <a:r>
              <a:rPr lang="en-US" sz="1250" b="1" dirty="0">
                <a:solidFill>
                  <a:srgbClr val="0B1F44"/>
                </a:solidFill>
                <a:latin typeface="Arial" pitchFamily="34" charset="0"/>
                <a:ea typeface="Arial" pitchFamily="34" charset="-122"/>
                <a:cs typeface="Arial" pitchFamily="34" charset="-120"/>
              </a:rPr>
              <a:t>Payments</a:t>
            </a:r>
            <a:endParaRPr lang="en-US" sz="1250" dirty="0"/>
          </a:p>
        </p:txBody>
      </p:sp>
      <p:sp>
        <p:nvSpPr>
          <p:cNvPr id="32" name="Text 28"/>
          <p:cNvSpPr txBox="1"/>
          <p:nvPr/>
        </p:nvSpPr>
        <p:spPr>
          <a:xfrm>
            <a:off x="6172200" y="2642616"/>
            <a:ext cx="2926080" cy="612648"/>
          </a:xfrm>
          <a:prstGeom prst="rect">
            <a:avLst/>
          </a:prstGeom>
          <a:noFill/>
          <a:ln/>
        </p:spPr>
        <p:txBody>
          <a:bodyPr wrap="square" lIns="0" tIns="0" rIns="0" bIns="0" rtlCol="0" anchor="ctr"/>
          <a:lstStyle/>
          <a:p>
            <a:pPr algn="l" indent="0" marL="0">
              <a:lnSpc>
                <a:spcPct val="102000"/>
              </a:lnSpc>
              <a:buNone/>
            </a:pPr>
            <a:r>
              <a:rPr lang="en-US" sz="1150" dirty="0">
                <a:solidFill>
                  <a:srgbClr val="0F1B33"/>
                </a:solidFill>
                <a:latin typeface="Arial" pitchFamily="34" charset="0"/>
                <a:ea typeface="Arial" pitchFamily="34" charset="-122"/>
                <a:cs typeface="Arial" pitchFamily="34" charset="-120"/>
              </a:rPr>
              <a:t>The QR payment is digital, but it is often not linked to the bill, the stock or the notebook.</a:t>
            </a:r>
            <a:endParaRPr lang="en-US" sz="1150" dirty="0"/>
          </a:p>
        </p:txBody>
      </p:sp>
      <p:sp>
        <p:nvSpPr>
          <p:cNvPr id="33" name="Shape 29"/>
          <p:cNvSpPr/>
          <p:nvPr/>
        </p:nvSpPr>
        <p:spPr>
          <a:xfrm>
            <a:off x="9125712" y="2948940"/>
            <a:ext cx="219456" cy="91"/>
          </a:xfrm>
          <a:prstGeom prst="line">
            <a:avLst/>
          </a:prstGeom>
          <a:noFill/>
          <a:ln w="19050">
            <a:solidFill>
              <a:srgbClr val="00A7E1"/>
            </a:solidFill>
            <a:prstDash val="solid"/>
            <a:tailEnd type="triangle"/>
          </a:ln>
        </p:spPr>
      </p:sp>
      <p:sp>
        <p:nvSpPr>
          <p:cNvPr id="34" name="Text 30"/>
          <p:cNvSpPr txBox="1"/>
          <p:nvPr/>
        </p:nvSpPr>
        <p:spPr>
          <a:xfrm>
            <a:off x="9418320" y="2642616"/>
            <a:ext cx="2103120" cy="612648"/>
          </a:xfrm>
          <a:prstGeom prst="rect">
            <a:avLst/>
          </a:prstGeom>
          <a:noFill/>
          <a:ln/>
        </p:spPr>
        <p:txBody>
          <a:bodyPr wrap="square" lIns="0" tIns="0" rIns="0" bIns="0" rtlCol="0" anchor="ctr"/>
          <a:lstStyle/>
          <a:p>
            <a:pPr algn="l" indent="0" marL="0">
              <a:lnSpc>
                <a:spcPct val="102000"/>
              </a:lnSpc>
              <a:buNone/>
            </a:pPr>
            <a:r>
              <a:rPr lang="en-US" sz="1150" b="1" dirty="0">
                <a:solidFill>
                  <a:srgbClr val="0072BC"/>
                </a:solidFill>
                <a:latin typeface="Arial" pitchFamily="34" charset="0"/>
                <a:ea typeface="Arial" pitchFamily="34" charset="-122"/>
                <a:cs typeface="Arial" pitchFamily="34" charset="-120"/>
              </a:rPr>
              <a:t>Tie each verified payment to its bill and stock.</a:t>
            </a:r>
            <a:endParaRPr lang="en-US" sz="1150" dirty="0"/>
          </a:p>
        </p:txBody>
      </p:sp>
      <p:sp>
        <p:nvSpPr>
          <p:cNvPr id="35" name="Shape 31"/>
          <p:cNvSpPr/>
          <p:nvPr/>
        </p:nvSpPr>
        <p:spPr>
          <a:xfrm>
            <a:off x="4389120" y="3419856"/>
            <a:ext cx="7251192" cy="758952"/>
          </a:xfrm>
          <a:prstGeom prst="roundRect">
            <a:avLst>
              <a:gd name="adj" fmla="val 14458"/>
            </a:avLst>
          </a:prstGeom>
          <a:solidFill>
            <a:srgbClr val="F4F8FC"/>
          </a:solidFill>
          <a:ln/>
        </p:spPr>
      </p:sp>
      <p:sp>
        <p:nvSpPr>
          <p:cNvPr id="36" name="Shape 32"/>
          <p:cNvSpPr/>
          <p:nvPr/>
        </p:nvSpPr>
        <p:spPr>
          <a:xfrm>
            <a:off x="4544568" y="3575304"/>
            <a:ext cx="448056" cy="448056"/>
          </a:xfrm>
          <a:prstGeom prst="ellipse">
            <a:avLst/>
          </a:prstGeom>
          <a:solidFill>
            <a:srgbClr val="FFFFFF"/>
          </a:solidFill>
          <a:ln/>
        </p:spPr>
      </p:sp>
      <p:pic>
        <p:nvPicPr>
          <p:cNvPr id="37" name="Image 2" descr="/private/tmp/claude-501/-Users-jaypandey-Library-Application-Support-Claude-scratch-workspaces-e205fcbe-ff17-47a0-b0da-08b9c2cd8dd1-9a575c31-2854-4c86-a69f-21eba1183528-scratch-2026-09-25-918942/ab509d62-e048-41fc-927b-5525291df5de/scratchpad/img/icons/LuStore_0072BC.png">    </p:cNvPr>
          <p:cNvPicPr>
            <a:picLocks noChangeAspect="1"/>
          </p:cNvPicPr>
          <p:nvPr/>
        </p:nvPicPr>
        <p:blipFill>
          <a:blip r:embed="rId3"/>
          <a:stretch>
            <a:fillRect/>
          </a:stretch>
        </p:blipFill>
        <p:spPr>
          <a:xfrm>
            <a:off x="4652101" y="3682837"/>
            <a:ext cx="232989" cy="232989"/>
          </a:xfrm>
          <a:prstGeom prst="rect">
            <a:avLst/>
          </a:prstGeom>
        </p:spPr>
      </p:pic>
      <p:sp>
        <p:nvSpPr>
          <p:cNvPr id="38" name="Text 33"/>
          <p:cNvSpPr txBox="1"/>
          <p:nvPr/>
        </p:nvSpPr>
        <p:spPr>
          <a:xfrm>
            <a:off x="5074920" y="3511296"/>
            <a:ext cx="1097280" cy="576072"/>
          </a:xfrm>
          <a:prstGeom prst="rect">
            <a:avLst/>
          </a:prstGeom>
          <a:noFill/>
          <a:ln/>
        </p:spPr>
        <p:txBody>
          <a:bodyPr wrap="square" lIns="0" tIns="0" rIns="0" bIns="0" rtlCol="0" anchor="ctr"/>
          <a:lstStyle/>
          <a:p>
            <a:pPr algn="l" indent="0" marL="0">
              <a:lnSpc>
                <a:spcPct val="100000"/>
              </a:lnSpc>
              <a:buNone/>
            </a:pPr>
            <a:r>
              <a:rPr lang="en-US" sz="1250" b="1" dirty="0">
                <a:solidFill>
                  <a:srgbClr val="0B1F44"/>
                </a:solidFill>
                <a:latin typeface="Arial" pitchFamily="34" charset="0"/>
                <a:ea typeface="Arial" pitchFamily="34" charset="-122"/>
                <a:cs typeface="Arial" pitchFamily="34" charset="-120"/>
              </a:rPr>
              <a:t>Store sales</a:t>
            </a:r>
            <a:endParaRPr lang="en-US" sz="1250" dirty="0"/>
          </a:p>
        </p:txBody>
      </p:sp>
      <p:sp>
        <p:nvSpPr>
          <p:cNvPr id="39" name="Text 34"/>
          <p:cNvSpPr txBox="1"/>
          <p:nvPr/>
        </p:nvSpPr>
        <p:spPr>
          <a:xfrm>
            <a:off x="6172200" y="3493008"/>
            <a:ext cx="2926080" cy="612648"/>
          </a:xfrm>
          <a:prstGeom prst="rect">
            <a:avLst/>
          </a:prstGeom>
          <a:noFill/>
          <a:ln/>
        </p:spPr>
        <p:txBody>
          <a:bodyPr wrap="square" lIns="0" tIns="0" rIns="0" bIns="0" rtlCol="0" anchor="ctr"/>
          <a:lstStyle/>
          <a:p>
            <a:pPr algn="l" indent="0" marL="0">
              <a:lnSpc>
                <a:spcPct val="102000"/>
              </a:lnSpc>
              <a:buNone/>
            </a:pPr>
            <a:r>
              <a:rPr lang="en-US" sz="1150" dirty="0">
                <a:solidFill>
                  <a:srgbClr val="0F1B33"/>
                </a:solidFill>
                <a:latin typeface="Arial" pitchFamily="34" charset="0"/>
                <a:ea typeface="Arial" pitchFamily="34" charset="-122"/>
                <a:cs typeface="Arial" pitchFamily="34" charset="-120"/>
              </a:rPr>
              <a:t>Many stores still rely on walk-ins and phone calls.</a:t>
            </a:r>
            <a:endParaRPr lang="en-US" sz="1150" dirty="0"/>
          </a:p>
        </p:txBody>
      </p:sp>
      <p:sp>
        <p:nvSpPr>
          <p:cNvPr id="40" name="Shape 35"/>
          <p:cNvSpPr/>
          <p:nvPr/>
        </p:nvSpPr>
        <p:spPr>
          <a:xfrm>
            <a:off x="9125712" y="3799332"/>
            <a:ext cx="219456" cy="91"/>
          </a:xfrm>
          <a:prstGeom prst="line">
            <a:avLst/>
          </a:prstGeom>
          <a:noFill/>
          <a:ln w="19050">
            <a:solidFill>
              <a:srgbClr val="00A7E1"/>
            </a:solidFill>
            <a:prstDash val="solid"/>
            <a:tailEnd type="triangle"/>
          </a:ln>
        </p:spPr>
      </p:sp>
      <p:sp>
        <p:nvSpPr>
          <p:cNvPr id="41" name="Text 36"/>
          <p:cNvSpPr txBox="1"/>
          <p:nvPr/>
        </p:nvSpPr>
        <p:spPr>
          <a:xfrm>
            <a:off x="9418320" y="3493008"/>
            <a:ext cx="2103120" cy="612648"/>
          </a:xfrm>
          <a:prstGeom prst="rect">
            <a:avLst/>
          </a:prstGeom>
          <a:noFill/>
          <a:ln/>
        </p:spPr>
        <p:txBody>
          <a:bodyPr wrap="square" lIns="0" tIns="0" rIns="0" bIns="0" rtlCol="0" anchor="ctr"/>
          <a:lstStyle/>
          <a:p>
            <a:pPr algn="l" indent="0" marL="0">
              <a:lnSpc>
                <a:spcPct val="102000"/>
              </a:lnSpc>
              <a:buNone/>
            </a:pPr>
            <a:r>
              <a:rPr lang="en-US" sz="1150" b="1" dirty="0">
                <a:solidFill>
                  <a:srgbClr val="0072BC"/>
                </a:solidFill>
                <a:latin typeface="Arial" pitchFamily="34" charset="0"/>
                <a:ea typeface="Arial" pitchFamily="34" charset="-122"/>
                <a:cs typeface="Arial" pitchFamily="34" charset="-120"/>
              </a:rPr>
              <a:t>A shareable storefront from the same catalogue.</a:t>
            </a:r>
            <a:endParaRPr lang="en-US" sz="1150" dirty="0"/>
          </a:p>
        </p:txBody>
      </p:sp>
      <p:sp>
        <p:nvSpPr>
          <p:cNvPr id="42" name="Shape 37"/>
          <p:cNvSpPr/>
          <p:nvPr/>
        </p:nvSpPr>
        <p:spPr>
          <a:xfrm>
            <a:off x="4389120" y="4270248"/>
            <a:ext cx="7251192" cy="758952"/>
          </a:xfrm>
          <a:prstGeom prst="roundRect">
            <a:avLst>
              <a:gd name="adj" fmla="val 14458"/>
            </a:avLst>
          </a:prstGeom>
          <a:solidFill>
            <a:srgbClr val="F4F8FC"/>
          </a:solidFill>
          <a:ln/>
        </p:spPr>
      </p:sp>
      <p:sp>
        <p:nvSpPr>
          <p:cNvPr id="43" name="Shape 38"/>
          <p:cNvSpPr/>
          <p:nvPr/>
        </p:nvSpPr>
        <p:spPr>
          <a:xfrm>
            <a:off x="4544568" y="4425696"/>
            <a:ext cx="448056" cy="448056"/>
          </a:xfrm>
          <a:prstGeom prst="ellipse">
            <a:avLst/>
          </a:prstGeom>
          <a:solidFill>
            <a:srgbClr val="FFFFFF"/>
          </a:solidFill>
          <a:ln/>
        </p:spPr>
      </p:sp>
      <p:pic>
        <p:nvPicPr>
          <p:cNvPr id="44" name="Image 3" descr="/private/tmp/claude-501/-Users-jaypandey-Library-Application-Support-Claude-scratch-workspaces-e205fcbe-ff17-47a0-b0da-08b9c2cd8dd1-9a575c31-2854-4c86-a69f-21eba1183528-scratch-2026-09-25-918942/ab509d62-e048-41fc-927b-5525291df5de/scratchpad/img/icons/LuNotebookPen_0072BC.png">    </p:cNvPr>
          <p:cNvPicPr>
            <a:picLocks noChangeAspect="1"/>
          </p:cNvPicPr>
          <p:nvPr/>
        </p:nvPicPr>
        <p:blipFill>
          <a:blip r:embed="rId4"/>
          <a:stretch>
            <a:fillRect/>
          </a:stretch>
        </p:blipFill>
        <p:spPr>
          <a:xfrm>
            <a:off x="4652101" y="4533229"/>
            <a:ext cx="232989" cy="232989"/>
          </a:xfrm>
          <a:prstGeom prst="rect">
            <a:avLst/>
          </a:prstGeom>
        </p:spPr>
      </p:pic>
      <p:sp>
        <p:nvSpPr>
          <p:cNvPr id="45" name="Text 39"/>
          <p:cNvSpPr txBox="1"/>
          <p:nvPr/>
        </p:nvSpPr>
        <p:spPr>
          <a:xfrm>
            <a:off x="5074920" y="4361688"/>
            <a:ext cx="1097280" cy="576072"/>
          </a:xfrm>
          <a:prstGeom prst="rect">
            <a:avLst/>
          </a:prstGeom>
          <a:noFill/>
          <a:ln/>
        </p:spPr>
        <p:txBody>
          <a:bodyPr wrap="square" lIns="0" tIns="0" rIns="0" bIns="0" rtlCol="0" anchor="ctr"/>
          <a:lstStyle/>
          <a:p>
            <a:pPr algn="l" indent="0" marL="0">
              <a:lnSpc>
                <a:spcPct val="100000"/>
              </a:lnSpc>
              <a:buNone/>
            </a:pPr>
            <a:r>
              <a:rPr lang="en-US" sz="1250" b="1" dirty="0">
                <a:solidFill>
                  <a:srgbClr val="0B1F44"/>
                </a:solidFill>
                <a:latin typeface="Arial" pitchFamily="34" charset="0"/>
                <a:ea typeface="Arial" pitchFamily="34" charset="-122"/>
                <a:cs typeface="Arial" pitchFamily="34" charset="-120"/>
              </a:rPr>
              <a:t>Udhaar</a:t>
            </a:r>
            <a:endParaRPr lang="en-US" sz="1250" dirty="0"/>
          </a:p>
        </p:txBody>
      </p:sp>
      <p:sp>
        <p:nvSpPr>
          <p:cNvPr id="46" name="Text 40"/>
          <p:cNvSpPr txBox="1"/>
          <p:nvPr/>
        </p:nvSpPr>
        <p:spPr>
          <a:xfrm>
            <a:off x="6172200" y="4343400"/>
            <a:ext cx="2926080" cy="612648"/>
          </a:xfrm>
          <a:prstGeom prst="rect">
            <a:avLst/>
          </a:prstGeom>
          <a:noFill/>
          <a:ln/>
        </p:spPr>
        <p:txBody>
          <a:bodyPr wrap="square" lIns="0" tIns="0" rIns="0" bIns="0" rtlCol="0" anchor="ctr"/>
          <a:lstStyle/>
          <a:p>
            <a:pPr algn="l" indent="0" marL="0">
              <a:lnSpc>
                <a:spcPct val="102000"/>
              </a:lnSpc>
              <a:buNone/>
            </a:pPr>
            <a:r>
              <a:rPr lang="en-US" sz="1150" dirty="0">
                <a:solidFill>
                  <a:srgbClr val="0F1B33"/>
                </a:solidFill>
                <a:latin typeface="Arial" pitchFamily="34" charset="0"/>
                <a:ea typeface="Arial" pitchFamily="34" charset="-122"/>
                <a:cs typeface="Arial" pitchFamily="34" charset="-120"/>
              </a:rPr>
              <a:t>Credit is often kept in a notebook that can’t see who has paid digitally.</a:t>
            </a:r>
            <a:endParaRPr lang="en-US" sz="1150" dirty="0"/>
          </a:p>
        </p:txBody>
      </p:sp>
      <p:sp>
        <p:nvSpPr>
          <p:cNvPr id="47" name="Shape 41"/>
          <p:cNvSpPr/>
          <p:nvPr/>
        </p:nvSpPr>
        <p:spPr>
          <a:xfrm>
            <a:off x="9125712" y="4649724"/>
            <a:ext cx="219456" cy="91"/>
          </a:xfrm>
          <a:prstGeom prst="line">
            <a:avLst/>
          </a:prstGeom>
          <a:noFill/>
          <a:ln w="19050">
            <a:solidFill>
              <a:srgbClr val="00A7E1"/>
            </a:solidFill>
            <a:prstDash val="solid"/>
            <a:tailEnd type="triangle"/>
          </a:ln>
        </p:spPr>
      </p:sp>
      <p:sp>
        <p:nvSpPr>
          <p:cNvPr id="48" name="Text 42"/>
          <p:cNvSpPr txBox="1"/>
          <p:nvPr/>
        </p:nvSpPr>
        <p:spPr>
          <a:xfrm>
            <a:off x="9418320" y="4343400"/>
            <a:ext cx="2103120" cy="612648"/>
          </a:xfrm>
          <a:prstGeom prst="rect">
            <a:avLst/>
          </a:prstGeom>
          <a:noFill/>
          <a:ln/>
        </p:spPr>
        <p:txBody>
          <a:bodyPr wrap="square" lIns="0" tIns="0" rIns="0" bIns="0" rtlCol="0" anchor="ctr"/>
          <a:lstStyle/>
          <a:p>
            <a:pPr algn="l" indent="0" marL="0">
              <a:lnSpc>
                <a:spcPct val="102000"/>
              </a:lnSpc>
              <a:buNone/>
            </a:pPr>
            <a:r>
              <a:rPr lang="en-US" sz="1150" b="1" dirty="0">
                <a:solidFill>
                  <a:srgbClr val="0072BC"/>
                </a:solidFill>
                <a:latin typeface="Arial" pitchFamily="34" charset="0"/>
                <a:ea typeface="Arial" pitchFamily="34" charset="-122"/>
                <a:cs typeface="Arial" pitchFamily="34" charset="-120"/>
              </a:rPr>
              <a:t>A Khata that tracks dues and helps collect them.</a:t>
            </a:r>
            <a:endParaRPr lang="en-US" sz="1150" dirty="0"/>
          </a:p>
        </p:txBody>
      </p:sp>
      <p:sp>
        <p:nvSpPr>
          <p:cNvPr id="49" name="Shape 43"/>
          <p:cNvSpPr/>
          <p:nvPr/>
        </p:nvSpPr>
        <p:spPr>
          <a:xfrm>
            <a:off x="4389120" y="5120640"/>
            <a:ext cx="7251192" cy="758952"/>
          </a:xfrm>
          <a:prstGeom prst="roundRect">
            <a:avLst>
              <a:gd name="adj" fmla="val 14458"/>
            </a:avLst>
          </a:prstGeom>
          <a:solidFill>
            <a:srgbClr val="F4F8FC"/>
          </a:solidFill>
          <a:ln/>
        </p:spPr>
      </p:sp>
      <p:sp>
        <p:nvSpPr>
          <p:cNvPr id="50" name="Shape 44"/>
          <p:cNvSpPr/>
          <p:nvPr/>
        </p:nvSpPr>
        <p:spPr>
          <a:xfrm>
            <a:off x="4544568" y="5276088"/>
            <a:ext cx="448056" cy="448056"/>
          </a:xfrm>
          <a:prstGeom prst="ellipse">
            <a:avLst/>
          </a:prstGeom>
          <a:solidFill>
            <a:srgbClr val="FFFFFF"/>
          </a:solidFill>
          <a:ln/>
        </p:spPr>
      </p:sp>
      <p:pic>
        <p:nvPicPr>
          <p:cNvPr id="51" name="Image 4" descr="/private/tmp/claude-501/-Users-jaypandey-Library-Application-Support-Claude-scratch-workspaces-e205fcbe-ff17-47a0-b0da-08b9c2cd8dd1-9a575c31-2854-4c86-a69f-21eba1183528-scratch-2026-09-25-918942/ab509d62-e048-41fc-927b-5525291df5de/scratchpad/img/icons/LuMessageCircleQuestion_0072BC.png">    </p:cNvPr>
          <p:cNvPicPr>
            <a:picLocks noChangeAspect="1"/>
          </p:cNvPicPr>
          <p:nvPr/>
        </p:nvPicPr>
        <p:blipFill>
          <a:blip r:embed="rId5"/>
          <a:stretch>
            <a:fillRect/>
          </a:stretch>
        </p:blipFill>
        <p:spPr>
          <a:xfrm>
            <a:off x="4652101" y="5383621"/>
            <a:ext cx="232989" cy="232989"/>
          </a:xfrm>
          <a:prstGeom prst="rect">
            <a:avLst/>
          </a:prstGeom>
        </p:spPr>
      </p:pic>
      <p:sp>
        <p:nvSpPr>
          <p:cNvPr id="52" name="Text 45"/>
          <p:cNvSpPr txBox="1"/>
          <p:nvPr/>
        </p:nvSpPr>
        <p:spPr>
          <a:xfrm>
            <a:off x="5074920" y="5212080"/>
            <a:ext cx="1097280" cy="576072"/>
          </a:xfrm>
          <a:prstGeom prst="rect">
            <a:avLst/>
          </a:prstGeom>
          <a:noFill/>
          <a:ln/>
        </p:spPr>
        <p:txBody>
          <a:bodyPr wrap="square" lIns="0" tIns="0" rIns="0" bIns="0" rtlCol="0" anchor="ctr"/>
          <a:lstStyle/>
          <a:p>
            <a:pPr algn="l" indent="0" marL="0">
              <a:lnSpc>
                <a:spcPct val="100000"/>
              </a:lnSpc>
              <a:buNone/>
            </a:pPr>
            <a:r>
              <a:rPr lang="en-US" sz="1250" b="1" dirty="0">
                <a:solidFill>
                  <a:srgbClr val="0B1F44"/>
                </a:solidFill>
                <a:latin typeface="Arial" pitchFamily="34" charset="0"/>
                <a:ea typeface="Arial" pitchFamily="34" charset="-122"/>
                <a:cs typeface="Arial" pitchFamily="34" charset="-120"/>
              </a:rPr>
              <a:t>Decisions</a:t>
            </a:r>
            <a:endParaRPr lang="en-US" sz="1250" dirty="0"/>
          </a:p>
        </p:txBody>
      </p:sp>
      <p:sp>
        <p:nvSpPr>
          <p:cNvPr id="53" name="Text 46"/>
          <p:cNvSpPr txBox="1"/>
          <p:nvPr/>
        </p:nvSpPr>
        <p:spPr>
          <a:xfrm>
            <a:off x="6172200" y="5193792"/>
            <a:ext cx="2926080" cy="612648"/>
          </a:xfrm>
          <a:prstGeom prst="rect">
            <a:avLst/>
          </a:prstGeom>
          <a:noFill/>
          <a:ln/>
        </p:spPr>
        <p:txBody>
          <a:bodyPr wrap="square" lIns="0" tIns="0" rIns="0" bIns="0" rtlCol="0" anchor="ctr"/>
          <a:lstStyle/>
          <a:p>
            <a:pPr algn="l" indent="0" marL="0">
              <a:lnSpc>
                <a:spcPct val="102000"/>
              </a:lnSpc>
              <a:buNone/>
            </a:pPr>
            <a:r>
              <a:rPr lang="en-US" sz="1150" dirty="0">
                <a:solidFill>
                  <a:srgbClr val="0F1B33"/>
                </a:solidFill>
                <a:latin typeface="Arial" pitchFamily="34" charset="0"/>
                <a:ea typeface="Arial" pitchFamily="34" charset="-122"/>
                <a:cs typeface="Arial" pitchFamily="34" charset="-120"/>
              </a:rPr>
              <a:t>Transaction data exists, but there is little time to interpret it during the day.</a:t>
            </a:r>
            <a:endParaRPr lang="en-US" sz="1150" dirty="0"/>
          </a:p>
        </p:txBody>
      </p:sp>
      <p:sp>
        <p:nvSpPr>
          <p:cNvPr id="54" name="Shape 47"/>
          <p:cNvSpPr/>
          <p:nvPr/>
        </p:nvSpPr>
        <p:spPr>
          <a:xfrm>
            <a:off x="9125712" y="5500116"/>
            <a:ext cx="219456" cy="91"/>
          </a:xfrm>
          <a:prstGeom prst="line">
            <a:avLst/>
          </a:prstGeom>
          <a:noFill/>
          <a:ln w="19050">
            <a:solidFill>
              <a:srgbClr val="00A7E1"/>
            </a:solidFill>
            <a:prstDash val="solid"/>
            <a:tailEnd type="triangle"/>
          </a:ln>
        </p:spPr>
      </p:sp>
      <p:sp>
        <p:nvSpPr>
          <p:cNvPr id="55" name="Text 48"/>
          <p:cNvSpPr txBox="1"/>
          <p:nvPr/>
        </p:nvSpPr>
        <p:spPr>
          <a:xfrm>
            <a:off x="9418320" y="5193792"/>
            <a:ext cx="2103120" cy="612648"/>
          </a:xfrm>
          <a:prstGeom prst="rect">
            <a:avLst/>
          </a:prstGeom>
          <a:noFill/>
          <a:ln/>
        </p:spPr>
        <p:txBody>
          <a:bodyPr wrap="square" lIns="0" tIns="0" rIns="0" bIns="0" rtlCol="0" anchor="ctr"/>
          <a:lstStyle/>
          <a:p>
            <a:pPr algn="l" indent="0" marL="0">
              <a:lnSpc>
                <a:spcPct val="102000"/>
              </a:lnSpc>
              <a:buNone/>
            </a:pPr>
            <a:r>
              <a:rPr lang="en-US" sz="1150" b="1" dirty="0">
                <a:solidFill>
                  <a:srgbClr val="0072BC"/>
                </a:solidFill>
                <a:latin typeface="Arial" pitchFamily="34" charset="0"/>
                <a:ea typeface="Arial" pitchFamily="34" charset="-122"/>
                <a:cs typeface="Arial" pitchFamily="34" charset="-120"/>
              </a:rPr>
              <a:t>An adviser you can simply ask, out loud.</a:t>
            </a:r>
            <a:endParaRPr lang="en-US" sz="1150" dirty="0"/>
          </a:p>
        </p:txBody>
      </p:sp>
      <p:sp>
        <p:nvSpPr>
          <p:cNvPr id="56" name="Text 49"/>
          <p:cNvSpPr txBox="1"/>
          <p:nvPr/>
        </p:nvSpPr>
        <p:spPr>
          <a:xfrm>
            <a:off x="4389120" y="6035040"/>
            <a:ext cx="5010912" cy="237744"/>
          </a:xfrm>
          <a:prstGeom prst="roundRect">
            <a:avLst>
              <a:gd name="adj" fmla="val 50000"/>
            </a:avLst>
          </a:prstGeom>
          <a:solidFill>
            <a:srgbClr val="ECEFF5"/>
          </a:solidFill>
          <a:ln/>
        </p:spPr>
        <p:txBody>
          <a:bodyPr wrap="square" lIns="0" tIns="0" rIns="0" bIns="0" rtlCol="0" anchor="ctr"/>
          <a:lstStyle/>
          <a:p>
            <a:pPr algn="ctr" indent="0" marL="0">
              <a:lnSpc>
                <a:spcPct val="100000"/>
              </a:lnSpc>
              <a:buNone/>
            </a:pPr>
            <a:r>
              <a:rPr lang="en-US" sz="850" b="1" spc="60" kern="0" dirty="0">
                <a:solidFill>
                  <a:srgbClr val="3C4A66"/>
                </a:solidFill>
                <a:latin typeface="Arial" pitchFamily="34" charset="0"/>
                <a:ea typeface="Arial" pitchFamily="34" charset="-122"/>
                <a:cs typeface="Arial" pitchFamily="34" charset="-120"/>
              </a:rPr>
              <a:t>INITIAL WORKFLOW OBSERVATIONS · TO BE VALIDATED DURING THE PILOT</a:t>
            </a:r>
            <a:endParaRPr lang="en-US" sz="850" dirty="0"/>
          </a:p>
        </p:txBody>
      </p:sp>
      <p:sp>
        <p:nvSpPr>
          <p:cNvPr id="57" name="Text 50"/>
          <p:cNvSpPr txBox="1"/>
          <p:nvPr/>
        </p:nvSpPr>
        <p:spPr>
          <a:xfrm>
            <a:off x="548640" y="6419088"/>
            <a:ext cx="4572000" cy="228600"/>
          </a:xfrm>
          <a:prstGeom prst="rect">
            <a:avLst/>
          </a:prstGeom>
          <a:noFill/>
          <a:ln/>
        </p:spPr>
        <p:txBody>
          <a:bodyPr wrap="square" lIns="0" tIns="0" rIns="0" bIns="0" rtlCol="0" anchor="t"/>
          <a:lstStyle/>
          <a:p>
            <a:pPr algn="l" indent="0" marL="0">
              <a:lnSpc>
                <a:spcPct val="100000"/>
              </a:lnSpc>
              <a:buNone/>
            </a:pPr>
            <a:r>
              <a:rPr lang="en-US" sz="900" b="1" dirty="0">
                <a:solidFill>
                  <a:srgbClr val="8A99B3"/>
                </a:solidFill>
                <a:latin typeface="Arial" pitchFamily="34" charset="0"/>
                <a:ea typeface="Arial" pitchFamily="34" charset="-122"/>
                <a:cs typeface="Arial" pitchFamily="34" charset="-120"/>
              </a:rPr>
              <a:t>Kirana Shop AI</a:t>
            </a:r>
            <a:endParaRPr lang="en-US" sz="900" dirty="0"/>
          </a:p>
        </p:txBody>
      </p:sp>
      <p:sp>
        <p:nvSpPr>
          <p:cNvPr id="58" name="Text 51"/>
          <p:cNvSpPr txBox="1"/>
          <p:nvPr/>
        </p:nvSpPr>
        <p:spPr>
          <a:xfrm>
            <a:off x="9354312" y="6419088"/>
            <a:ext cx="2286000" cy="228600"/>
          </a:xfrm>
          <a:prstGeom prst="rect">
            <a:avLst/>
          </a:prstGeom>
          <a:noFill/>
          <a:ln/>
        </p:spPr>
        <p:txBody>
          <a:bodyPr wrap="square" lIns="0" tIns="0" rIns="0" bIns="0" rtlCol="0" anchor="t"/>
          <a:lstStyle/>
          <a:p>
            <a:pPr algn="r" indent="0" marL="0">
              <a:lnSpc>
                <a:spcPct val="100000"/>
              </a:lnSpc>
              <a:buNone/>
            </a:pPr>
            <a:r>
              <a:rPr lang="en-US" sz="900" dirty="0">
                <a:solidFill>
                  <a:srgbClr val="8A99B3"/>
                </a:solidFill>
                <a:latin typeface="Arial" pitchFamily="34" charset="0"/>
                <a:ea typeface="Arial" pitchFamily="34" charset="-122"/>
                <a:cs typeface="Arial" pitchFamily="34" charset="-120"/>
              </a:rPr>
              <a:t>02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072BC"/>
                </a:solidFill>
                <a:latin typeface="Arial" pitchFamily="34" charset="0"/>
                <a:ea typeface="Arial" pitchFamily="34" charset="-122"/>
                <a:cs typeface="Arial" pitchFamily="34" charset="-120"/>
              </a:rPr>
              <a:t>THE FRAGMENTED MERCHANT PROBLEM</a:t>
            </a:r>
            <a:endParaRPr lang="en-US" sz="1100" dirty="0"/>
          </a:p>
        </p:txBody>
      </p:sp>
      <p:sp>
        <p:nvSpPr>
          <p:cNvPr id="3" name="Text 1"/>
          <p:cNvSpPr txBox="1"/>
          <p:nvPr/>
        </p:nvSpPr>
        <p:spPr>
          <a:xfrm>
            <a:off x="548640" y="676656"/>
            <a:ext cx="11064240" cy="566928"/>
          </a:xfrm>
          <a:prstGeom prst="rect">
            <a:avLst/>
          </a:prstGeom>
          <a:noFill/>
          <a:ln/>
        </p:spPr>
        <p:txBody>
          <a:bodyPr wrap="square" lIns="0" tIns="0" rIns="0" bIns="0" rtlCol="0" anchor="t"/>
          <a:lstStyle/>
          <a:p>
            <a:pPr algn="l" indent="0" marL="0">
              <a:lnSpc>
                <a:spcPct val="100000"/>
              </a:lnSpc>
              <a:buNone/>
            </a:pPr>
            <a:r>
              <a:rPr lang="en-US" sz="3000" b="1" dirty="0">
                <a:solidFill>
                  <a:srgbClr val="0B1F44"/>
                </a:solidFill>
                <a:latin typeface="Arial" pitchFamily="34" charset="0"/>
                <a:ea typeface="Arial" pitchFamily="34" charset="-122"/>
                <a:cs typeface="Arial" pitchFamily="34" charset="-120"/>
              </a:rPr>
              <a:t>Payment is digital. Everything around it isn’t.</a:t>
            </a:r>
            <a:endParaRPr lang="en-US" sz="3000" dirty="0"/>
          </a:p>
        </p:txBody>
      </p:sp>
      <p:sp>
        <p:nvSpPr>
          <p:cNvPr id="4" name="Shape 2"/>
          <p:cNvSpPr/>
          <p:nvPr/>
        </p:nvSpPr>
        <p:spPr>
          <a:xfrm>
            <a:off x="548640" y="1600200"/>
            <a:ext cx="1709928" cy="1874520"/>
          </a:xfrm>
          <a:prstGeom prst="roundRect">
            <a:avLst>
              <a:gd name="adj" fmla="val 7487"/>
            </a:avLst>
          </a:prstGeom>
          <a:solidFill>
            <a:srgbClr val="FFFFFF"/>
          </a:solidFill>
          <a:ln w="15875">
            <a:solidFill>
              <a:srgbClr val="B7C4D8"/>
            </a:solidFill>
            <a:prstDash val="dash"/>
          </a:ln>
        </p:spPr>
      </p:sp>
      <p:pic>
        <p:nvPicPr>
          <p:cNvPr id="5" name="Image 0" descr="/private/tmp/claude-501/-Users-jaypandey-Library-Application-Support-Claude-scratch-workspaces-e205fcbe-ff17-47a0-b0da-08b9c2cd8dd1-9a575c31-2854-4c86-a69f-21eba1183528-scratch-2026-09-25-918942/ab509d62-e048-41fc-927b-5525291df5de/scratchpad/img/icons/LuUsers_5A6A85.png">    </p:cNvPr>
          <p:cNvPicPr>
            <a:picLocks noChangeAspect="1"/>
          </p:cNvPicPr>
          <p:nvPr/>
        </p:nvPicPr>
        <p:blipFill>
          <a:blip r:embed="rId1"/>
          <a:stretch>
            <a:fillRect/>
          </a:stretch>
        </p:blipFill>
        <p:spPr>
          <a:xfrm>
            <a:off x="731520" y="1783080"/>
            <a:ext cx="310896" cy="310896"/>
          </a:xfrm>
          <a:prstGeom prst="rect">
            <a:avLst/>
          </a:prstGeom>
        </p:spPr>
      </p:pic>
      <p:sp>
        <p:nvSpPr>
          <p:cNvPr id="6" name="Text 3"/>
          <p:cNvSpPr txBox="1"/>
          <p:nvPr/>
        </p:nvSpPr>
        <p:spPr>
          <a:xfrm>
            <a:off x="731520" y="2185416"/>
            <a:ext cx="1389888" cy="274320"/>
          </a:xfrm>
          <a:prstGeom prst="rect">
            <a:avLst/>
          </a:prstGeom>
          <a:noFill/>
          <a:ln/>
        </p:spPr>
        <p:txBody>
          <a:bodyPr wrap="square" lIns="0" tIns="0" rIns="0" bIns="0" rtlCol="0" anchor="t"/>
          <a:lstStyle/>
          <a:p>
            <a:pPr algn="l" indent="0" marL="0">
              <a:lnSpc>
                <a:spcPct val="100000"/>
              </a:lnSpc>
              <a:buNone/>
            </a:pPr>
            <a:r>
              <a:rPr lang="en-US" sz="1500" b="1" dirty="0">
                <a:solidFill>
                  <a:srgbClr val="0B1F44"/>
                </a:solidFill>
                <a:latin typeface="Arial" pitchFamily="34" charset="0"/>
                <a:ea typeface="Arial" pitchFamily="34" charset="-122"/>
                <a:cs typeface="Arial" pitchFamily="34" charset="-120"/>
              </a:rPr>
              <a:t>Customer</a:t>
            </a:r>
            <a:endParaRPr lang="en-US" sz="1500" dirty="0"/>
          </a:p>
        </p:txBody>
      </p:sp>
      <p:sp>
        <p:nvSpPr>
          <p:cNvPr id="7" name="Text 4"/>
          <p:cNvSpPr txBox="1"/>
          <p:nvPr/>
        </p:nvSpPr>
        <p:spPr>
          <a:xfrm>
            <a:off x="731520" y="2487168"/>
            <a:ext cx="1389888" cy="548640"/>
          </a:xfrm>
          <a:prstGeom prst="rect">
            <a:avLst/>
          </a:prstGeom>
          <a:noFill/>
          <a:ln/>
        </p:spPr>
        <p:txBody>
          <a:bodyPr wrap="square" lIns="0" tIns="0" rIns="0" bIns="0" rtlCol="0" anchor="t"/>
          <a:lstStyle/>
          <a:p>
            <a:pPr algn="l" indent="0" marL="0">
              <a:lnSpc>
                <a:spcPct val="102000"/>
              </a:lnSpc>
              <a:buNone/>
            </a:pPr>
            <a:r>
              <a:rPr lang="en-US" sz="1100" dirty="0">
                <a:solidFill>
                  <a:srgbClr val="5A6A85"/>
                </a:solidFill>
                <a:latin typeface="Arial" pitchFamily="34" charset="0"/>
                <a:ea typeface="Arial" pitchFamily="34" charset="-122"/>
                <a:cs typeface="Arial" pitchFamily="34" charset="-120"/>
              </a:rPr>
              <a:t>Walks in, calls, or sends a list</a:t>
            </a:r>
            <a:endParaRPr lang="en-US" sz="1100" dirty="0"/>
          </a:p>
        </p:txBody>
      </p:sp>
      <p:sp>
        <p:nvSpPr>
          <p:cNvPr id="8" name="Text 5"/>
          <p:cNvSpPr txBox="1"/>
          <p:nvPr/>
        </p:nvSpPr>
        <p:spPr>
          <a:xfrm>
            <a:off x="731520" y="3063240"/>
            <a:ext cx="1344168" cy="237744"/>
          </a:xfrm>
          <a:prstGeom prst="roundRect">
            <a:avLst>
              <a:gd name="adj" fmla="val 50000"/>
            </a:avLst>
          </a:prstGeom>
          <a:solidFill>
            <a:srgbClr val="ECEFF5"/>
          </a:solidFill>
          <a:ln/>
        </p:spPr>
        <p:txBody>
          <a:bodyPr wrap="square" lIns="0" tIns="0" rIns="0" bIns="0" rtlCol="0" anchor="ctr"/>
          <a:lstStyle/>
          <a:p>
            <a:pPr algn="ctr" indent="0" marL="0">
              <a:lnSpc>
                <a:spcPct val="100000"/>
              </a:lnSpc>
              <a:buNone/>
            </a:pPr>
            <a:r>
              <a:rPr lang="en-US" sz="900" b="1" spc="50" kern="0" dirty="0">
                <a:solidFill>
                  <a:srgbClr val="6B7894"/>
                </a:solidFill>
                <a:latin typeface="Arial" pitchFamily="34" charset="0"/>
                <a:ea typeface="Arial" pitchFamily="34" charset="-122"/>
                <a:cs typeface="Arial" pitchFamily="34" charset="-120"/>
              </a:rPr>
              <a:t>Informal</a:t>
            </a:r>
            <a:endParaRPr lang="en-US" sz="900" dirty="0"/>
          </a:p>
        </p:txBody>
      </p:sp>
      <p:sp>
        <p:nvSpPr>
          <p:cNvPr id="9" name="Shape 6"/>
          <p:cNvSpPr/>
          <p:nvPr/>
        </p:nvSpPr>
        <p:spPr>
          <a:xfrm>
            <a:off x="2276856" y="2537460"/>
            <a:ext cx="124358" cy="91"/>
          </a:xfrm>
          <a:prstGeom prst="line">
            <a:avLst/>
          </a:prstGeom>
          <a:noFill/>
          <a:ln w="15875">
            <a:solidFill>
              <a:srgbClr val="B7C4D8"/>
            </a:solidFill>
            <a:prstDash val="dash"/>
          </a:ln>
        </p:spPr>
      </p:sp>
      <p:sp>
        <p:nvSpPr>
          <p:cNvPr id="10" name="Shape 7"/>
          <p:cNvSpPr/>
          <p:nvPr/>
        </p:nvSpPr>
        <p:spPr>
          <a:xfrm>
            <a:off x="2419502" y="1600200"/>
            <a:ext cx="1709928" cy="1874520"/>
          </a:xfrm>
          <a:prstGeom prst="roundRect">
            <a:avLst>
              <a:gd name="adj" fmla="val 7487"/>
            </a:avLst>
          </a:prstGeom>
          <a:solidFill>
            <a:srgbClr val="FFFFFF"/>
          </a:solidFill>
          <a:ln w="15875">
            <a:solidFill>
              <a:srgbClr val="B7C4D8"/>
            </a:solidFill>
            <a:prstDash val="dash"/>
          </a:ln>
        </p:spPr>
      </p:sp>
      <p:pic>
        <p:nvPicPr>
          <p:cNvPr id="11" name="Image 1" descr="/private/tmp/claude-501/-Users-jaypandey-Library-Application-Support-Claude-scratch-workspaces-e205fcbe-ff17-47a0-b0da-08b9c2cd8dd1-9a575c31-2854-4c86-a69f-21eba1183528-scratch-2026-09-25-918942/ab509d62-e048-41fc-927b-5525291df5de/scratchpad/img/icons/LuReceiptText_5A6A85.png">    </p:cNvPr>
          <p:cNvPicPr>
            <a:picLocks noChangeAspect="1"/>
          </p:cNvPicPr>
          <p:nvPr/>
        </p:nvPicPr>
        <p:blipFill>
          <a:blip r:embed="rId2"/>
          <a:stretch>
            <a:fillRect/>
          </a:stretch>
        </p:blipFill>
        <p:spPr>
          <a:xfrm>
            <a:off x="2602382" y="1783080"/>
            <a:ext cx="310896" cy="310896"/>
          </a:xfrm>
          <a:prstGeom prst="rect">
            <a:avLst/>
          </a:prstGeom>
        </p:spPr>
      </p:pic>
      <p:sp>
        <p:nvSpPr>
          <p:cNvPr id="12" name="Text 8"/>
          <p:cNvSpPr txBox="1"/>
          <p:nvPr/>
        </p:nvSpPr>
        <p:spPr>
          <a:xfrm>
            <a:off x="2602382" y="2185416"/>
            <a:ext cx="1389888" cy="274320"/>
          </a:xfrm>
          <a:prstGeom prst="rect">
            <a:avLst/>
          </a:prstGeom>
          <a:noFill/>
          <a:ln/>
        </p:spPr>
        <p:txBody>
          <a:bodyPr wrap="square" lIns="0" tIns="0" rIns="0" bIns="0" rtlCol="0" anchor="t"/>
          <a:lstStyle/>
          <a:p>
            <a:pPr algn="l" indent="0" marL="0">
              <a:lnSpc>
                <a:spcPct val="100000"/>
              </a:lnSpc>
              <a:buNone/>
            </a:pPr>
            <a:r>
              <a:rPr lang="en-US" sz="1500" b="1" dirty="0">
                <a:solidFill>
                  <a:srgbClr val="0B1F44"/>
                </a:solidFill>
                <a:latin typeface="Arial" pitchFamily="34" charset="0"/>
                <a:ea typeface="Arial" pitchFamily="34" charset="-122"/>
                <a:cs typeface="Arial" pitchFamily="34" charset="-120"/>
              </a:rPr>
              <a:t>Bill</a:t>
            </a:r>
            <a:endParaRPr lang="en-US" sz="1500" dirty="0"/>
          </a:p>
        </p:txBody>
      </p:sp>
      <p:sp>
        <p:nvSpPr>
          <p:cNvPr id="13" name="Text 9"/>
          <p:cNvSpPr txBox="1"/>
          <p:nvPr/>
        </p:nvSpPr>
        <p:spPr>
          <a:xfrm>
            <a:off x="2602382" y="2487168"/>
            <a:ext cx="1389888" cy="548640"/>
          </a:xfrm>
          <a:prstGeom prst="rect">
            <a:avLst/>
          </a:prstGeom>
          <a:noFill/>
          <a:ln/>
        </p:spPr>
        <p:txBody>
          <a:bodyPr wrap="square" lIns="0" tIns="0" rIns="0" bIns="0" rtlCol="0" anchor="t"/>
          <a:lstStyle/>
          <a:p>
            <a:pPr algn="l" indent="0" marL="0">
              <a:lnSpc>
                <a:spcPct val="102000"/>
              </a:lnSpc>
              <a:buNone/>
            </a:pPr>
            <a:r>
              <a:rPr lang="en-US" sz="1100" dirty="0">
                <a:solidFill>
                  <a:srgbClr val="5A6A85"/>
                </a:solidFill>
                <a:latin typeface="Arial" pitchFamily="34" charset="0"/>
                <a:ea typeface="Arial" pitchFamily="34" charset="-122"/>
                <a:cs typeface="Arial" pitchFamily="34" charset="-120"/>
              </a:rPr>
              <a:t>Memory, calculator or a handwritten parchi</a:t>
            </a:r>
            <a:endParaRPr lang="en-US" sz="1100" dirty="0"/>
          </a:p>
        </p:txBody>
      </p:sp>
      <p:sp>
        <p:nvSpPr>
          <p:cNvPr id="14" name="Text 10"/>
          <p:cNvSpPr txBox="1"/>
          <p:nvPr/>
        </p:nvSpPr>
        <p:spPr>
          <a:xfrm>
            <a:off x="2602382" y="3063240"/>
            <a:ext cx="1344168" cy="237744"/>
          </a:xfrm>
          <a:prstGeom prst="roundRect">
            <a:avLst>
              <a:gd name="adj" fmla="val 50000"/>
            </a:avLst>
          </a:prstGeom>
          <a:solidFill>
            <a:srgbClr val="ECEFF5"/>
          </a:solidFill>
          <a:ln/>
        </p:spPr>
        <p:txBody>
          <a:bodyPr wrap="square" lIns="0" tIns="0" rIns="0" bIns="0" rtlCol="0" anchor="ctr"/>
          <a:lstStyle/>
          <a:p>
            <a:pPr algn="ctr" indent="0" marL="0">
              <a:lnSpc>
                <a:spcPct val="100000"/>
              </a:lnSpc>
              <a:buNone/>
            </a:pPr>
            <a:r>
              <a:rPr lang="en-US" sz="900" b="1" spc="50" kern="0" dirty="0">
                <a:solidFill>
                  <a:srgbClr val="6B7894"/>
                </a:solidFill>
                <a:latin typeface="Arial" pitchFamily="34" charset="0"/>
                <a:ea typeface="Arial" pitchFamily="34" charset="-122"/>
                <a:cs typeface="Arial" pitchFamily="34" charset="-120"/>
              </a:rPr>
              <a:t>Manual</a:t>
            </a:r>
            <a:endParaRPr lang="en-US" sz="900" dirty="0"/>
          </a:p>
        </p:txBody>
      </p:sp>
      <p:sp>
        <p:nvSpPr>
          <p:cNvPr id="15" name="Shape 11"/>
          <p:cNvSpPr/>
          <p:nvPr/>
        </p:nvSpPr>
        <p:spPr>
          <a:xfrm>
            <a:off x="4147718" y="2537460"/>
            <a:ext cx="124358" cy="91"/>
          </a:xfrm>
          <a:prstGeom prst="line">
            <a:avLst/>
          </a:prstGeom>
          <a:noFill/>
          <a:ln w="15875">
            <a:solidFill>
              <a:srgbClr val="B7C4D8"/>
            </a:solidFill>
            <a:prstDash val="dash"/>
          </a:ln>
        </p:spPr>
      </p:sp>
      <p:sp>
        <p:nvSpPr>
          <p:cNvPr id="16" name="Shape 12"/>
          <p:cNvSpPr/>
          <p:nvPr/>
        </p:nvSpPr>
        <p:spPr>
          <a:xfrm>
            <a:off x="4290365" y="1600200"/>
            <a:ext cx="1709928" cy="1874520"/>
          </a:xfrm>
          <a:prstGeom prst="roundRect">
            <a:avLst>
              <a:gd name="adj" fmla="val 7487"/>
            </a:avLst>
          </a:prstGeom>
          <a:solidFill>
            <a:srgbClr val="0072BC"/>
          </a:solidFill>
          <a:ln/>
          <a:effectLst>
            <a:outerShdw sx="100000" sy="100000" kx="0" ky="0" algn="bl" rotWithShape="0" blurRad="114300" dist="25400" dir="5400000">
              <a:srgbClr val="0B1F44">
                <a:alpha val="13000"/>
              </a:srgbClr>
            </a:outerShdw>
          </a:effectLst>
        </p:spPr>
      </p:sp>
      <p:pic>
        <p:nvPicPr>
          <p:cNvPr id="17" name="Image 2" descr="/private/tmp/claude-501/-Users-jaypandey-Library-Application-Support-Claude-scratch-workspaces-e205fcbe-ff17-47a0-b0da-08b9c2cd8dd1-9a575c31-2854-4c86-a69f-21eba1183528-scratch-2026-09-25-918942/ab509d62-e048-41fc-927b-5525291df5de/scratchpad/img/icons/LuQrCode_FFFFFF.png">    </p:cNvPr>
          <p:cNvPicPr>
            <a:picLocks noChangeAspect="1"/>
          </p:cNvPicPr>
          <p:nvPr/>
        </p:nvPicPr>
        <p:blipFill>
          <a:blip r:embed="rId3"/>
          <a:stretch>
            <a:fillRect/>
          </a:stretch>
        </p:blipFill>
        <p:spPr>
          <a:xfrm>
            <a:off x="4473245" y="1783080"/>
            <a:ext cx="310896" cy="310896"/>
          </a:xfrm>
          <a:prstGeom prst="rect">
            <a:avLst/>
          </a:prstGeom>
        </p:spPr>
      </p:pic>
      <p:sp>
        <p:nvSpPr>
          <p:cNvPr id="18" name="Text 13"/>
          <p:cNvSpPr txBox="1"/>
          <p:nvPr/>
        </p:nvSpPr>
        <p:spPr>
          <a:xfrm>
            <a:off x="4473245" y="2185416"/>
            <a:ext cx="1389888" cy="274320"/>
          </a:xfrm>
          <a:prstGeom prst="rect">
            <a:avLst/>
          </a:prstGeom>
          <a:noFill/>
          <a:ln/>
        </p:spPr>
        <p:txBody>
          <a:bodyPr wrap="square" lIns="0" tIns="0" rIns="0" bIns="0" rtlCol="0" anchor="t"/>
          <a:lstStyle/>
          <a:p>
            <a:pPr algn="l" indent="0" marL="0">
              <a:lnSpc>
                <a:spcPct val="100000"/>
              </a:lnSpc>
              <a:buNone/>
            </a:pPr>
            <a:r>
              <a:rPr lang="en-US" sz="1500" b="1" dirty="0">
                <a:solidFill>
                  <a:srgbClr val="FFFFFF"/>
                </a:solidFill>
                <a:latin typeface="Arial" pitchFamily="34" charset="0"/>
                <a:ea typeface="Arial" pitchFamily="34" charset="-122"/>
                <a:cs typeface="Arial" pitchFamily="34" charset="-120"/>
              </a:rPr>
              <a:t>Payment</a:t>
            </a:r>
            <a:endParaRPr lang="en-US" sz="1500" dirty="0"/>
          </a:p>
        </p:txBody>
      </p:sp>
      <p:sp>
        <p:nvSpPr>
          <p:cNvPr id="19" name="Text 14"/>
          <p:cNvSpPr txBox="1"/>
          <p:nvPr/>
        </p:nvSpPr>
        <p:spPr>
          <a:xfrm>
            <a:off x="4473245" y="2487168"/>
            <a:ext cx="1389888" cy="548640"/>
          </a:xfrm>
          <a:prstGeom prst="rect">
            <a:avLst/>
          </a:prstGeom>
          <a:noFill/>
          <a:ln/>
        </p:spPr>
        <p:txBody>
          <a:bodyPr wrap="square" lIns="0" tIns="0" rIns="0" bIns="0" rtlCol="0" anchor="t"/>
          <a:lstStyle/>
          <a:p>
            <a:pPr algn="l" indent="0" marL="0">
              <a:lnSpc>
                <a:spcPct val="102000"/>
              </a:lnSpc>
              <a:buNone/>
            </a:pPr>
            <a:r>
              <a:rPr lang="en-US" sz="1100" dirty="0">
                <a:solidFill>
                  <a:srgbClr val="E6F4FC"/>
                </a:solidFill>
                <a:latin typeface="Arial" pitchFamily="34" charset="0"/>
                <a:ea typeface="Arial" pitchFamily="34" charset="-122"/>
                <a:cs typeface="Arial" pitchFamily="34" charset="-120"/>
              </a:rPr>
              <a:t>QR / UPI with instant confirmation</a:t>
            </a:r>
            <a:endParaRPr lang="en-US" sz="1100" dirty="0"/>
          </a:p>
        </p:txBody>
      </p:sp>
      <p:sp>
        <p:nvSpPr>
          <p:cNvPr id="20" name="Text 15"/>
          <p:cNvSpPr txBox="1"/>
          <p:nvPr/>
        </p:nvSpPr>
        <p:spPr>
          <a:xfrm>
            <a:off x="4473245" y="3063240"/>
            <a:ext cx="1344168" cy="237744"/>
          </a:xfrm>
          <a:prstGeom prst="roundRect">
            <a:avLst>
              <a:gd name="adj" fmla="val 50000"/>
            </a:avLst>
          </a:prstGeom>
          <a:solidFill>
            <a:srgbClr val="FFFFFF"/>
          </a:solidFill>
          <a:ln/>
        </p:spPr>
        <p:txBody>
          <a:bodyPr wrap="square" lIns="0" tIns="0" rIns="0" bIns="0" rtlCol="0" anchor="ctr"/>
          <a:lstStyle/>
          <a:p>
            <a:pPr algn="ctr" indent="0" marL="0">
              <a:lnSpc>
                <a:spcPct val="100000"/>
              </a:lnSpc>
              <a:buNone/>
            </a:pPr>
            <a:r>
              <a:rPr lang="en-US" sz="900" b="1" spc="50" kern="0" dirty="0">
                <a:solidFill>
                  <a:srgbClr val="0072BC"/>
                </a:solidFill>
                <a:latin typeface="Arial" pitchFamily="34" charset="0"/>
                <a:ea typeface="Arial" pitchFamily="34" charset="-122"/>
                <a:cs typeface="Arial" pitchFamily="34" charset="-120"/>
              </a:rPr>
              <a:t>✓ Digital</a:t>
            </a:r>
            <a:endParaRPr lang="en-US" sz="900" dirty="0"/>
          </a:p>
        </p:txBody>
      </p:sp>
      <p:sp>
        <p:nvSpPr>
          <p:cNvPr id="21" name="Shape 16"/>
          <p:cNvSpPr/>
          <p:nvPr/>
        </p:nvSpPr>
        <p:spPr>
          <a:xfrm>
            <a:off x="6018581" y="2537460"/>
            <a:ext cx="124358" cy="91"/>
          </a:xfrm>
          <a:prstGeom prst="line">
            <a:avLst/>
          </a:prstGeom>
          <a:noFill/>
          <a:ln w="15875">
            <a:solidFill>
              <a:srgbClr val="B7C4D8"/>
            </a:solidFill>
            <a:prstDash val="dash"/>
          </a:ln>
        </p:spPr>
      </p:sp>
      <p:sp>
        <p:nvSpPr>
          <p:cNvPr id="22" name="Shape 17"/>
          <p:cNvSpPr/>
          <p:nvPr/>
        </p:nvSpPr>
        <p:spPr>
          <a:xfrm>
            <a:off x="6161227" y="1600200"/>
            <a:ext cx="1709928" cy="1874520"/>
          </a:xfrm>
          <a:prstGeom prst="roundRect">
            <a:avLst>
              <a:gd name="adj" fmla="val 7487"/>
            </a:avLst>
          </a:prstGeom>
          <a:solidFill>
            <a:srgbClr val="FFFFFF"/>
          </a:solidFill>
          <a:ln w="15875">
            <a:solidFill>
              <a:srgbClr val="B7C4D8"/>
            </a:solidFill>
            <a:prstDash val="dash"/>
          </a:ln>
        </p:spPr>
      </p:sp>
      <p:pic>
        <p:nvPicPr>
          <p:cNvPr id="23" name="Image 3" descr="/private/tmp/claude-501/-Users-jaypandey-Library-Application-Support-Claude-scratch-workspaces-e205fcbe-ff17-47a0-b0da-08b9c2cd8dd1-9a575c31-2854-4c86-a69f-21eba1183528-scratch-2026-09-25-918942/ab509d62-e048-41fc-927b-5525291df5de/scratchpad/img/icons/LuPackage_5A6A85.png">    </p:cNvPr>
          <p:cNvPicPr>
            <a:picLocks noChangeAspect="1"/>
          </p:cNvPicPr>
          <p:nvPr/>
        </p:nvPicPr>
        <p:blipFill>
          <a:blip r:embed="rId4"/>
          <a:stretch>
            <a:fillRect/>
          </a:stretch>
        </p:blipFill>
        <p:spPr>
          <a:xfrm>
            <a:off x="6344107" y="1783080"/>
            <a:ext cx="310896" cy="310896"/>
          </a:xfrm>
          <a:prstGeom prst="rect">
            <a:avLst/>
          </a:prstGeom>
        </p:spPr>
      </p:pic>
      <p:sp>
        <p:nvSpPr>
          <p:cNvPr id="24" name="Text 18"/>
          <p:cNvSpPr txBox="1"/>
          <p:nvPr/>
        </p:nvSpPr>
        <p:spPr>
          <a:xfrm>
            <a:off x="6344107" y="2185416"/>
            <a:ext cx="1389888" cy="274320"/>
          </a:xfrm>
          <a:prstGeom prst="rect">
            <a:avLst/>
          </a:prstGeom>
          <a:noFill/>
          <a:ln/>
        </p:spPr>
        <p:txBody>
          <a:bodyPr wrap="square" lIns="0" tIns="0" rIns="0" bIns="0" rtlCol="0" anchor="t"/>
          <a:lstStyle/>
          <a:p>
            <a:pPr algn="l" indent="0" marL="0">
              <a:lnSpc>
                <a:spcPct val="100000"/>
              </a:lnSpc>
              <a:buNone/>
            </a:pPr>
            <a:r>
              <a:rPr lang="en-US" sz="1500" b="1" dirty="0">
                <a:solidFill>
                  <a:srgbClr val="0B1F44"/>
                </a:solidFill>
                <a:latin typeface="Arial" pitchFamily="34" charset="0"/>
                <a:ea typeface="Arial" pitchFamily="34" charset="-122"/>
                <a:cs typeface="Arial" pitchFamily="34" charset="-120"/>
              </a:rPr>
              <a:t>Stock</a:t>
            </a:r>
            <a:endParaRPr lang="en-US" sz="1500" dirty="0"/>
          </a:p>
        </p:txBody>
      </p:sp>
      <p:sp>
        <p:nvSpPr>
          <p:cNvPr id="25" name="Text 19"/>
          <p:cNvSpPr txBox="1"/>
          <p:nvPr/>
        </p:nvSpPr>
        <p:spPr>
          <a:xfrm>
            <a:off x="6344107" y="2487168"/>
            <a:ext cx="1389888" cy="548640"/>
          </a:xfrm>
          <a:prstGeom prst="rect">
            <a:avLst/>
          </a:prstGeom>
          <a:noFill/>
          <a:ln/>
        </p:spPr>
        <p:txBody>
          <a:bodyPr wrap="square" lIns="0" tIns="0" rIns="0" bIns="0" rtlCol="0" anchor="t"/>
          <a:lstStyle/>
          <a:p>
            <a:pPr algn="l" indent="0" marL="0">
              <a:lnSpc>
                <a:spcPct val="102000"/>
              </a:lnSpc>
              <a:buNone/>
            </a:pPr>
            <a:r>
              <a:rPr lang="en-US" sz="1100" dirty="0">
                <a:solidFill>
                  <a:srgbClr val="5A6A85"/>
                </a:solidFill>
                <a:latin typeface="Arial" pitchFamily="34" charset="0"/>
                <a:ea typeface="Arial" pitchFamily="34" charset="-122"/>
                <a:cs typeface="Arial" pitchFamily="34" charset="-120"/>
              </a:rPr>
              <a:t>Guessed from gaps on the shelf</a:t>
            </a:r>
            <a:endParaRPr lang="en-US" sz="1100" dirty="0"/>
          </a:p>
        </p:txBody>
      </p:sp>
      <p:sp>
        <p:nvSpPr>
          <p:cNvPr id="26" name="Text 20"/>
          <p:cNvSpPr txBox="1"/>
          <p:nvPr/>
        </p:nvSpPr>
        <p:spPr>
          <a:xfrm>
            <a:off x="6344107" y="3063240"/>
            <a:ext cx="1344168" cy="237744"/>
          </a:xfrm>
          <a:prstGeom prst="roundRect">
            <a:avLst>
              <a:gd name="adj" fmla="val 50000"/>
            </a:avLst>
          </a:prstGeom>
          <a:solidFill>
            <a:srgbClr val="ECEFF5"/>
          </a:solidFill>
          <a:ln/>
        </p:spPr>
        <p:txBody>
          <a:bodyPr wrap="square" lIns="0" tIns="0" rIns="0" bIns="0" rtlCol="0" anchor="ctr"/>
          <a:lstStyle/>
          <a:p>
            <a:pPr algn="ctr" indent="0" marL="0">
              <a:lnSpc>
                <a:spcPct val="100000"/>
              </a:lnSpc>
              <a:buNone/>
            </a:pPr>
            <a:r>
              <a:rPr lang="en-US" sz="900" b="1" spc="50" kern="0" dirty="0">
                <a:solidFill>
                  <a:srgbClr val="6B7894"/>
                </a:solidFill>
                <a:latin typeface="Arial" pitchFamily="34" charset="0"/>
                <a:ea typeface="Arial" pitchFamily="34" charset="-122"/>
                <a:cs typeface="Arial" pitchFamily="34" charset="-120"/>
              </a:rPr>
              <a:t>Not updated</a:t>
            </a:r>
            <a:endParaRPr lang="en-US" sz="900" dirty="0"/>
          </a:p>
        </p:txBody>
      </p:sp>
      <p:sp>
        <p:nvSpPr>
          <p:cNvPr id="27" name="Shape 21"/>
          <p:cNvSpPr/>
          <p:nvPr/>
        </p:nvSpPr>
        <p:spPr>
          <a:xfrm>
            <a:off x="7889443" y="2537460"/>
            <a:ext cx="124358" cy="91"/>
          </a:xfrm>
          <a:prstGeom prst="line">
            <a:avLst/>
          </a:prstGeom>
          <a:noFill/>
          <a:ln w="15875">
            <a:solidFill>
              <a:srgbClr val="B7C4D8"/>
            </a:solidFill>
            <a:prstDash val="dash"/>
          </a:ln>
        </p:spPr>
      </p:sp>
      <p:sp>
        <p:nvSpPr>
          <p:cNvPr id="28" name="Shape 22"/>
          <p:cNvSpPr/>
          <p:nvPr/>
        </p:nvSpPr>
        <p:spPr>
          <a:xfrm>
            <a:off x="8032090" y="1600200"/>
            <a:ext cx="1709928" cy="1874520"/>
          </a:xfrm>
          <a:prstGeom prst="roundRect">
            <a:avLst>
              <a:gd name="adj" fmla="val 7487"/>
            </a:avLst>
          </a:prstGeom>
          <a:solidFill>
            <a:srgbClr val="FFFFFF"/>
          </a:solidFill>
          <a:ln w="15875">
            <a:solidFill>
              <a:srgbClr val="B7C4D8"/>
            </a:solidFill>
            <a:prstDash val="dash"/>
          </a:ln>
        </p:spPr>
      </p:sp>
      <p:pic>
        <p:nvPicPr>
          <p:cNvPr id="29" name="Image 4" descr="/private/tmp/claude-501/-Users-jaypandey-Library-Application-Support-Claude-scratch-workspaces-e205fcbe-ff17-47a0-b0da-08b9c2cd8dd1-9a575c31-2854-4c86-a69f-21eba1183528-scratch-2026-09-25-918942/ab509d62-e048-41fc-927b-5525291df5de/scratchpad/img/icons/LuNotebookPen_5A6A85.png">    </p:cNvPr>
          <p:cNvPicPr>
            <a:picLocks noChangeAspect="1"/>
          </p:cNvPicPr>
          <p:nvPr/>
        </p:nvPicPr>
        <p:blipFill>
          <a:blip r:embed="rId5"/>
          <a:stretch>
            <a:fillRect/>
          </a:stretch>
        </p:blipFill>
        <p:spPr>
          <a:xfrm>
            <a:off x="8214970" y="1783080"/>
            <a:ext cx="310896" cy="310896"/>
          </a:xfrm>
          <a:prstGeom prst="rect">
            <a:avLst/>
          </a:prstGeom>
        </p:spPr>
      </p:pic>
      <p:sp>
        <p:nvSpPr>
          <p:cNvPr id="30" name="Text 23"/>
          <p:cNvSpPr txBox="1"/>
          <p:nvPr/>
        </p:nvSpPr>
        <p:spPr>
          <a:xfrm>
            <a:off x="8214970" y="2185416"/>
            <a:ext cx="1389888" cy="274320"/>
          </a:xfrm>
          <a:prstGeom prst="rect">
            <a:avLst/>
          </a:prstGeom>
          <a:noFill/>
          <a:ln/>
        </p:spPr>
        <p:txBody>
          <a:bodyPr wrap="square" lIns="0" tIns="0" rIns="0" bIns="0" rtlCol="0" anchor="t"/>
          <a:lstStyle/>
          <a:p>
            <a:pPr algn="l" indent="0" marL="0">
              <a:lnSpc>
                <a:spcPct val="100000"/>
              </a:lnSpc>
              <a:buNone/>
            </a:pPr>
            <a:r>
              <a:rPr lang="en-US" sz="1500" b="1" dirty="0">
                <a:solidFill>
                  <a:srgbClr val="0B1F44"/>
                </a:solidFill>
                <a:latin typeface="Arial" pitchFamily="34" charset="0"/>
                <a:ea typeface="Arial" pitchFamily="34" charset="-122"/>
                <a:cs typeface="Arial" pitchFamily="34" charset="-120"/>
              </a:rPr>
              <a:t>Udhaar</a:t>
            </a:r>
            <a:endParaRPr lang="en-US" sz="1500" dirty="0"/>
          </a:p>
        </p:txBody>
      </p:sp>
      <p:sp>
        <p:nvSpPr>
          <p:cNvPr id="31" name="Text 24"/>
          <p:cNvSpPr txBox="1"/>
          <p:nvPr/>
        </p:nvSpPr>
        <p:spPr>
          <a:xfrm>
            <a:off x="8214970" y="2487168"/>
            <a:ext cx="1389888" cy="548640"/>
          </a:xfrm>
          <a:prstGeom prst="rect">
            <a:avLst/>
          </a:prstGeom>
          <a:noFill/>
          <a:ln/>
        </p:spPr>
        <p:txBody>
          <a:bodyPr wrap="square" lIns="0" tIns="0" rIns="0" bIns="0" rtlCol="0" anchor="t"/>
          <a:lstStyle/>
          <a:p>
            <a:pPr algn="l" indent="0" marL="0">
              <a:lnSpc>
                <a:spcPct val="102000"/>
              </a:lnSpc>
              <a:buNone/>
            </a:pPr>
            <a:r>
              <a:rPr lang="en-US" sz="1100" dirty="0">
                <a:solidFill>
                  <a:srgbClr val="5A6A85"/>
                </a:solidFill>
                <a:latin typeface="Arial" pitchFamily="34" charset="0"/>
                <a:ea typeface="Arial" pitchFamily="34" charset="-122"/>
                <a:cs typeface="Arial" pitchFamily="34" charset="-120"/>
              </a:rPr>
              <a:t>Written in a separate notebook</a:t>
            </a:r>
            <a:endParaRPr lang="en-US" sz="1100" dirty="0"/>
          </a:p>
        </p:txBody>
      </p:sp>
      <p:sp>
        <p:nvSpPr>
          <p:cNvPr id="32" name="Text 25"/>
          <p:cNvSpPr txBox="1"/>
          <p:nvPr/>
        </p:nvSpPr>
        <p:spPr>
          <a:xfrm>
            <a:off x="8214970" y="3063240"/>
            <a:ext cx="1344168" cy="237744"/>
          </a:xfrm>
          <a:prstGeom prst="roundRect">
            <a:avLst>
              <a:gd name="adj" fmla="val 50000"/>
            </a:avLst>
          </a:prstGeom>
          <a:solidFill>
            <a:srgbClr val="ECEFF5"/>
          </a:solidFill>
          <a:ln/>
        </p:spPr>
        <p:txBody>
          <a:bodyPr wrap="square" lIns="0" tIns="0" rIns="0" bIns="0" rtlCol="0" anchor="ctr"/>
          <a:lstStyle/>
          <a:p>
            <a:pPr algn="ctr" indent="0" marL="0">
              <a:lnSpc>
                <a:spcPct val="100000"/>
              </a:lnSpc>
              <a:buNone/>
            </a:pPr>
            <a:r>
              <a:rPr lang="en-US" sz="900" b="1" spc="50" kern="0" dirty="0">
                <a:solidFill>
                  <a:srgbClr val="6B7894"/>
                </a:solidFill>
                <a:latin typeface="Arial" pitchFamily="34" charset="0"/>
                <a:ea typeface="Arial" pitchFamily="34" charset="-122"/>
                <a:cs typeface="Arial" pitchFamily="34" charset="-120"/>
              </a:rPr>
              <a:t>Disconnected</a:t>
            </a:r>
            <a:endParaRPr lang="en-US" sz="900" dirty="0"/>
          </a:p>
        </p:txBody>
      </p:sp>
      <p:sp>
        <p:nvSpPr>
          <p:cNvPr id="33" name="Shape 26"/>
          <p:cNvSpPr/>
          <p:nvPr/>
        </p:nvSpPr>
        <p:spPr>
          <a:xfrm>
            <a:off x="9760306" y="2537460"/>
            <a:ext cx="124358" cy="91"/>
          </a:xfrm>
          <a:prstGeom prst="line">
            <a:avLst/>
          </a:prstGeom>
          <a:noFill/>
          <a:ln w="15875">
            <a:solidFill>
              <a:srgbClr val="B7C4D8"/>
            </a:solidFill>
            <a:prstDash val="dash"/>
          </a:ln>
        </p:spPr>
      </p:sp>
      <p:sp>
        <p:nvSpPr>
          <p:cNvPr id="34" name="Shape 27"/>
          <p:cNvSpPr/>
          <p:nvPr/>
        </p:nvSpPr>
        <p:spPr>
          <a:xfrm>
            <a:off x="9902952" y="1600200"/>
            <a:ext cx="1709928" cy="1874520"/>
          </a:xfrm>
          <a:prstGeom prst="roundRect">
            <a:avLst>
              <a:gd name="adj" fmla="val 7487"/>
            </a:avLst>
          </a:prstGeom>
          <a:solidFill>
            <a:srgbClr val="FFFFFF"/>
          </a:solidFill>
          <a:ln w="15875">
            <a:solidFill>
              <a:srgbClr val="B7C4D8"/>
            </a:solidFill>
            <a:prstDash val="dash"/>
          </a:ln>
        </p:spPr>
      </p:sp>
      <p:pic>
        <p:nvPicPr>
          <p:cNvPr id="35" name="Image 5" descr="/private/tmp/claude-501/-Users-jaypandey-Library-Application-Support-Claude-scratch-workspaces-e205fcbe-ff17-47a0-b0da-08b9c2cd8dd1-9a575c31-2854-4c86-a69f-21eba1183528-scratch-2026-09-25-918942/ab509d62-e048-41fc-927b-5525291df5de/scratchpad/img/icons/LuLightbulb_5A6A85.png">    </p:cNvPr>
          <p:cNvPicPr>
            <a:picLocks noChangeAspect="1"/>
          </p:cNvPicPr>
          <p:nvPr/>
        </p:nvPicPr>
        <p:blipFill>
          <a:blip r:embed="rId6"/>
          <a:stretch>
            <a:fillRect/>
          </a:stretch>
        </p:blipFill>
        <p:spPr>
          <a:xfrm>
            <a:off x="10085832" y="1783080"/>
            <a:ext cx="310896" cy="310896"/>
          </a:xfrm>
          <a:prstGeom prst="rect">
            <a:avLst/>
          </a:prstGeom>
        </p:spPr>
      </p:pic>
      <p:sp>
        <p:nvSpPr>
          <p:cNvPr id="36" name="Text 28"/>
          <p:cNvSpPr txBox="1"/>
          <p:nvPr/>
        </p:nvSpPr>
        <p:spPr>
          <a:xfrm>
            <a:off x="10085832" y="2185416"/>
            <a:ext cx="1389888" cy="274320"/>
          </a:xfrm>
          <a:prstGeom prst="rect">
            <a:avLst/>
          </a:prstGeom>
          <a:noFill/>
          <a:ln/>
        </p:spPr>
        <p:txBody>
          <a:bodyPr wrap="square" lIns="0" tIns="0" rIns="0" bIns="0" rtlCol="0" anchor="t"/>
          <a:lstStyle/>
          <a:p>
            <a:pPr algn="l" indent="0" marL="0">
              <a:lnSpc>
                <a:spcPct val="100000"/>
              </a:lnSpc>
              <a:buNone/>
            </a:pPr>
            <a:r>
              <a:rPr lang="en-US" sz="1500" b="1" dirty="0">
                <a:solidFill>
                  <a:srgbClr val="0B1F44"/>
                </a:solidFill>
                <a:latin typeface="Arial" pitchFamily="34" charset="0"/>
                <a:ea typeface="Arial" pitchFamily="34" charset="-122"/>
                <a:cs typeface="Arial" pitchFamily="34" charset="-120"/>
              </a:rPr>
              <a:t>Decisions</a:t>
            </a:r>
            <a:endParaRPr lang="en-US" sz="1500" dirty="0"/>
          </a:p>
        </p:txBody>
      </p:sp>
      <p:sp>
        <p:nvSpPr>
          <p:cNvPr id="37" name="Text 29"/>
          <p:cNvSpPr txBox="1"/>
          <p:nvPr/>
        </p:nvSpPr>
        <p:spPr>
          <a:xfrm>
            <a:off x="10085832" y="2487168"/>
            <a:ext cx="1389888" cy="548640"/>
          </a:xfrm>
          <a:prstGeom prst="rect">
            <a:avLst/>
          </a:prstGeom>
          <a:noFill/>
          <a:ln/>
        </p:spPr>
        <p:txBody>
          <a:bodyPr wrap="square" lIns="0" tIns="0" rIns="0" bIns="0" rtlCol="0" anchor="t"/>
          <a:lstStyle/>
          <a:p>
            <a:pPr algn="l" indent="0" marL="0">
              <a:lnSpc>
                <a:spcPct val="102000"/>
              </a:lnSpc>
              <a:buNone/>
            </a:pPr>
            <a:r>
              <a:rPr lang="en-US" sz="1100" dirty="0">
                <a:solidFill>
                  <a:srgbClr val="5A6A85"/>
                </a:solidFill>
                <a:latin typeface="Arial" pitchFamily="34" charset="0"/>
                <a:ea typeface="Arial" pitchFamily="34" charset="-122"/>
                <a:cs typeface="Arial" pitchFamily="34" charset="-120"/>
              </a:rPr>
              <a:t>Gut feel, at the end of a long day</a:t>
            </a:r>
            <a:endParaRPr lang="en-US" sz="1100" dirty="0"/>
          </a:p>
        </p:txBody>
      </p:sp>
      <p:sp>
        <p:nvSpPr>
          <p:cNvPr id="38" name="Text 30"/>
          <p:cNvSpPr txBox="1"/>
          <p:nvPr/>
        </p:nvSpPr>
        <p:spPr>
          <a:xfrm>
            <a:off x="10085832" y="3063240"/>
            <a:ext cx="1344168" cy="237744"/>
          </a:xfrm>
          <a:prstGeom prst="roundRect">
            <a:avLst>
              <a:gd name="adj" fmla="val 50000"/>
            </a:avLst>
          </a:prstGeom>
          <a:solidFill>
            <a:srgbClr val="ECEFF5"/>
          </a:solidFill>
          <a:ln/>
        </p:spPr>
        <p:txBody>
          <a:bodyPr wrap="square" lIns="0" tIns="0" rIns="0" bIns="0" rtlCol="0" anchor="ctr"/>
          <a:lstStyle/>
          <a:p>
            <a:pPr algn="ctr" indent="0" marL="0">
              <a:lnSpc>
                <a:spcPct val="100000"/>
              </a:lnSpc>
              <a:buNone/>
            </a:pPr>
            <a:r>
              <a:rPr lang="en-US" sz="900" b="1" spc="50" kern="0" dirty="0">
                <a:solidFill>
                  <a:srgbClr val="6B7894"/>
                </a:solidFill>
                <a:latin typeface="Arial" pitchFamily="34" charset="0"/>
                <a:ea typeface="Arial" pitchFamily="34" charset="-122"/>
                <a:cs typeface="Arial" pitchFamily="34" charset="-120"/>
              </a:rPr>
              <a:t>No insight</a:t>
            </a:r>
            <a:endParaRPr lang="en-US" sz="900" dirty="0"/>
          </a:p>
        </p:txBody>
      </p:sp>
      <p:sp>
        <p:nvSpPr>
          <p:cNvPr id="39" name="Text 31"/>
          <p:cNvSpPr txBox="1"/>
          <p:nvPr/>
        </p:nvSpPr>
        <p:spPr>
          <a:xfrm>
            <a:off x="548640" y="3657600"/>
            <a:ext cx="11064240" cy="274320"/>
          </a:xfrm>
          <a:prstGeom prst="rect">
            <a:avLst/>
          </a:prstGeom>
          <a:noFill/>
          <a:ln/>
        </p:spPr>
        <p:txBody>
          <a:bodyPr wrap="square" lIns="0" tIns="0" rIns="0" bIns="0" rtlCol="0" anchor="t"/>
          <a:lstStyle/>
          <a:p>
            <a:pPr algn="l" indent="0" marL="0">
              <a:lnSpc>
                <a:spcPct val="100000"/>
              </a:lnSpc>
              <a:buNone/>
            </a:pPr>
            <a:r>
              <a:rPr lang="en-US" sz="1200" i="1" dirty="0">
                <a:solidFill>
                  <a:srgbClr val="5A6A85"/>
                </a:solidFill>
                <a:latin typeface="Arial" pitchFamily="34" charset="0"/>
                <a:ea typeface="Arial" pitchFamily="34" charset="-122"/>
                <a:cs typeface="Arial" pitchFamily="34" charset="-120"/>
              </a:rPr>
              <a:t>Only one step in the day is connected. The other five live in heads, slips and notebooks.</a:t>
            </a:r>
            <a:endParaRPr lang="en-US" sz="1200" dirty="0"/>
          </a:p>
        </p:txBody>
      </p:sp>
      <p:sp>
        <p:nvSpPr>
          <p:cNvPr id="40" name="Shape 32"/>
          <p:cNvSpPr/>
          <p:nvPr/>
        </p:nvSpPr>
        <p:spPr>
          <a:xfrm>
            <a:off x="548640" y="4160520"/>
            <a:ext cx="5532120" cy="1920240"/>
          </a:xfrm>
          <a:prstGeom prst="roundRect">
            <a:avLst>
              <a:gd name="adj" fmla="val 7619"/>
            </a:avLst>
          </a:prstGeom>
          <a:solidFill>
            <a:srgbClr val="0B1F44"/>
          </a:solidFill>
          <a:ln/>
        </p:spPr>
      </p:sp>
      <p:pic>
        <p:nvPicPr>
          <p:cNvPr id="41" name="Image 6" descr="/private/tmp/claude-501/-Users-jaypandey-Library-Application-Support-Claude-scratch-workspaces-e205fcbe-ff17-47a0-b0da-08b9c2cd8dd1-9a575c31-2854-4c86-a69f-21eba1183528-scratch-2026-09-25-918942/ab509d62-e048-41fc-927b-5525291df5de/scratchpad/img/icons/LuQuote_00A7E1.png">    </p:cNvPr>
          <p:cNvPicPr>
            <a:picLocks noChangeAspect="1"/>
          </p:cNvPicPr>
          <p:nvPr/>
        </p:nvPicPr>
        <p:blipFill>
          <a:blip r:embed="rId7"/>
          <a:stretch>
            <a:fillRect/>
          </a:stretch>
        </p:blipFill>
        <p:spPr>
          <a:xfrm>
            <a:off x="822960" y="4389120"/>
            <a:ext cx="329184" cy="329184"/>
          </a:xfrm>
          <a:prstGeom prst="rect">
            <a:avLst/>
          </a:prstGeom>
        </p:spPr>
      </p:pic>
      <p:sp>
        <p:nvSpPr>
          <p:cNvPr id="42" name="Text 33"/>
          <p:cNvSpPr txBox="1"/>
          <p:nvPr/>
        </p:nvSpPr>
        <p:spPr>
          <a:xfrm>
            <a:off x="822960" y="4800600"/>
            <a:ext cx="5029200" cy="1097280"/>
          </a:xfrm>
          <a:prstGeom prst="rect">
            <a:avLst/>
          </a:prstGeom>
          <a:noFill/>
          <a:ln/>
        </p:spPr>
        <p:txBody>
          <a:bodyPr wrap="square" lIns="0" tIns="0" rIns="0" bIns="0" rtlCol="0" anchor="t"/>
          <a:lstStyle/>
          <a:p>
            <a:pPr algn="l" indent="0" marL="0">
              <a:lnSpc>
                <a:spcPct val="108000"/>
              </a:lnSpc>
              <a:buNone/>
            </a:pPr>
            <a:r>
              <a:rPr lang="en-US" sz="1800" b="1" dirty="0">
                <a:solidFill>
                  <a:srgbClr val="FFFFFF"/>
                </a:solidFill>
                <a:latin typeface="Arial" pitchFamily="34" charset="0"/>
                <a:ea typeface="Arial" pitchFamily="34" charset="-122"/>
                <a:cs typeface="Arial" pitchFamily="34" charset="-120"/>
              </a:rPr>
              <a:t>The QR says money came in. It can’t say what sold, what to reorder, or who still owes the shop money.</a:t>
            </a:r>
            <a:endParaRPr lang="en-US" sz="1800" dirty="0"/>
          </a:p>
        </p:txBody>
      </p:sp>
      <p:sp>
        <p:nvSpPr>
          <p:cNvPr id="43" name="Shape 34"/>
          <p:cNvSpPr/>
          <p:nvPr/>
        </p:nvSpPr>
        <p:spPr>
          <a:xfrm>
            <a:off x="6355080" y="4160520"/>
            <a:ext cx="1655064" cy="1481328"/>
          </a:xfrm>
          <a:prstGeom prst="roundRect">
            <a:avLst>
              <a:gd name="adj" fmla="val 8642"/>
            </a:avLst>
          </a:prstGeom>
          <a:solidFill>
            <a:srgbClr val="EAF6FC"/>
          </a:solidFill>
          <a:ln/>
        </p:spPr>
      </p:sp>
      <p:sp>
        <p:nvSpPr>
          <p:cNvPr id="44" name="Text 35"/>
          <p:cNvSpPr txBox="1"/>
          <p:nvPr/>
        </p:nvSpPr>
        <p:spPr>
          <a:xfrm>
            <a:off x="6501384" y="4315968"/>
            <a:ext cx="1463040" cy="457200"/>
          </a:xfrm>
          <a:prstGeom prst="rect">
            <a:avLst/>
          </a:prstGeom>
          <a:noFill/>
          <a:ln/>
        </p:spPr>
        <p:txBody>
          <a:bodyPr wrap="square" lIns="0" tIns="0" rIns="0" bIns="0" rtlCol="0" anchor="t"/>
          <a:lstStyle/>
          <a:p>
            <a:pPr algn="l" indent="0" marL="0">
              <a:lnSpc>
                <a:spcPct val="100000"/>
              </a:lnSpc>
              <a:buNone/>
            </a:pPr>
            <a:r>
              <a:rPr lang="en-US" sz="2000" b="1" dirty="0">
                <a:solidFill>
                  <a:srgbClr val="0072BC"/>
                </a:solidFill>
                <a:latin typeface="Arial" pitchFamily="34" charset="0"/>
                <a:ea typeface="Arial" pitchFamily="34" charset="-122"/>
                <a:cs typeface="Arial" pitchFamily="34" charset="-120"/>
              </a:rPr>
              <a:t>1.4 crore+</a:t>
            </a:r>
            <a:endParaRPr lang="en-US" sz="2000" dirty="0"/>
          </a:p>
        </p:txBody>
      </p:sp>
      <p:sp>
        <p:nvSpPr>
          <p:cNvPr id="45" name="Text 36"/>
          <p:cNvSpPr txBox="1"/>
          <p:nvPr/>
        </p:nvSpPr>
        <p:spPr>
          <a:xfrm>
            <a:off x="6501384" y="4800600"/>
            <a:ext cx="1389888" cy="731520"/>
          </a:xfrm>
          <a:prstGeom prst="rect">
            <a:avLst/>
          </a:prstGeom>
          <a:noFill/>
          <a:ln/>
        </p:spPr>
        <p:txBody>
          <a:bodyPr wrap="square" lIns="0" tIns="0" rIns="0" bIns="0" rtlCol="0" anchor="t"/>
          <a:lstStyle/>
          <a:p>
            <a:pPr algn="l" indent="0" marL="0">
              <a:lnSpc>
                <a:spcPct val="102000"/>
              </a:lnSpc>
              <a:buNone/>
            </a:pPr>
            <a:r>
              <a:rPr lang="en-US" sz="1100" dirty="0">
                <a:solidFill>
                  <a:srgbClr val="0F1B33"/>
                </a:solidFill>
                <a:latin typeface="Arial" pitchFamily="34" charset="0"/>
                <a:ea typeface="Arial" pitchFamily="34" charset="-122"/>
                <a:cs typeface="Arial" pitchFamily="34" charset="-120"/>
              </a:rPr>
              <a:t>kirana stores in India</a:t>
            </a:r>
            <a:endParaRPr lang="en-US" sz="1100" dirty="0"/>
          </a:p>
        </p:txBody>
      </p:sp>
      <p:sp>
        <p:nvSpPr>
          <p:cNvPr id="46" name="Shape 37"/>
          <p:cNvSpPr/>
          <p:nvPr/>
        </p:nvSpPr>
        <p:spPr>
          <a:xfrm>
            <a:off x="8156448" y="4160520"/>
            <a:ext cx="1655064" cy="1481328"/>
          </a:xfrm>
          <a:prstGeom prst="roundRect">
            <a:avLst>
              <a:gd name="adj" fmla="val 8642"/>
            </a:avLst>
          </a:prstGeom>
          <a:solidFill>
            <a:srgbClr val="EAF6FC"/>
          </a:solidFill>
          <a:ln/>
        </p:spPr>
      </p:sp>
      <p:sp>
        <p:nvSpPr>
          <p:cNvPr id="47" name="Text 38"/>
          <p:cNvSpPr txBox="1"/>
          <p:nvPr/>
        </p:nvSpPr>
        <p:spPr>
          <a:xfrm>
            <a:off x="8302752" y="4315968"/>
            <a:ext cx="1463040" cy="457200"/>
          </a:xfrm>
          <a:prstGeom prst="rect">
            <a:avLst/>
          </a:prstGeom>
          <a:noFill/>
          <a:ln/>
        </p:spPr>
        <p:txBody>
          <a:bodyPr wrap="square" lIns="0" tIns="0" rIns="0" bIns="0" rtlCol="0" anchor="t"/>
          <a:lstStyle/>
          <a:p>
            <a:pPr algn="l" indent="0" marL="0">
              <a:lnSpc>
                <a:spcPct val="100000"/>
              </a:lnSpc>
              <a:buNone/>
            </a:pPr>
            <a:r>
              <a:rPr lang="en-US" sz="2000" b="1" dirty="0">
                <a:solidFill>
                  <a:srgbClr val="0072BC"/>
                </a:solidFill>
                <a:latin typeface="Arial" pitchFamily="34" charset="0"/>
                <a:ea typeface="Arial" pitchFamily="34" charset="-122"/>
                <a:cs typeface="Arial" pitchFamily="34" charset="-120"/>
              </a:rPr>
              <a:t>75–80%</a:t>
            </a:r>
            <a:endParaRPr lang="en-US" sz="2000" dirty="0"/>
          </a:p>
        </p:txBody>
      </p:sp>
      <p:sp>
        <p:nvSpPr>
          <p:cNvPr id="48" name="Text 39"/>
          <p:cNvSpPr txBox="1"/>
          <p:nvPr/>
        </p:nvSpPr>
        <p:spPr>
          <a:xfrm>
            <a:off x="8302752" y="4800600"/>
            <a:ext cx="1389888" cy="731520"/>
          </a:xfrm>
          <a:prstGeom prst="rect">
            <a:avLst/>
          </a:prstGeom>
          <a:noFill/>
          <a:ln/>
        </p:spPr>
        <p:txBody>
          <a:bodyPr wrap="square" lIns="0" tIns="0" rIns="0" bIns="0" rtlCol="0" anchor="t"/>
          <a:lstStyle/>
          <a:p>
            <a:pPr algn="l" indent="0" marL="0">
              <a:lnSpc>
                <a:spcPct val="102000"/>
              </a:lnSpc>
              <a:buNone/>
            </a:pPr>
            <a:r>
              <a:rPr lang="en-US" sz="1100" dirty="0">
                <a:solidFill>
                  <a:srgbClr val="0F1B33"/>
                </a:solidFill>
                <a:latin typeface="Arial" pitchFamily="34" charset="0"/>
                <a:ea typeface="Arial" pitchFamily="34" charset="-122"/>
                <a:cs typeface="Arial" pitchFamily="34" charset="-120"/>
              </a:rPr>
              <a:t>of FMCG sales flow through them</a:t>
            </a:r>
            <a:endParaRPr lang="en-US" sz="1100" dirty="0"/>
          </a:p>
        </p:txBody>
      </p:sp>
      <p:sp>
        <p:nvSpPr>
          <p:cNvPr id="49" name="Shape 40"/>
          <p:cNvSpPr/>
          <p:nvPr/>
        </p:nvSpPr>
        <p:spPr>
          <a:xfrm>
            <a:off x="9957816" y="4160520"/>
            <a:ext cx="1655064" cy="1481328"/>
          </a:xfrm>
          <a:prstGeom prst="roundRect">
            <a:avLst>
              <a:gd name="adj" fmla="val 8642"/>
            </a:avLst>
          </a:prstGeom>
          <a:solidFill>
            <a:srgbClr val="EAF6FC"/>
          </a:solidFill>
          <a:ln/>
        </p:spPr>
      </p:sp>
      <p:sp>
        <p:nvSpPr>
          <p:cNvPr id="50" name="Text 41"/>
          <p:cNvSpPr txBox="1"/>
          <p:nvPr/>
        </p:nvSpPr>
        <p:spPr>
          <a:xfrm>
            <a:off x="10104120" y="4315968"/>
            <a:ext cx="1463040" cy="457200"/>
          </a:xfrm>
          <a:prstGeom prst="rect">
            <a:avLst/>
          </a:prstGeom>
          <a:noFill/>
          <a:ln/>
        </p:spPr>
        <p:txBody>
          <a:bodyPr wrap="square" lIns="0" tIns="0" rIns="0" bIns="0" rtlCol="0" anchor="t"/>
          <a:lstStyle/>
          <a:p>
            <a:pPr algn="l" indent="0" marL="0">
              <a:lnSpc>
                <a:spcPct val="100000"/>
              </a:lnSpc>
              <a:buNone/>
            </a:pPr>
            <a:r>
              <a:rPr lang="en-US" sz="2000" b="1" dirty="0">
                <a:solidFill>
                  <a:srgbClr val="0072BC"/>
                </a:solidFill>
                <a:latin typeface="Arial" pitchFamily="34" charset="0"/>
                <a:ea typeface="Arial" pitchFamily="34" charset="-122"/>
                <a:cs typeface="Arial" pitchFamily="34" charset="-120"/>
              </a:rPr>
              <a:t>~24.5 bn</a:t>
            </a:r>
            <a:endParaRPr lang="en-US" sz="2000" dirty="0"/>
          </a:p>
        </p:txBody>
      </p:sp>
      <p:sp>
        <p:nvSpPr>
          <p:cNvPr id="51" name="Text 42"/>
          <p:cNvSpPr txBox="1"/>
          <p:nvPr/>
        </p:nvSpPr>
        <p:spPr>
          <a:xfrm>
            <a:off x="10104120" y="4800600"/>
            <a:ext cx="1389888" cy="731520"/>
          </a:xfrm>
          <a:prstGeom prst="rect">
            <a:avLst/>
          </a:prstGeom>
          <a:noFill/>
          <a:ln/>
        </p:spPr>
        <p:txBody>
          <a:bodyPr wrap="square" lIns="0" tIns="0" rIns="0" bIns="0" rtlCol="0" anchor="t"/>
          <a:lstStyle/>
          <a:p>
            <a:pPr algn="l" indent="0" marL="0">
              <a:lnSpc>
                <a:spcPct val="102000"/>
              </a:lnSpc>
              <a:buNone/>
            </a:pPr>
            <a:r>
              <a:rPr lang="en-US" sz="1100" dirty="0">
                <a:solidFill>
                  <a:srgbClr val="0F1B33"/>
                </a:solidFill>
                <a:latin typeface="Arial" pitchFamily="34" charset="0"/>
                <a:ea typeface="Arial" pitchFamily="34" charset="-122"/>
                <a:cs typeface="Arial" pitchFamily="34" charset="-120"/>
              </a:rPr>
              <a:t>UPI transactions in August 2026 alone</a:t>
            </a:r>
            <a:endParaRPr lang="en-US" sz="1100" dirty="0"/>
          </a:p>
        </p:txBody>
      </p:sp>
      <p:sp>
        <p:nvSpPr>
          <p:cNvPr id="52" name="Text 43"/>
          <p:cNvSpPr txBox="1"/>
          <p:nvPr/>
        </p:nvSpPr>
        <p:spPr>
          <a:xfrm>
            <a:off x="6355080" y="5760720"/>
            <a:ext cx="1133856" cy="237744"/>
          </a:xfrm>
          <a:prstGeom prst="roundRect">
            <a:avLst>
              <a:gd name="adj" fmla="val 50000"/>
            </a:avLst>
          </a:prstGeom>
          <a:solidFill>
            <a:srgbClr val="E3F4EC"/>
          </a:solidFill>
          <a:ln/>
        </p:spPr>
        <p:txBody>
          <a:bodyPr wrap="square" lIns="0" tIns="0" rIns="0" bIns="0" rtlCol="0" anchor="ctr"/>
          <a:lstStyle/>
          <a:p>
            <a:pPr algn="ctr" indent="0" marL="0">
              <a:lnSpc>
                <a:spcPct val="100000"/>
              </a:lnSpc>
              <a:buNone/>
            </a:pPr>
            <a:r>
              <a:rPr lang="en-US" sz="850" b="1" spc="60" kern="0" dirty="0">
                <a:solidFill>
                  <a:srgbClr val="17704A"/>
                </a:solidFill>
                <a:latin typeface="Arial" pitchFamily="34" charset="0"/>
                <a:ea typeface="Arial" pitchFamily="34" charset="-122"/>
                <a:cs typeface="Arial" pitchFamily="34" charset="-120"/>
              </a:rPr>
              <a:t>PUBLIC DATA</a:t>
            </a:r>
            <a:endParaRPr lang="en-US" sz="850" dirty="0"/>
          </a:p>
        </p:txBody>
      </p:sp>
      <p:sp>
        <p:nvSpPr>
          <p:cNvPr id="53" name="Text 44"/>
          <p:cNvSpPr txBox="1"/>
          <p:nvPr/>
        </p:nvSpPr>
        <p:spPr>
          <a:xfrm>
            <a:off x="7580376" y="5760720"/>
            <a:ext cx="4078224" cy="365760"/>
          </a:xfrm>
          <a:prstGeom prst="rect">
            <a:avLst/>
          </a:prstGeom>
          <a:noFill/>
          <a:ln/>
        </p:spPr>
        <p:txBody>
          <a:bodyPr wrap="square" lIns="0" tIns="0" rIns="0" bIns="0" rtlCol="0" anchor="t"/>
          <a:lstStyle/>
          <a:p>
            <a:pPr algn="l" indent="0" marL="0">
              <a:lnSpc>
                <a:spcPct val="100000"/>
              </a:lnSpc>
              <a:buNone/>
            </a:pPr>
            <a:r>
              <a:rPr lang="en-US" sz="850" dirty="0">
                <a:solidFill>
                  <a:srgbClr val="5A6A85"/>
                </a:solidFill>
                <a:latin typeface="Arial" pitchFamily="34" charset="0"/>
                <a:ea typeface="Arial" pitchFamily="34" charset="-122"/>
                <a:cs typeface="Arial" pitchFamily="34" charset="-120"/>
              </a:rPr>
              <a:t>DPIIT/ONDC release, 12 Jun 2026 (stores, FMCG share). NPCI UPI statistics, Aug 2026: 24,508.96 mn transactions.</a:t>
            </a:r>
            <a:endParaRPr lang="en-US" sz="850" dirty="0"/>
          </a:p>
        </p:txBody>
      </p:sp>
      <p:sp>
        <p:nvSpPr>
          <p:cNvPr id="54" name="Text 45"/>
          <p:cNvSpPr txBox="1"/>
          <p:nvPr/>
        </p:nvSpPr>
        <p:spPr>
          <a:xfrm>
            <a:off x="548640" y="6419088"/>
            <a:ext cx="4572000" cy="228600"/>
          </a:xfrm>
          <a:prstGeom prst="rect">
            <a:avLst/>
          </a:prstGeom>
          <a:noFill/>
          <a:ln/>
        </p:spPr>
        <p:txBody>
          <a:bodyPr wrap="square" lIns="0" tIns="0" rIns="0" bIns="0" rtlCol="0" anchor="t"/>
          <a:lstStyle/>
          <a:p>
            <a:pPr algn="l" indent="0" marL="0">
              <a:lnSpc>
                <a:spcPct val="100000"/>
              </a:lnSpc>
              <a:buNone/>
            </a:pPr>
            <a:r>
              <a:rPr lang="en-US" sz="900" b="1" dirty="0">
                <a:solidFill>
                  <a:srgbClr val="8A99B3"/>
                </a:solidFill>
                <a:latin typeface="Arial" pitchFamily="34" charset="0"/>
                <a:ea typeface="Arial" pitchFamily="34" charset="-122"/>
                <a:cs typeface="Arial" pitchFamily="34" charset="-120"/>
              </a:rPr>
              <a:t>Kirana Shop AI</a:t>
            </a:r>
            <a:endParaRPr lang="en-US" sz="900" dirty="0"/>
          </a:p>
        </p:txBody>
      </p:sp>
      <p:sp>
        <p:nvSpPr>
          <p:cNvPr id="55" name="Text 46"/>
          <p:cNvSpPr txBox="1"/>
          <p:nvPr/>
        </p:nvSpPr>
        <p:spPr>
          <a:xfrm>
            <a:off x="9354312" y="6419088"/>
            <a:ext cx="2286000" cy="228600"/>
          </a:xfrm>
          <a:prstGeom prst="rect">
            <a:avLst/>
          </a:prstGeom>
          <a:noFill/>
          <a:ln/>
        </p:spPr>
        <p:txBody>
          <a:bodyPr wrap="square" lIns="0" tIns="0" rIns="0" bIns="0" rtlCol="0" anchor="t"/>
          <a:lstStyle/>
          <a:p>
            <a:pPr algn="r" indent="0" marL="0">
              <a:lnSpc>
                <a:spcPct val="100000"/>
              </a:lnSpc>
              <a:buNone/>
            </a:pPr>
            <a:r>
              <a:rPr lang="en-US" sz="900" dirty="0">
                <a:solidFill>
                  <a:srgbClr val="8A99B3"/>
                </a:solidFill>
                <a:latin typeface="Arial" pitchFamily="34" charset="0"/>
                <a:ea typeface="Arial" pitchFamily="34" charset="-122"/>
                <a:cs typeface="Arial" pitchFamily="34" charset="-120"/>
              </a:rPr>
              <a:t>03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072BC"/>
                </a:solidFill>
                <a:latin typeface="Arial" pitchFamily="34" charset="0"/>
                <a:ea typeface="Arial" pitchFamily="34" charset="-122"/>
                <a:cs typeface="Arial" pitchFamily="34" charset="-120"/>
              </a:rPr>
              <a:t>KIRANA SHOP AI: OVERVIEW</a:t>
            </a:r>
            <a:endParaRPr lang="en-US" sz="1100" dirty="0"/>
          </a:p>
        </p:txBody>
      </p:sp>
      <p:sp>
        <p:nvSpPr>
          <p:cNvPr id="3" name="Text 1"/>
          <p:cNvSpPr txBox="1"/>
          <p:nvPr/>
        </p:nvSpPr>
        <p:spPr>
          <a:xfrm>
            <a:off x="548640" y="676656"/>
            <a:ext cx="11064240" cy="566928"/>
          </a:xfrm>
          <a:prstGeom prst="rect">
            <a:avLst/>
          </a:prstGeom>
          <a:noFill/>
          <a:ln/>
        </p:spPr>
        <p:txBody>
          <a:bodyPr wrap="square" lIns="0" tIns="0" rIns="0" bIns="0" rtlCol="0" anchor="t"/>
          <a:lstStyle/>
          <a:p>
            <a:pPr algn="l" indent="0" marL="0">
              <a:lnSpc>
                <a:spcPct val="100000"/>
              </a:lnSpc>
              <a:buNone/>
            </a:pPr>
            <a:r>
              <a:rPr lang="en-US" sz="3000" b="1" dirty="0">
                <a:solidFill>
                  <a:srgbClr val="0B1F44"/>
                </a:solidFill>
                <a:latin typeface="Arial" pitchFamily="34" charset="0"/>
                <a:ea typeface="Arial" pitchFamily="34" charset="-122"/>
                <a:cs typeface="Arial" pitchFamily="34" charset="-120"/>
              </a:rPr>
              <a:t>One shop profile. Four daily jobs. One loop.</a:t>
            </a:r>
            <a:endParaRPr lang="en-US" sz="3000" dirty="0"/>
          </a:p>
        </p:txBody>
      </p:sp>
      <p:sp>
        <p:nvSpPr>
          <p:cNvPr id="4" name="Shape 2"/>
          <p:cNvSpPr/>
          <p:nvPr/>
        </p:nvSpPr>
        <p:spPr>
          <a:xfrm>
            <a:off x="548640" y="1572768"/>
            <a:ext cx="3657600" cy="1783080"/>
          </a:xfrm>
          <a:prstGeom prst="roundRect">
            <a:avLst>
              <a:gd name="adj" fmla="val 8205"/>
            </a:avLst>
          </a:prstGeom>
          <a:solidFill>
            <a:srgbClr val="FFFFFF"/>
          </a:solidFill>
          <a:ln w="12700">
            <a:solidFill>
              <a:srgbClr val="D5E3F0"/>
            </a:solidFill>
            <a:prstDash val="solid"/>
          </a:ln>
          <a:effectLst>
            <a:outerShdw sx="100000" sy="100000" kx="0" ky="0" algn="bl" rotWithShape="0" blurRad="114300" dist="25400" dir="5400000">
              <a:srgbClr val="0B1F44">
                <a:alpha val="13000"/>
              </a:srgbClr>
            </a:outerShdw>
          </a:effectLst>
        </p:spPr>
      </p:sp>
      <p:sp>
        <p:nvSpPr>
          <p:cNvPr id="5" name="Shape 3"/>
          <p:cNvSpPr/>
          <p:nvPr/>
        </p:nvSpPr>
        <p:spPr>
          <a:xfrm>
            <a:off x="777240" y="1801368"/>
            <a:ext cx="512064" cy="512064"/>
          </a:xfrm>
          <a:prstGeom prst="ellipse">
            <a:avLst/>
          </a:prstGeom>
          <a:solidFill>
            <a:srgbClr val="EAF6FC"/>
          </a:solidFill>
          <a:ln/>
        </p:spPr>
      </p:sp>
      <p:pic>
        <p:nvPicPr>
          <p:cNvPr id="6" name="Image 0" descr="/private/tmp/claude-501/-Users-jaypandey-Library-Application-Support-Claude-scratch-workspaces-e205fcbe-ff17-47a0-b0da-08b9c2cd8dd1-9a575c31-2854-4c86-a69f-21eba1183528-scratch-2026-09-25-918942/ab509d62-e048-41fc-927b-5525291df5de/scratchpad/img/icons/LuScanBarcode_0072BC.png">    </p:cNvPr>
          <p:cNvPicPr>
            <a:picLocks noChangeAspect="1"/>
          </p:cNvPicPr>
          <p:nvPr/>
        </p:nvPicPr>
        <p:blipFill>
          <a:blip r:embed="rId1"/>
          <a:stretch>
            <a:fillRect/>
          </a:stretch>
        </p:blipFill>
        <p:spPr>
          <a:xfrm>
            <a:off x="900135" y="1924263"/>
            <a:ext cx="266273" cy="266273"/>
          </a:xfrm>
          <a:prstGeom prst="rect">
            <a:avLst/>
          </a:prstGeom>
        </p:spPr>
      </p:pic>
      <p:sp>
        <p:nvSpPr>
          <p:cNvPr id="7" name="Text 4"/>
          <p:cNvSpPr txBox="1"/>
          <p:nvPr/>
        </p:nvSpPr>
        <p:spPr>
          <a:xfrm>
            <a:off x="1444752" y="1792224"/>
            <a:ext cx="2651760" cy="310896"/>
          </a:xfrm>
          <a:prstGeom prst="rect">
            <a:avLst/>
          </a:prstGeom>
          <a:noFill/>
          <a:ln/>
        </p:spPr>
        <p:txBody>
          <a:bodyPr wrap="square" lIns="0" tIns="0" rIns="0" bIns="0" rtlCol="0" anchor="t"/>
          <a:lstStyle/>
          <a:p>
            <a:pPr algn="l" indent="0" marL="0">
              <a:lnSpc>
                <a:spcPct val="100000"/>
              </a:lnSpc>
              <a:buNone/>
            </a:pPr>
            <a:r>
              <a:rPr lang="en-US" sz="1800" b="1" dirty="0">
                <a:solidFill>
                  <a:srgbClr val="0B1F44"/>
                </a:solidFill>
                <a:latin typeface="Arial" pitchFamily="34" charset="0"/>
                <a:ea typeface="Arial" pitchFamily="34" charset="-122"/>
                <a:cs typeface="Arial" pitchFamily="34" charset="-120"/>
              </a:rPr>
              <a:t>Counter</a:t>
            </a:r>
            <a:endParaRPr lang="en-US" sz="1800" dirty="0"/>
          </a:p>
        </p:txBody>
      </p:sp>
      <p:sp>
        <p:nvSpPr>
          <p:cNvPr id="8" name="Text 5"/>
          <p:cNvSpPr txBox="1"/>
          <p:nvPr/>
        </p:nvSpPr>
        <p:spPr>
          <a:xfrm>
            <a:off x="1444752" y="2103120"/>
            <a:ext cx="2651760" cy="237744"/>
          </a:xfrm>
          <a:prstGeom prst="rect">
            <a:avLst/>
          </a:prstGeom>
          <a:noFill/>
          <a:ln/>
        </p:spPr>
        <p:txBody>
          <a:bodyPr wrap="square" lIns="0" tIns="0" rIns="0" bIns="0" rtlCol="0" anchor="t"/>
          <a:lstStyle/>
          <a:p>
            <a:pPr algn="l" indent="0" marL="0">
              <a:lnSpc>
                <a:spcPct val="100000"/>
              </a:lnSpc>
              <a:buNone/>
            </a:pPr>
            <a:r>
              <a:rPr lang="en-US" sz="1150" b="1" dirty="0">
                <a:solidFill>
                  <a:srgbClr val="0072BC"/>
                </a:solidFill>
                <a:latin typeface="Arial" pitchFamily="34" charset="0"/>
                <a:ea typeface="Arial" pitchFamily="34" charset="-122"/>
                <a:cs typeface="Arial" pitchFamily="34" charset="-120"/>
              </a:rPr>
              <a:t>Make every sale easy</a:t>
            </a:r>
            <a:endParaRPr lang="en-US" sz="1150" dirty="0"/>
          </a:p>
        </p:txBody>
      </p:sp>
      <p:sp>
        <p:nvSpPr>
          <p:cNvPr id="9" name="Text 6"/>
          <p:cNvSpPr txBox="1"/>
          <p:nvPr/>
        </p:nvSpPr>
        <p:spPr>
          <a:xfrm>
            <a:off x="777240" y="2487168"/>
            <a:ext cx="3246120" cy="731520"/>
          </a:xfrm>
          <a:prstGeom prst="rect">
            <a:avLst/>
          </a:prstGeom>
          <a:noFill/>
          <a:ln/>
        </p:spPr>
        <p:txBody>
          <a:bodyPr wrap="square" lIns="0" tIns="0" rIns="0" bIns="0" rtlCol="0" anchor="t"/>
          <a:lstStyle/>
          <a:p>
            <a:pPr algn="l" indent="0" marL="0">
              <a:lnSpc>
                <a:spcPct val="105000"/>
              </a:lnSpc>
              <a:buNone/>
            </a:pPr>
            <a:r>
              <a:rPr lang="en-US" sz="1200" dirty="0">
                <a:solidFill>
                  <a:srgbClr val="0F1B33"/>
                </a:solidFill>
                <a:latin typeface="Arial" pitchFamily="34" charset="0"/>
                <a:ea typeface="Arial" pitchFamily="34" charset="-122"/>
                <a:cs typeface="Arial" pitchFamily="34" charset="-120"/>
              </a:rPr>
              <a:t>Bill by barcode, photo, voice or parchi. AI proposes; the shopkeeper confirms.</a:t>
            </a:r>
            <a:endParaRPr lang="en-US" sz="1200" dirty="0"/>
          </a:p>
        </p:txBody>
      </p:sp>
      <p:sp>
        <p:nvSpPr>
          <p:cNvPr id="10" name="Shape 7"/>
          <p:cNvSpPr/>
          <p:nvPr/>
        </p:nvSpPr>
        <p:spPr>
          <a:xfrm>
            <a:off x="548640" y="3566160"/>
            <a:ext cx="3657600" cy="1783080"/>
          </a:xfrm>
          <a:prstGeom prst="roundRect">
            <a:avLst>
              <a:gd name="adj" fmla="val 8205"/>
            </a:avLst>
          </a:prstGeom>
          <a:solidFill>
            <a:srgbClr val="FFFFFF"/>
          </a:solidFill>
          <a:ln w="12700">
            <a:solidFill>
              <a:srgbClr val="D5E3F0"/>
            </a:solidFill>
            <a:prstDash val="solid"/>
          </a:ln>
          <a:effectLst>
            <a:outerShdw sx="100000" sy="100000" kx="0" ky="0" algn="bl" rotWithShape="0" blurRad="114300" dist="25400" dir="5400000">
              <a:srgbClr val="0B1F44">
                <a:alpha val="13000"/>
              </a:srgbClr>
            </a:outerShdw>
          </a:effectLst>
        </p:spPr>
      </p:sp>
      <p:sp>
        <p:nvSpPr>
          <p:cNvPr id="11" name="Shape 8"/>
          <p:cNvSpPr/>
          <p:nvPr/>
        </p:nvSpPr>
        <p:spPr>
          <a:xfrm>
            <a:off x="777240" y="3794760"/>
            <a:ext cx="512064" cy="512064"/>
          </a:xfrm>
          <a:prstGeom prst="ellipse">
            <a:avLst/>
          </a:prstGeom>
          <a:solidFill>
            <a:srgbClr val="EAF6FC"/>
          </a:solidFill>
          <a:ln/>
        </p:spPr>
      </p:sp>
      <p:pic>
        <p:nvPicPr>
          <p:cNvPr id="12" name="Image 1" descr="/private/tmp/claude-501/-Users-jaypandey-Library-Application-Support-Claude-scratch-workspaces-e205fcbe-ff17-47a0-b0da-08b9c2cd8dd1-9a575c31-2854-4c86-a69f-21eba1183528-scratch-2026-09-25-918942/ab509d62-e048-41fc-927b-5525291df5de/scratchpad/img/icons/LuStore_0072BC.png">    </p:cNvPr>
          <p:cNvPicPr>
            <a:picLocks noChangeAspect="1"/>
          </p:cNvPicPr>
          <p:nvPr/>
        </p:nvPicPr>
        <p:blipFill>
          <a:blip r:embed="rId2"/>
          <a:stretch>
            <a:fillRect/>
          </a:stretch>
        </p:blipFill>
        <p:spPr>
          <a:xfrm>
            <a:off x="900135" y="3917655"/>
            <a:ext cx="266273" cy="266273"/>
          </a:xfrm>
          <a:prstGeom prst="rect">
            <a:avLst/>
          </a:prstGeom>
        </p:spPr>
      </p:pic>
      <p:sp>
        <p:nvSpPr>
          <p:cNvPr id="13" name="Text 9"/>
          <p:cNvSpPr txBox="1"/>
          <p:nvPr/>
        </p:nvSpPr>
        <p:spPr>
          <a:xfrm>
            <a:off x="1444752" y="3785616"/>
            <a:ext cx="2651760" cy="310896"/>
          </a:xfrm>
          <a:prstGeom prst="rect">
            <a:avLst/>
          </a:prstGeom>
          <a:noFill/>
          <a:ln/>
        </p:spPr>
        <p:txBody>
          <a:bodyPr wrap="square" lIns="0" tIns="0" rIns="0" bIns="0" rtlCol="0" anchor="t"/>
          <a:lstStyle/>
          <a:p>
            <a:pPr algn="l" indent="0" marL="0">
              <a:lnSpc>
                <a:spcPct val="100000"/>
              </a:lnSpc>
              <a:buNone/>
            </a:pPr>
            <a:r>
              <a:rPr lang="en-US" sz="1800" b="1" dirty="0">
                <a:solidFill>
                  <a:srgbClr val="0B1F44"/>
                </a:solidFill>
                <a:latin typeface="Arial" pitchFamily="34" charset="0"/>
                <a:ea typeface="Arial" pitchFamily="34" charset="-122"/>
                <a:cs typeface="Arial" pitchFamily="34" charset="-120"/>
              </a:rPr>
              <a:t>Shop</a:t>
            </a:r>
            <a:endParaRPr lang="en-US" sz="1800" dirty="0"/>
          </a:p>
        </p:txBody>
      </p:sp>
      <p:sp>
        <p:nvSpPr>
          <p:cNvPr id="14" name="Text 10"/>
          <p:cNvSpPr txBox="1"/>
          <p:nvPr/>
        </p:nvSpPr>
        <p:spPr>
          <a:xfrm>
            <a:off x="1444752" y="4096512"/>
            <a:ext cx="2651760" cy="237744"/>
          </a:xfrm>
          <a:prstGeom prst="rect">
            <a:avLst/>
          </a:prstGeom>
          <a:noFill/>
          <a:ln/>
        </p:spPr>
        <p:txBody>
          <a:bodyPr wrap="square" lIns="0" tIns="0" rIns="0" bIns="0" rtlCol="0" anchor="t"/>
          <a:lstStyle/>
          <a:p>
            <a:pPr algn="l" indent="0" marL="0">
              <a:lnSpc>
                <a:spcPct val="100000"/>
              </a:lnSpc>
              <a:buNone/>
            </a:pPr>
            <a:r>
              <a:rPr lang="en-US" sz="1150" b="1" dirty="0">
                <a:solidFill>
                  <a:srgbClr val="0072BC"/>
                </a:solidFill>
                <a:latin typeface="Arial" pitchFamily="34" charset="0"/>
                <a:ea typeface="Arial" pitchFamily="34" charset="-122"/>
                <a:cs typeface="Arial" pitchFamily="34" charset="-120"/>
              </a:rPr>
              <a:t>Make every store online</a:t>
            </a:r>
            <a:endParaRPr lang="en-US" sz="1150" dirty="0"/>
          </a:p>
        </p:txBody>
      </p:sp>
      <p:sp>
        <p:nvSpPr>
          <p:cNvPr id="15" name="Text 11"/>
          <p:cNvSpPr txBox="1"/>
          <p:nvPr/>
        </p:nvSpPr>
        <p:spPr>
          <a:xfrm>
            <a:off x="777240" y="4480560"/>
            <a:ext cx="3246120" cy="731520"/>
          </a:xfrm>
          <a:prstGeom prst="rect">
            <a:avLst/>
          </a:prstGeom>
          <a:noFill/>
          <a:ln/>
        </p:spPr>
        <p:txBody>
          <a:bodyPr wrap="square" lIns="0" tIns="0" rIns="0" bIns="0" rtlCol="0" anchor="t"/>
          <a:lstStyle/>
          <a:p>
            <a:pPr algn="l" indent="0" marL="0">
              <a:lnSpc>
                <a:spcPct val="105000"/>
              </a:lnSpc>
              <a:buNone/>
            </a:pPr>
            <a:r>
              <a:rPr lang="en-US" sz="1200" dirty="0">
                <a:solidFill>
                  <a:srgbClr val="0F1B33"/>
                </a:solidFill>
                <a:latin typeface="Arial" pitchFamily="34" charset="0"/>
                <a:ea typeface="Arial" pitchFamily="34" charset="-122"/>
                <a:cs typeface="Arial" pitchFamily="34" charset="-120"/>
              </a:rPr>
              <a:t>One QR opens the shop’s own storefront, built from the counter’s catalogue.</a:t>
            </a:r>
            <a:endParaRPr lang="en-US" sz="1200" dirty="0"/>
          </a:p>
        </p:txBody>
      </p:sp>
      <p:sp>
        <p:nvSpPr>
          <p:cNvPr id="16" name="Shape 12"/>
          <p:cNvSpPr/>
          <p:nvPr/>
        </p:nvSpPr>
        <p:spPr>
          <a:xfrm>
            <a:off x="7982712" y="1572768"/>
            <a:ext cx="3657600" cy="1783080"/>
          </a:xfrm>
          <a:prstGeom prst="roundRect">
            <a:avLst>
              <a:gd name="adj" fmla="val 8205"/>
            </a:avLst>
          </a:prstGeom>
          <a:solidFill>
            <a:srgbClr val="FFFFFF"/>
          </a:solidFill>
          <a:ln w="12700">
            <a:solidFill>
              <a:srgbClr val="D5E3F0"/>
            </a:solidFill>
            <a:prstDash val="solid"/>
          </a:ln>
          <a:effectLst>
            <a:outerShdw sx="100000" sy="100000" kx="0" ky="0" algn="bl" rotWithShape="0" blurRad="114300" dist="25400" dir="5400000">
              <a:srgbClr val="0B1F44">
                <a:alpha val="13000"/>
              </a:srgbClr>
            </a:outerShdw>
          </a:effectLst>
        </p:spPr>
      </p:sp>
      <p:sp>
        <p:nvSpPr>
          <p:cNvPr id="17" name="Shape 13"/>
          <p:cNvSpPr/>
          <p:nvPr/>
        </p:nvSpPr>
        <p:spPr>
          <a:xfrm>
            <a:off x="8211312" y="1801368"/>
            <a:ext cx="512064" cy="512064"/>
          </a:xfrm>
          <a:prstGeom prst="ellipse">
            <a:avLst/>
          </a:prstGeom>
          <a:solidFill>
            <a:srgbClr val="EAF6FC"/>
          </a:solidFill>
          <a:ln/>
        </p:spPr>
      </p:sp>
      <p:pic>
        <p:nvPicPr>
          <p:cNvPr id="18" name="Image 2" descr="/private/tmp/claude-501/-Users-jaypandey-Library-Application-Support-Claude-scratch-workspaces-e205fcbe-ff17-47a0-b0da-08b9c2cd8dd1-9a575c31-2854-4c86-a69f-21eba1183528-scratch-2026-09-25-918942/ab509d62-e048-41fc-927b-5525291df5de/scratchpad/img/icons/LuNotebookPen_0072BC.png">    </p:cNvPr>
          <p:cNvPicPr>
            <a:picLocks noChangeAspect="1"/>
          </p:cNvPicPr>
          <p:nvPr/>
        </p:nvPicPr>
        <p:blipFill>
          <a:blip r:embed="rId3"/>
          <a:stretch>
            <a:fillRect/>
          </a:stretch>
        </p:blipFill>
        <p:spPr>
          <a:xfrm>
            <a:off x="8334207" y="1924263"/>
            <a:ext cx="266273" cy="266273"/>
          </a:xfrm>
          <a:prstGeom prst="rect">
            <a:avLst/>
          </a:prstGeom>
        </p:spPr>
      </p:pic>
      <p:sp>
        <p:nvSpPr>
          <p:cNvPr id="19" name="Text 14"/>
          <p:cNvSpPr txBox="1"/>
          <p:nvPr/>
        </p:nvSpPr>
        <p:spPr>
          <a:xfrm>
            <a:off x="8878824" y="1792224"/>
            <a:ext cx="2651760" cy="310896"/>
          </a:xfrm>
          <a:prstGeom prst="rect">
            <a:avLst/>
          </a:prstGeom>
          <a:noFill/>
          <a:ln/>
        </p:spPr>
        <p:txBody>
          <a:bodyPr wrap="square" lIns="0" tIns="0" rIns="0" bIns="0" rtlCol="0" anchor="t"/>
          <a:lstStyle/>
          <a:p>
            <a:pPr algn="l" indent="0" marL="0">
              <a:lnSpc>
                <a:spcPct val="100000"/>
              </a:lnSpc>
              <a:buNone/>
            </a:pPr>
            <a:r>
              <a:rPr lang="en-US" sz="1800" b="1" dirty="0">
                <a:solidFill>
                  <a:srgbClr val="0B1F44"/>
                </a:solidFill>
                <a:latin typeface="Arial" pitchFamily="34" charset="0"/>
                <a:ea typeface="Arial" pitchFamily="34" charset="-122"/>
                <a:cs typeface="Arial" pitchFamily="34" charset="-120"/>
              </a:rPr>
              <a:t>Khata</a:t>
            </a:r>
            <a:endParaRPr lang="en-US" sz="1800" dirty="0"/>
          </a:p>
        </p:txBody>
      </p:sp>
      <p:sp>
        <p:nvSpPr>
          <p:cNvPr id="20" name="Text 15"/>
          <p:cNvSpPr txBox="1"/>
          <p:nvPr/>
        </p:nvSpPr>
        <p:spPr>
          <a:xfrm>
            <a:off x="8878824" y="2103120"/>
            <a:ext cx="2651760" cy="237744"/>
          </a:xfrm>
          <a:prstGeom prst="rect">
            <a:avLst/>
          </a:prstGeom>
          <a:noFill/>
          <a:ln/>
        </p:spPr>
        <p:txBody>
          <a:bodyPr wrap="square" lIns="0" tIns="0" rIns="0" bIns="0" rtlCol="0" anchor="t"/>
          <a:lstStyle/>
          <a:p>
            <a:pPr algn="l" indent="0" marL="0">
              <a:lnSpc>
                <a:spcPct val="100000"/>
              </a:lnSpc>
              <a:buNone/>
            </a:pPr>
            <a:r>
              <a:rPr lang="en-US" sz="1150" b="1" dirty="0">
                <a:solidFill>
                  <a:srgbClr val="0072BC"/>
                </a:solidFill>
                <a:latin typeface="Arial" pitchFamily="34" charset="0"/>
                <a:ea typeface="Arial" pitchFamily="34" charset="-122"/>
                <a:cs typeface="Arial" pitchFamily="34" charset="-120"/>
              </a:rPr>
              <a:t>Make every receivable trackable</a:t>
            </a:r>
            <a:endParaRPr lang="en-US" sz="1150" dirty="0"/>
          </a:p>
        </p:txBody>
      </p:sp>
      <p:sp>
        <p:nvSpPr>
          <p:cNvPr id="21" name="Text 16"/>
          <p:cNvSpPr txBox="1"/>
          <p:nvPr/>
        </p:nvSpPr>
        <p:spPr>
          <a:xfrm>
            <a:off x="8211312" y="2487168"/>
            <a:ext cx="3246120" cy="731520"/>
          </a:xfrm>
          <a:prstGeom prst="rect">
            <a:avLst/>
          </a:prstGeom>
          <a:noFill/>
          <a:ln/>
        </p:spPr>
        <p:txBody>
          <a:bodyPr wrap="square" lIns="0" tIns="0" rIns="0" bIns="0" rtlCol="0" anchor="t"/>
          <a:lstStyle/>
          <a:p>
            <a:pPr algn="l" indent="0" marL="0">
              <a:lnSpc>
                <a:spcPct val="105000"/>
              </a:lnSpc>
              <a:buNone/>
            </a:pPr>
            <a:r>
              <a:rPr lang="en-US" sz="1200" dirty="0">
                <a:solidFill>
                  <a:srgbClr val="0F1B33"/>
                </a:solidFill>
                <a:latin typeface="Arial" pitchFamily="34" charset="0"/>
                <a:ea typeface="Arial" pitchFamily="34" charset="-122"/>
                <a:cs typeface="Arial" pitchFamily="34" charset="-120"/>
              </a:rPr>
              <a:t>Udhaar is created straight from the bill, aged, reminded and reconciled.</a:t>
            </a:r>
            <a:endParaRPr lang="en-US" sz="1200" dirty="0"/>
          </a:p>
        </p:txBody>
      </p:sp>
      <p:sp>
        <p:nvSpPr>
          <p:cNvPr id="22" name="Shape 17"/>
          <p:cNvSpPr/>
          <p:nvPr/>
        </p:nvSpPr>
        <p:spPr>
          <a:xfrm>
            <a:off x="7982712" y="3566160"/>
            <a:ext cx="3657600" cy="1783080"/>
          </a:xfrm>
          <a:prstGeom prst="roundRect">
            <a:avLst>
              <a:gd name="adj" fmla="val 8205"/>
            </a:avLst>
          </a:prstGeom>
          <a:solidFill>
            <a:srgbClr val="EAF6FC"/>
          </a:solidFill>
          <a:ln w="25400">
            <a:solidFill>
              <a:srgbClr val="00A7E1"/>
            </a:solidFill>
            <a:prstDash val="solid"/>
          </a:ln>
        </p:spPr>
      </p:sp>
      <p:sp>
        <p:nvSpPr>
          <p:cNvPr id="23" name="Shape 18"/>
          <p:cNvSpPr/>
          <p:nvPr/>
        </p:nvSpPr>
        <p:spPr>
          <a:xfrm>
            <a:off x="8211312" y="3794760"/>
            <a:ext cx="512064" cy="512064"/>
          </a:xfrm>
          <a:prstGeom prst="ellipse">
            <a:avLst/>
          </a:prstGeom>
          <a:solidFill>
            <a:srgbClr val="00A7E1"/>
          </a:solidFill>
          <a:ln/>
        </p:spPr>
      </p:sp>
      <p:pic>
        <p:nvPicPr>
          <p:cNvPr id="24" name="Image 3" descr="/private/tmp/claude-501/-Users-jaypandey-Library-Application-Support-Claude-scratch-workspaces-e205fcbe-ff17-47a0-b0da-08b9c2cd8dd1-9a575c31-2854-4c86-a69f-21eba1183528-scratch-2026-09-25-918942/ab509d62-e048-41fc-927b-5525291df5de/scratchpad/img/icons/LuMic_FFFFFF.png">    </p:cNvPr>
          <p:cNvPicPr>
            <a:picLocks noChangeAspect="1"/>
          </p:cNvPicPr>
          <p:nvPr/>
        </p:nvPicPr>
        <p:blipFill>
          <a:blip r:embed="rId4"/>
          <a:stretch>
            <a:fillRect/>
          </a:stretch>
        </p:blipFill>
        <p:spPr>
          <a:xfrm>
            <a:off x="8334207" y="3917655"/>
            <a:ext cx="266273" cy="266273"/>
          </a:xfrm>
          <a:prstGeom prst="rect">
            <a:avLst/>
          </a:prstGeom>
        </p:spPr>
      </p:pic>
      <p:sp>
        <p:nvSpPr>
          <p:cNvPr id="25" name="Text 19"/>
          <p:cNvSpPr txBox="1"/>
          <p:nvPr/>
        </p:nvSpPr>
        <p:spPr>
          <a:xfrm>
            <a:off x="8878824" y="3785616"/>
            <a:ext cx="2651760" cy="310896"/>
          </a:xfrm>
          <a:prstGeom prst="rect">
            <a:avLst/>
          </a:prstGeom>
          <a:noFill/>
          <a:ln/>
        </p:spPr>
        <p:txBody>
          <a:bodyPr wrap="square" lIns="0" tIns="0" rIns="0" bIns="0" rtlCol="0" anchor="t"/>
          <a:lstStyle/>
          <a:p>
            <a:pPr algn="l" indent="0" marL="0">
              <a:lnSpc>
                <a:spcPct val="100000"/>
              </a:lnSpc>
              <a:buNone/>
            </a:pPr>
            <a:r>
              <a:rPr lang="en-US" sz="1800" b="1" dirty="0">
                <a:solidFill>
                  <a:srgbClr val="0B1F44"/>
                </a:solidFill>
                <a:latin typeface="Arial" pitchFamily="34" charset="0"/>
                <a:ea typeface="Arial" pitchFamily="34" charset="-122"/>
                <a:cs typeface="Arial" pitchFamily="34" charset="-120"/>
              </a:rPr>
              <a:t>Salaahkaar</a:t>
            </a:r>
            <a:endParaRPr lang="en-US" sz="1800" dirty="0"/>
          </a:p>
        </p:txBody>
      </p:sp>
      <p:sp>
        <p:nvSpPr>
          <p:cNvPr id="26" name="Text 20"/>
          <p:cNvSpPr txBox="1"/>
          <p:nvPr/>
        </p:nvSpPr>
        <p:spPr>
          <a:xfrm>
            <a:off x="8878824" y="4096512"/>
            <a:ext cx="2651760" cy="237744"/>
          </a:xfrm>
          <a:prstGeom prst="rect">
            <a:avLst/>
          </a:prstGeom>
          <a:noFill/>
          <a:ln/>
        </p:spPr>
        <p:txBody>
          <a:bodyPr wrap="square" lIns="0" tIns="0" rIns="0" bIns="0" rtlCol="0" anchor="t"/>
          <a:lstStyle/>
          <a:p>
            <a:pPr algn="l" indent="0" marL="0">
              <a:lnSpc>
                <a:spcPct val="100000"/>
              </a:lnSpc>
              <a:buNone/>
            </a:pPr>
            <a:r>
              <a:rPr lang="en-US" sz="1150" b="1" dirty="0">
                <a:solidFill>
                  <a:srgbClr val="0072BC"/>
                </a:solidFill>
                <a:latin typeface="Arial" pitchFamily="34" charset="0"/>
                <a:ea typeface="Arial" pitchFamily="34" charset="-122"/>
                <a:cs typeface="Arial" pitchFamily="34" charset="-120"/>
              </a:rPr>
              <a:t>Turn data into decisions</a:t>
            </a:r>
            <a:endParaRPr lang="en-US" sz="1150" dirty="0"/>
          </a:p>
        </p:txBody>
      </p:sp>
      <p:sp>
        <p:nvSpPr>
          <p:cNvPr id="27" name="Text 21"/>
          <p:cNvSpPr txBox="1"/>
          <p:nvPr/>
        </p:nvSpPr>
        <p:spPr>
          <a:xfrm>
            <a:off x="8211312" y="4480560"/>
            <a:ext cx="3246120" cy="731520"/>
          </a:xfrm>
          <a:prstGeom prst="rect">
            <a:avLst/>
          </a:prstGeom>
          <a:noFill/>
          <a:ln/>
        </p:spPr>
        <p:txBody>
          <a:bodyPr wrap="square" lIns="0" tIns="0" rIns="0" bIns="0" rtlCol="0" anchor="t"/>
          <a:lstStyle/>
          <a:p>
            <a:pPr algn="l" indent="0" marL="0">
              <a:lnSpc>
                <a:spcPct val="105000"/>
              </a:lnSpc>
              <a:buNone/>
            </a:pPr>
            <a:r>
              <a:rPr lang="en-US" sz="1200" dirty="0">
                <a:solidFill>
                  <a:srgbClr val="0F1B33"/>
                </a:solidFill>
                <a:latin typeface="Arial" pitchFamily="34" charset="0"/>
                <a:ea typeface="Arial" pitchFamily="34" charset="-122"/>
                <a:cs typeface="Arial" pitchFamily="34" charset="-120"/>
              </a:rPr>
              <a:t>Ask in Hindi or Hinglish, out loud. Get grounded answers and one-tap actions.</a:t>
            </a:r>
            <a:endParaRPr lang="en-US" sz="1200" dirty="0"/>
          </a:p>
        </p:txBody>
      </p:sp>
      <p:sp>
        <p:nvSpPr>
          <p:cNvPr id="28" name="Text 22"/>
          <p:cNvSpPr txBox="1"/>
          <p:nvPr/>
        </p:nvSpPr>
        <p:spPr>
          <a:xfrm>
            <a:off x="10314432" y="3785616"/>
            <a:ext cx="841248" cy="237744"/>
          </a:xfrm>
          <a:prstGeom prst="roundRect">
            <a:avLst>
              <a:gd name="adj" fmla="val 50000"/>
            </a:avLst>
          </a:prstGeom>
          <a:solidFill>
            <a:srgbClr val="E3F1FA"/>
          </a:solidFill>
          <a:ln/>
        </p:spPr>
        <p:txBody>
          <a:bodyPr wrap="square" lIns="0" tIns="0" rIns="0" bIns="0" rtlCol="0" anchor="ctr"/>
          <a:lstStyle/>
          <a:p>
            <a:pPr algn="ctr" indent="0" marL="0">
              <a:lnSpc>
                <a:spcPct val="100000"/>
              </a:lnSpc>
              <a:buNone/>
            </a:pPr>
            <a:r>
              <a:rPr lang="en-US" sz="850" b="1" spc="60" kern="0" dirty="0">
                <a:solidFill>
                  <a:srgbClr val="005D99"/>
                </a:solidFill>
                <a:latin typeface="Arial" pitchFamily="34" charset="0"/>
                <a:ea typeface="Arial" pitchFamily="34" charset="-122"/>
                <a:cs typeface="Arial" pitchFamily="34" charset="-120"/>
              </a:rPr>
              <a:t>AI CORE</a:t>
            </a:r>
            <a:endParaRPr lang="en-US" sz="850" dirty="0"/>
          </a:p>
        </p:txBody>
      </p:sp>
      <p:sp>
        <p:nvSpPr>
          <p:cNvPr id="29" name="Shape 23"/>
          <p:cNvSpPr/>
          <p:nvPr/>
        </p:nvSpPr>
        <p:spPr>
          <a:xfrm>
            <a:off x="4663440" y="1572768"/>
            <a:ext cx="2862072" cy="2971800"/>
          </a:xfrm>
          <a:prstGeom prst="roundRect">
            <a:avLst>
              <a:gd name="adj" fmla="val 5751"/>
            </a:avLst>
          </a:prstGeom>
          <a:solidFill>
            <a:srgbClr val="0B1F44"/>
          </a:solidFill>
          <a:ln/>
        </p:spPr>
      </p:sp>
      <p:sp>
        <p:nvSpPr>
          <p:cNvPr id="30" name="Text 24"/>
          <p:cNvSpPr txBox="1"/>
          <p:nvPr/>
        </p:nvSpPr>
        <p:spPr>
          <a:xfrm>
            <a:off x="4892040" y="1783080"/>
            <a:ext cx="2468880" cy="228600"/>
          </a:xfrm>
          <a:prstGeom prst="rect">
            <a:avLst/>
          </a:prstGeom>
          <a:noFill/>
          <a:ln/>
        </p:spPr>
        <p:txBody>
          <a:bodyPr wrap="square" lIns="0" tIns="0" rIns="0" bIns="0" rtlCol="0" anchor="t"/>
          <a:lstStyle/>
          <a:p>
            <a:pPr algn="l" indent="0" marL="0">
              <a:lnSpc>
                <a:spcPct val="100000"/>
              </a:lnSpc>
              <a:buNone/>
            </a:pPr>
            <a:r>
              <a:rPr lang="en-US" sz="950" b="1" spc="120" kern="0" dirty="0">
                <a:solidFill>
                  <a:srgbClr val="8FD6F5"/>
                </a:solidFill>
                <a:latin typeface="Arial" pitchFamily="34" charset="0"/>
                <a:ea typeface="Arial" pitchFamily="34" charset="-122"/>
                <a:cs typeface="Arial" pitchFamily="34" charset="-120"/>
              </a:rPr>
              <a:t>ONE MERCHANT PROFILE</a:t>
            </a:r>
            <a:endParaRPr lang="en-US" sz="950" dirty="0"/>
          </a:p>
        </p:txBody>
      </p:sp>
      <p:sp>
        <p:nvSpPr>
          <p:cNvPr id="31" name="Text 25"/>
          <p:cNvSpPr txBox="1"/>
          <p:nvPr/>
        </p:nvSpPr>
        <p:spPr>
          <a:xfrm>
            <a:off x="4892040" y="2029968"/>
            <a:ext cx="2468880" cy="365760"/>
          </a:xfrm>
          <a:prstGeom prst="rect">
            <a:avLst/>
          </a:prstGeom>
          <a:noFill/>
          <a:ln/>
        </p:spPr>
        <p:txBody>
          <a:bodyPr wrap="square" lIns="0" tIns="0" rIns="0" bIns="0" rtlCol="0" anchor="t"/>
          <a:lstStyle/>
          <a:p>
            <a:pPr algn="l" indent="0" marL="0">
              <a:lnSpc>
                <a:spcPct val="100000"/>
              </a:lnSpc>
              <a:buNone/>
            </a:pPr>
            <a:r>
              <a:rPr lang="en-US" sz="1800" b="1" dirty="0">
                <a:solidFill>
                  <a:srgbClr val="FFFFFF"/>
                </a:solidFill>
                <a:latin typeface="Arial" pitchFamily="34" charset="0"/>
                <a:ea typeface="Arial" pitchFamily="34" charset="-122"/>
                <a:cs typeface="Arial" pitchFamily="34" charset="-120"/>
              </a:rPr>
              <a:t>Shared data layer</a:t>
            </a:r>
            <a:endParaRPr lang="en-US" sz="1800" dirty="0"/>
          </a:p>
        </p:txBody>
      </p:sp>
      <p:sp>
        <p:nvSpPr>
          <p:cNvPr id="32" name="Shape 26"/>
          <p:cNvSpPr/>
          <p:nvPr/>
        </p:nvSpPr>
        <p:spPr>
          <a:xfrm>
            <a:off x="4919472" y="2587752"/>
            <a:ext cx="91440" cy="91440"/>
          </a:xfrm>
          <a:prstGeom prst="ellipse">
            <a:avLst/>
          </a:prstGeom>
          <a:solidFill>
            <a:srgbClr val="00A7E1"/>
          </a:solidFill>
          <a:ln/>
        </p:spPr>
      </p:sp>
      <p:sp>
        <p:nvSpPr>
          <p:cNvPr id="33" name="Text 27"/>
          <p:cNvSpPr txBox="1"/>
          <p:nvPr/>
        </p:nvSpPr>
        <p:spPr>
          <a:xfrm>
            <a:off x="5120640" y="2487168"/>
            <a:ext cx="2286000" cy="292608"/>
          </a:xfrm>
          <a:prstGeom prst="rect">
            <a:avLst/>
          </a:prstGeom>
          <a:noFill/>
          <a:ln/>
        </p:spPr>
        <p:txBody>
          <a:bodyPr wrap="square" lIns="0" tIns="0" rIns="0" bIns="0" rtlCol="0" anchor="ctr"/>
          <a:lstStyle/>
          <a:p>
            <a:pPr algn="l" indent="0" marL="0">
              <a:lnSpc>
                <a:spcPct val="100000"/>
              </a:lnSpc>
              <a:buNone/>
            </a:pPr>
            <a:r>
              <a:rPr lang="en-US" sz="1200" dirty="0">
                <a:solidFill>
                  <a:srgbClr val="DCE7F7"/>
                </a:solidFill>
                <a:latin typeface="Arial" pitchFamily="34" charset="0"/>
                <a:ea typeface="Arial" pitchFamily="34" charset="-122"/>
                <a:cs typeface="Arial" pitchFamily="34" charset="-120"/>
              </a:rPr>
              <a:t>Catalogue &amp; prices</a:t>
            </a:r>
            <a:endParaRPr lang="en-US" sz="1200" dirty="0"/>
          </a:p>
        </p:txBody>
      </p:sp>
      <p:sp>
        <p:nvSpPr>
          <p:cNvPr id="34" name="Shape 28"/>
          <p:cNvSpPr/>
          <p:nvPr/>
        </p:nvSpPr>
        <p:spPr>
          <a:xfrm>
            <a:off x="4919472" y="2953512"/>
            <a:ext cx="91440" cy="91440"/>
          </a:xfrm>
          <a:prstGeom prst="ellipse">
            <a:avLst/>
          </a:prstGeom>
          <a:solidFill>
            <a:srgbClr val="00A7E1"/>
          </a:solidFill>
          <a:ln/>
        </p:spPr>
      </p:sp>
      <p:sp>
        <p:nvSpPr>
          <p:cNvPr id="35" name="Text 29"/>
          <p:cNvSpPr txBox="1"/>
          <p:nvPr/>
        </p:nvSpPr>
        <p:spPr>
          <a:xfrm>
            <a:off x="5120640" y="2852928"/>
            <a:ext cx="2286000" cy="292608"/>
          </a:xfrm>
          <a:prstGeom prst="rect">
            <a:avLst/>
          </a:prstGeom>
          <a:noFill/>
          <a:ln/>
        </p:spPr>
        <p:txBody>
          <a:bodyPr wrap="square" lIns="0" tIns="0" rIns="0" bIns="0" rtlCol="0" anchor="ctr"/>
          <a:lstStyle/>
          <a:p>
            <a:pPr algn="l" indent="0" marL="0">
              <a:lnSpc>
                <a:spcPct val="100000"/>
              </a:lnSpc>
              <a:buNone/>
            </a:pPr>
            <a:r>
              <a:rPr lang="en-US" sz="1200" dirty="0">
                <a:solidFill>
                  <a:srgbClr val="DCE7F7"/>
                </a:solidFill>
                <a:latin typeface="Arial" pitchFamily="34" charset="0"/>
                <a:ea typeface="Arial" pitchFamily="34" charset="-122"/>
                <a:cs typeface="Arial" pitchFamily="34" charset="-120"/>
              </a:rPr>
              <a:t>Bills &amp; online orders</a:t>
            </a:r>
            <a:endParaRPr lang="en-US" sz="1200" dirty="0"/>
          </a:p>
        </p:txBody>
      </p:sp>
      <p:sp>
        <p:nvSpPr>
          <p:cNvPr id="36" name="Shape 30"/>
          <p:cNvSpPr/>
          <p:nvPr/>
        </p:nvSpPr>
        <p:spPr>
          <a:xfrm>
            <a:off x="4919472" y="3319272"/>
            <a:ext cx="91440" cy="91440"/>
          </a:xfrm>
          <a:prstGeom prst="ellipse">
            <a:avLst/>
          </a:prstGeom>
          <a:solidFill>
            <a:srgbClr val="00A7E1"/>
          </a:solidFill>
          <a:ln/>
        </p:spPr>
      </p:sp>
      <p:sp>
        <p:nvSpPr>
          <p:cNvPr id="37" name="Text 31"/>
          <p:cNvSpPr txBox="1"/>
          <p:nvPr/>
        </p:nvSpPr>
        <p:spPr>
          <a:xfrm>
            <a:off x="5120640" y="3218688"/>
            <a:ext cx="2286000" cy="292608"/>
          </a:xfrm>
          <a:prstGeom prst="rect">
            <a:avLst/>
          </a:prstGeom>
          <a:noFill/>
          <a:ln/>
        </p:spPr>
        <p:txBody>
          <a:bodyPr wrap="square" lIns="0" tIns="0" rIns="0" bIns="0" rtlCol="0" anchor="ctr"/>
          <a:lstStyle/>
          <a:p>
            <a:pPr algn="l" indent="0" marL="0">
              <a:lnSpc>
                <a:spcPct val="100000"/>
              </a:lnSpc>
              <a:buNone/>
            </a:pPr>
            <a:r>
              <a:rPr lang="en-US" sz="1200" dirty="0">
                <a:solidFill>
                  <a:srgbClr val="DCE7F7"/>
                </a:solidFill>
                <a:latin typeface="Arial" pitchFamily="34" charset="0"/>
                <a:ea typeface="Arial" pitchFamily="34" charset="-122"/>
                <a:cs typeface="Arial" pitchFamily="34" charset="-120"/>
              </a:rPr>
              <a:t>Stock movements</a:t>
            </a:r>
            <a:endParaRPr lang="en-US" sz="1200" dirty="0"/>
          </a:p>
        </p:txBody>
      </p:sp>
      <p:sp>
        <p:nvSpPr>
          <p:cNvPr id="38" name="Shape 32"/>
          <p:cNvSpPr/>
          <p:nvPr/>
        </p:nvSpPr>
        <p:spPr>
          <a:xfrm>
            <a:off x="4919472" y="3685032"/>
            <a:ext cx="91440" cy="91440"/>
          </a:xfrm>
          <a:prstGeom prst="ellipse">
            <a:avLst/>
          </a:prstGeom>
          <a:solidFill>
            <a:srgbClr val="00A7E1"/>
          </a:solidFill>
          <a:ln/>
        </p:spPr>
      </p:sp>
      <p:sp>
        <p:nvSpPr>
          <p:cNvPr id="39" name="Text 33"/>
          <p:cNvSpPr txBox="1"/>
          <p:nvPr/>
        </p:nvSpPr>
        <p:spPr>
          <a:xfrm>
            <a:off x="5120640" y="3584448"/>
            <a:ext cx="2286000" cy="292608"/>
          </a:xfrm>
          <a:prstGeom prst="rect">
            <a:avLst/>
          </a:prstGeom>
          <a:noFill/>
          <a:ln/>
        </p:spPr>
        <p:txBody>
          <a:bodyPr wrap="square" lIns="0" tIns="0" rIns="0" bIns="0" rtlCol="0" anchor="ctr"/>
          <a:lstStyle/>
          <a:p>
            <a:pPr algn="l" indent="0" marL="0">
              <a:lnSpc>
                <a:spcPct val="100000"/>
              </a:lnSpc>
              <a:buNone/>
            </a:pPr>
            <a:r>
              <a:rPr lang="en-US" sz="1200" dirty="0">
                <a:solidFill>
                  <a:srgbClr val="DCE7F7"/>
                </a:solidFill>
                <a:latin typeface="Arial" pitchFamily="34" charset="0"/>
                <a:ea typeface="Arial" pitchFamily="34" charset="-122"/>
                <a:cs typeface="Arial" pitchFamily="34" charset="-120"/>
              </a:rPr>
              <a:t>Khata ledger</a:t>
            </a:r>
            <a:endParaRPr lang="en-US" sz="1200" dirty="0"/>
          </a:p>
        </p:txBody>
      </p:sp>
      <p:sp>
        <p:nvSpPr>
          <p:cNvPr id="40" name="Shape 34"/>
          <p:cNvSpPr/>
          <p:nvPr/>
        </p:nvSpPr>
        <p:spPr>
          <a:xfrm>
            <a:off x="4919472" y="4050792"/>
            <a:ext cx="91440" cy="91440"/>
          </a:xfrm>
          <a:prstGeom prst="ellipse">
            <a:avLst/>
          </a:prstGeom>
          <a:solidFill>
            <a:srgbClr val="00A7E1"/>
          </a:solidFill>
          <a:ln/>
        </p:spPr>
      </p:sp>
      <p:sp>
        <p:nvSpPr>
          <p:cNvPr id="41" name="Text 35"/>
          <p:cNvSpPr txBox="1"/>
          <p:nvPr/>
        </p:nvSpPr>
        <p:spPr>
          <a:xfrm>
            <a:off x="5120640" y="3950208"/>
            <a:ext cx="2286000" cy="292608"/>
          </a:xfrm>
          <a:prstGeom prst="rect">
            <a:avLst/>
          </a:prstGeom>
          <a:noFill/>
          <a:ln/>
        </p:spPr>
        <p:txBody>
          <a:bodyPr wrap="square" lIns="0" tIns="0" rIns="0" bIns="0" rtlCol="0" anchor="ctr"/>
          <a:lstStyle/>
          <a:p>
            <a:pPr algn="l" indent="0" marL="0">
              <a:lnSpc>
                <a:spcPct val="100000"/>
              </a:lnSpc>
              <a:buNone/>
            </a:pPr>
            <a:r>
              <a:rPr lang="en-US" sz="1200" dirty="0">
                <a:solidFill>
                  <a:srgbClr val="DCE7F7"/>
                </a:solidFill>
                <a:latin typeface="Arial" pitchFamily="34" charset="0"/>
                <a:ea typeface="Arial" pitchFamily="34" charset="-122"/>
                <a:cs typeface="Arial" pitchFamily="34" charset="-120"/>
              </a:rPr>
              <a:t>Payment status</a:t>
            </a:r>
            <a:endParaRPr lang="en-US" sz="1200" dirty="0"/>
          </a:p>
        </p:txBody>
      </p:sp>
      <p:sp>
        <p:nvSpPr>
          <p:cNvPr id="42" name="Shape 36"/>
          <p:cNvSpPr/>
          <p:nvPr/>
        </p:nvSpPr>
        <p:spPr>
          <a:xfrm>
            <a:off x="4206240" y="2459736"/>
            <a:ext cx="457200" cy="91"/>
          </a:xfrm>
          <a:prstGeom prst="line">
            <a:avLst/>
          </a:prstGeom>
          <a:noFill/>
          <a:ln w="22225">
            <a:solidFill>
              <a:srgbClr val="00A7E1"/>
            </a:solidFill>
            <a:prstDash val="solid"/>
          </a:ln>
        </p:spPr>
      </p:sp>
      <p:sp>
        <p:nvSpPr>
          <p:cNvPr id="43" name="Shape 37"/>
          <p:cNvSpPr/>
          <p:nvPr/>
        </p:nvSpPr>
        <p:spPr>
          <a:xfrm>
            <a:off x="4206240" y="3840480"/>
            <a:ext cx="457200" cy="91"/>
          </a:xfrm>
          <a:prstGeom prst="line">
            <a:avLst/>
          </a:prstGeom>
          <a:noFill/>
          <a:ln w="22225">
            <a:solidFill>
              <a:srgbClr val="00A7E1"/>
            </a:solidFill>
            <a:prstDash val="solid"/>
          </a:ln>
        </p:spPr>
      </p:sp>
      <p:sp>
        <p:nvSpPr>
          <p:cNvPr id="44" name="Shape 38"/>
          <p:cNvSpPr/>
          <p:nvPr/>
        </p:nvSpPr>
        <p:spPr>
          <a:xfrm>
            <a:off x="7525512" y="2459736"/>
            <a:ext cx="457200" cy="91"/>
          </a:xfrm>
          <a:prstGeom prst="line">
            <a:avLst/>
          </a:prstGeom>
          <a:noFill/>
          <a:ln w="22225">
            <a:solidFill>
              <a:srgbClr val="00A7E1"/>
            </a:solidFill>
            <a:prstDash val="solid"/>
          </a:ln>
        </p:spPr>
      </p:sp>
      <p:sp>
        <p:nvSpPr>
          <p:cNvPr id="45" name="Shape 39"/>
          <p:cNvSpPr/>
          <p:nvPr/>
        </p:nvSpPr>
        <p:spPr>
          <a:xfrm>
            <a:off x="7525512" y="3840480"/>
            <a:ext cx="457200" cy="91"/>
          </a:xfrm>
          <a:prstGeom prst="line">
            <a:avLst/>
          </a:prstGeom>
          <a:noFill/>
          <a:ln w="22225">
            <a:solidFill>
              <a:srgbClr val="00A7E1"/>
            </a:solidFill>
            <a:prstDash val="solid"/>
          </a:ln>
        </p:spPr>
      </p:sp>
      <p:sp>
        <p:nvSpPr>
          <p:cNvPr id="46" name="Shape 40"/>
          <p:cNvSpPr/>
          <p:nvPr/>
        </p:nvSpPr>
        <p:spPr>
          <a:xfrm flipV="1">
            <a:off x="6094476" y="4590288"/>
            <a:ext cx="91" cy="393192"/>
          </a:xfrm>
          <a:prstGeom prst="line">
            <a:avLst/>
          </a:prstGeom>
          <a:noFill/>
          <a:ln w="25400">
            <a:solidFill>
              <a:srgbClr val="00A7E1"/>
            </a:solidFill>
            <a:prstDash val="solid"/>
            <a:tailEnd type="triangle"/>
          </a:ln>
        </p:spPr>
      </p:sp>
      <p:sp>
        <p:nvSpPr>
          <p:cNvPr id="47" name="Shape 41"/>
          <p:cNvSpPr/>
          <p:nvPr/>
        </p:nvSpPr>
        <p:spPr>
          <a:xfrm>
            <a:off x="4663440" y="4983480"/>
            <a:ext cx="2862072" cy="713232"/>
          </a:xfrm>
          <a:prstGeom prst="roundRect">
            <a:avLst>
              <a:gd name="adj" fmla="val 17949"/>
            </a:avLst>
          </a:prstGeom>
          <a:solidFill>
            <a:srgbClr val="0072BC"/>
          </a:solidFill>
          <a:ln/>
        </p:spPr>
      </p:sp>
      <p:pic>
        <p:nvPicPr>
          <p:cNvPr id="48" name="Image 4" descr="/private/tmp/claude-501/-Users-jaypandey-Library-Application-Support-Claude-scratch-workspaces-e205fcbe-ff17-47a0-b0da-08b9c2cd8dd1-9a575c31-2854-4c86-a69f-21eba1183528-scratch-2026-09-25-918942/ab509d62-e048-41fc-927b-5525291df5de/scratchpad/img/icons/LuShieldCheck_FFFFFF.png">    </p:cNvPr>
          <p:cNvPicPr>
            <a:picLocks noChangeAspect="1"/>
          </p:cNvPicPr>
          <p:nvPr/>
        </p:nvPicPr>
        <p:blipFill>
          <a:blip r:embed="rId5"/>
          <a:stretch>
            <a:fillRect/>
          </a:stretch>
        </p:blipFill>
        <p:spPr>
          <a:xfrm>
            <a:off x="4828032" y="5157216"/>
            <a:ext cx="329184" cy="329184"/>
          </a:xfrm>
          <a:prstGeom prst="rect">
            <a:avLst/>
          </a:prstGeom>
        </p:spPr>
      </p:pic>
      <p:sp>
        <p:nvSpPr>
          <p:cNvPr id="49" name="Text 42"/>
          <p:cNvSpPr txBox="1"/>
          <p:nvPr/>
        </p:nvSpPr>
        <p:spPr>
          <a:xfrm>
            <a:off x="5257800" y="5056632"/>
            <a:ext cx="2240280" cy="274320"/>
          </a:xfrm>
          <a:prstGeom prst="rect">
            <a:avLst/>
          </a:prstGeom>
          <a:noFill/>
          <a:ln/>
        </p:spPr>
        <p:txBody>
          <a:bodyPr wrap="square" lIns="0" tIns="0" rIns="0" bIns="0" rtlCol="0" anchor="t"/>
          <a:lstStyle/>
          <a:p>
            <a:pPr algn="l" indent="0" marL="0">
              <a:lnSpc>
                <a:spcPct val="100000"/>
              </a:lnSpc>
              <a:buNone/>
            </a:pPr>
            <a:r>
              <a:rPr lang="en-US" sz="1200" b="1" dirty="0">
                <a:solidFill>
                  <a:srgbClr val="FFFFFF"/>
                </a:solidFill>
                <a:latin typeface="Arial" pitchFamily="34" charset="0"/>
                <a:ea typeface="Arial" pitchFamily="34" charset="-122"/>
                <a:cs typeface="Arial" pitchFamily="34" charset="-120"/>
              </a:rPr>
              <a:t>Paytm payments underneath</a:t>
            </a:r>
            <a:endParaRPr lang="en-US" sz="1200" dirty="0"/>
          </a:p>
        </p:txBody>
      </p:sp>
      <p:sp>
        <p:nvSpPr>
          <p:cNvPr id="50" name="Text 43"/>
          <p:cNvSpPr txBox="1"/>
          <p:nvPr/>
        </p:nvSpPr>
        <p:spPr>
          <a:xfrm>
            <a:off x="5257800" y="5330952"/>
            <a:ext cx="2240280" cy="274320"/>
          </a:xfrm>
          <a:prstGeom prst="rect">
            <a:avLst/>
          </a:prstGeom>
          <a:noFill/>
          <a:ln/>
        </p:spPr>
        <p:txBody>
          <a:bodyPr wrap="square" lIns="0" tIns="0" rIns="0" bIns="0" rtlCol="0" anchor="t"/>
          <a:lstStyle/>
          <a:p>
            <a:pPr algn="l" indent="0" marL="0">
              <a:lnSpc>
                <a:spcPct val="100000"/>
              </a:lnSpc>
              <a:buNone/>
            </a:pPr>
            <a:r>
              <a:rPr lang="en-US" sz="1000" dirty="0">
                <a:solidFill>
                  <a:srgbClr val="DCEFFA"/>
                </a:solidFill>
                <a:latin typeface="Arial" pitchFamily="34" charset="0"/>
                <a:ea typeface="Arial" pitchFamily="34" charset="-122"/>
                <a:cs typeface="Arial" pitchFamily="34" charset="-120"/>
              </a:rPr>
              <a:t>Checkout · UPI · verified events</a:t>
            </a:r>
            <a:endParaRPr lang="en-US" sz="1000" dirty="0"/>
          </a:p>
        </p:txBody>
      </p:sp>
      <p:sp>
        <p:nvSpPr>
          <p:cNvPr id="51" name="Text 44"/>
          <p:cNvSpPr txBox="1"/>
          <p:nvPr/>
        </p:nvSpPr>
        <p:spPr>
          <a:xfrm>
            <a:off x="548640" y="5897880"/>
            <a:ext cx="11064240" cy="320040"/>
          </a:xfrm>
          <a:prstGeom prst="rect">
            <a:avLst/>
          </a:prstGeom>
          <a:noFill/>
          <a:ln/>
        </p:spPr>
        <p:txBody>
          <a:bodyPr wrap="square" lIns="0" tIns="0" rIns="0" bIns="0" rtlCol="0" anchor="t"/>
          <a:lstStyle/>
          <a:p>
            <a:pPr algn="l" indent="0" marL="0">
              <a:lnSpc>
                <a:spcPct val="100000"/>
              </a:lnSpc>
              <a:buNone/>
            </a:pPr>
            <a:r>
              <a:rPr lang="en-US" sz="1300" b="1" dirty="0">
                <a:solidFill>
                  <a:srgbClr val="0B1F44"/>
                </a:solidFill>
                <a:latin typeface="Arial" pitchFamily="34" charset="0"/>
                <a:ea typeface="Arial" pitchFamily="34" charset="-122"/>
                <a:cs typeface="Arial" pitchFamily="34" charset="-120"/>
              </a:rPr>
              <a:t>Not four apps stitched together. </a:t>
            </a:r>
            <a:pPr algn="l" indent="0" marL="0">
              <a:lnSpc>
                <a:spcPct val="100000"/>
              </a:lnSpc>
              <a:buNone/>
            </a:pPr>
            <a:r>
              <a:rPr lang="en-US" sz="1300" dirty="0">
                <a:solidFill>
                  <a:srgbClr val="0F1B33"/>
                </a:solidFill>
                <a:latin typeface="Arial" pitchFamily="34" charset="0"/>
                <a:ea typeface="Arial" pitchFamily="34" charset="-122"/>
                <a:cs typeface="Arial" pitchFamily="34" charset="-120"/>
              </a:rPr>
              <a:t>Every bill, order and payment updates the same record, so Salaahkaar always has something true to say.</a:t>
            </a:r>
            <a:endParaRPr lang="en-US" sz="1300" dirty="0"/>
          </a:p>
        </p:txBody>
      </p:sp>
      <p:sp>
        <p:nvSpPr>
          <p:cNvPr id="52" name="Text 45"/>
          <p:cNvSpPr txBox="1"/>
          <p:nvPr/>
        </p:nvSpPr>
        <p:spPr>
          <a:xfrm>
            <a:off x="548640" y="6419088"/>
            <a:ext cx="4572000" cy="228600"/>
          </a:xfrm>
          <a:prstGeom prst="rect">
            <a:avLst/>
          </a:prstGeom>
          <a:noFill/>
          <a:ln/>
        </p:spPr>
        <p:txBody>
          <a:bodyPr wrap="square" lIns="0" tIns="0" rIns="0" bIns="0" rtlCol="0" anchor="t"/>
          <a:lstStyle/>
          <a:p>
            <a:pPr algn="l" indent="0" marL="0">
              <a:lnSpc>
                <a:spcPct val="100000"/>
              </a:lnSpc>
              <a:buNone/>
            </a:pPr>
            <a:r>
              <a:rPr lang="en-US" sz="900" b="1" dirty="0">
                <a:solidFill>
                  <a:srgbClr val="8A99B3"/>
                </a:solidFill>
                <a:latin typeface="Arial" pitchFamily="34" charset="0"/>
                <a:ea typeface="Arial" pitchFamily="34" charset="-122"/>
                <a:cs typeface="Arial" pitchFamily="34" charset="-120"/>
              </a:rPr>
              <a:t>Kirana Shop AI</a:t>
            </a:r>
            <a:endParaRPr lang="en-US" sz="900" dirty="0"/>
          </a:p>
        </p:txBody>
      </p:sp>
      <p:sp>
        <p:nvSpPr>
          <p:cNvPr id="53" name="Text 46"/>
          <p:cNvSpPr txBox="1"/>
          <p:nvPr/>
        </p:nvSpPr>
        <p:spPr>
          <a:xfrm>
            <a:off x="9354312" y="6419088"/>
            <a:ext cx="2286000" cy="228600"/>
          </a:xfrm>
          <a:prstGeom prst="rect">
            <a:avLst/>
          </a:prstGeom>
          <a:noFill/>
          <a:ln/>
        </p:spPr>
        <p:txBody>
          <a:bodyPr wrap="square" lIns="0" tIns="0" rIns="0" bIns="0" rtlCol="0" anchor="t"/>
          <a:lstStyle/>
          <a:p>
            <a:pPr algn="r" indent="0" marL="0">
              <a:lnSpc>
                <a:spcPct val="100000"/>
              </a:lnSpc>
              <a:buNone/>
            </a:pPr>
            <a:r>
              <a:rPr lang="en-US" sz="900" dirty="0">
                <a:solidFill>
                  <a:srgbClr val="8A99B3"/>
                </a:solidFill>
                <a:latin typeface="Arial" pitchFamily="34" charset="0"/>
                <a:ea typeface="Arial" pitchFamily="34" charset="-122"/>
                <a:cs typeface="Arial" pitchFamily="34" charset="-120"/>
              </a:rPr>
              <a:t>04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072BC"/>
                </a:solidFill>
                <a:latin typeface="Arial" pitchFamily="34" charset="0"/>
                <a:ea typeface="Arial" pitchFamily="34" charset="-122"/>
                <a:cs typeface="Arial" pitchFamily="34" charset="-120"/>
              </a:rPr>
              <a:t>COUNTER AND SHOP</a:t>
            </a:r>
            <a:endParaRPr lang="en-US" sz="1100" dirty="0"/>
          </a:p>
        </p:txBody>
      </p:sp>
      <p:sp>
        <p:nvSpPr>
          <p:cNvPr id="3" name="Text 1"/>
          <p:cNvSpPr txBox="1"/>
          <p:nvPr/>
        </p:nvSpPr>
        <p:spPr>
          <a:xfrm>
            <a:off x="548640" y="676656"/>
            <a:ext cx="11064240" cy="566928"/>
          </a:xfrm>
          <a:prstGeom prst="rect">
            <a:avLst/>
          </a:prstGeom>
          <a:noFill/>
          <a:ln/>
        </p:spPr>
        <p:txBody>
          <a:bodyPr wrap="square" lIns="0" tIns="0" rIns="0" bIns="0" rtlCol="0" anchor="t"/>
          <a:lstStyle/>
          <a:p>
            <a:pPr algn="l" indent="0" marL="0">
              <a:lnSpc>
                <a:spcPct val="100000"/>
              </a:lnSpc>
              <a:buNone/>
            </a:pPr>
            <a:r>
              <a:rPr lang="en-US" sz="3000" b="1" dirty="0">
                <a:solidFill>
                  <a:srgbClr val="0B1F44"/>
                </a:solidFill>
                <a:latin typeface="Arial" pitchFamily="34" charset="0"/>
                <a:ea typeface="Arial" pitchFamily="34" charset="-122"/>
                <a:cs typeface="Arial" pitchFamily="34" charset="-120"/>
              </a:rPr>
              <a:t>Sell at the counter. Sell from the QR. Same catalogue.</a:t>
            </a:r>
            <a:endParaRPr lang="en-US" sz="3000" dirty="0"/>
          </a:p>
        </p:txBody>
      </p:sp>
      <p:sp>
        <p:nvSpPr>
          <p:cNvPr id="4" name="Text 2"/>
          <p:cNvSpPr txBox="1"/>
          <p:nvPr/>
        </p:nvSpPr>
        <p:spPr>
          <a:xfrm>
            <a:off x="548640" y="1417320"/>
            <a:ext cx="3108960" cy="256032"/>
          </a:xfrm>
          <a:prstGeom prst="rect">
            <a:avLst/>
          </a:prstGeom>
          <a:noFill/>
          <a:ln/>
        </p:spPr>
        <p:txBody>
          <a:bodyPr wrap="square" lIns="0" tIns="0" rIns="0" bIns="0" rtlCol="0" anchor="t"/>
          <a:lstStyle/>
          <a:p>
            <a:pPr algn="l" indent="0" marL="0">
              <a:lnSpc>
                <a:spcPct val="100000"/>
              </a:lnSpc>
              <a:buNone/>
            </a:pPr>
            <a:r>
              <a:rPr lang="en-US" sz="1100" b="1" spc="100" kern="0" dirty="0">
                <a:solidFill>
                  <a:srgbClr val="0072BC"/>
                </a:solidFill>
                <a:latin typeface="Arial" pitchFamily="34" charset="0"/>
                <a:ea typeface="Arial" pitchFamily="34" charset="-122"/>
                <a:cs typeface="Arial" pitchFamily="34" charset="-120"/>
              </a:rPr>
              <a:t>COUNTER</a:t>
            </a:r>
            <a:pPr algn="l" indent="0" marL="0">
              <a:lnSpc>
                <a:spcPct val="100000"/>
              </a:lnSpc>
              <a:buNone/>
            </a:pPr>
            <a:r>
              <a:rPr lang="en-US" sz="1100" b="1" spc="100" kern="0" dirty="0">
                <a:solidFill>
                  <a:srgbClr val="5A6A85"/>
                </a:solidFill>
                <a:latin typeface="Arial" pitchFamily="34" charset="0"/>
                <a:ea typeface="Arial" pitchFamily="34" charset="-122"/>
                <a:cs typeface="Arial" pitchFamily="34" charset="-120"/>
              </a:rPr>
              <a:t>  ·  one bill, four ways in</a:t>
            </a:r>
            <a:endParaRPr lang="en-US" sz="1100" dirty="0"/>
          </a:p>
        </p:txBody>
      </p:sp>
      <p:sp>
        <p:nvSpPr>
          <p:cNvPr id="5" name="Shape 3"/>
          <p:cNvSpPr/>
          <p:nvPr/>
        </p:nvSpPr>
        <p:spPr>
          <a:xfrm>
            <a:off x="548640" y="1783080"/>
            <a:ext cx="1463040" cy="1097280"/>
          </a:xfrm>
          <a:prstGeom prst="roundRect">
            <a:avLst>
              <a:gd name="adj" fmla="val 11667"/>
            </a:avLst>
          </a:prstGeom>
          <a:solidFill>
            <a:srgbClr val="F4F8FC"/>
          </a:solidFill>
          <a:ln/>
        </p:spPr>
      </p:sp>
      <p:pic>
        <p:nvPicPr>
          <p:cNvPr id="6" name="Image 0" descr="/private/tmp/claude-501/-Users-jaypandey-Library-Application-Support-Claude-scratch-workspaces-e205fcbe-ff17-47a0-b0da-08b9c2cd8dd1-9a575c31-2854-4c86-a69f-21eba1183528-scratch-2026-09-25-918942/ab509d62-e048-41fc-927b-5525291df5de/scratchpad/img/icons/LuScanBarcode_0072BC.png">    </p:cNvPr>
          <p:cNvPicPr>
            <a:picLocks noChangeAspect="1"/>
          </p:cNvPicPr>
          <p:nvPr/>
        </p:nvPicPr>
        <p:blipFill>
          <a:blip r:embed="rId1"/>
          <a:stretch>
            <a:fillRect/>
          </a:stretch>
        </p:blipFill>
        <p:spPr>
          <a:xfrm>
            <a:off x="713232" y="1947672"/>
            <a:ext cx="310896" cy="310896"/>
          </a:xfrm>
          <a:prstGeom prst="rect">
            <a:avLst/>
          </a:prstGeom>
        </p:spPr>
      </p:pic>
      <p:sp>
        <p:nvSpPr>
          <p:cNvPr id="7" name="Text 4"/>
          <p:cNvSpPr txBox="1"/>
          <p:nvPr/>
        </p:nvSpPr>
        <p:spPr>
          <a:xfrm>
            <a:off x="713232" y="2313432"/>
            <a:ext cx="1234440" cy="237744"/>
          </a:xfrm>
          <a:prstGeom prst="rect">
            <a:avLst/>
          </a:prstGeom>
          <a:noFill/>
          <a:ln/>
        </p:spPr>
        <p:txBody>
          <a:bodyPr wrap="square" lIns="0" tIns="0" rIns="0" bIns="0" rtlCol="0" anchor="t"/>
          <a:lstStyle/>
          <a:p>
            <a:pPr algn="l" indent="0" marL="0">
              <a:lnSpc>
                <a:spcPct val="100000"/>
              </a:lnSpc>
              <a:buNone/>
            </a:pPr>
            <a:r>
              <a:rPr lang="en-US" sz="1300" b="1" dirty="0">
                <a:solidFill>
                  <a:srgbClr val="0B1F44"/>
                </a:solidFill>
                <a:latin typeface="Arial" pitchFamily="34" charset="0"/>
                <a:ea typeface="Arial" pitchFamily="34" charset="-122"/>
                <a:cs typeface="Arial" pitchFamily="34" charset="-120"/>
              </a:rPr>
              <a:t>Barcode</a:t>
            </a:r>
            <a:endParaRPr lang="en-US" sz="1300" dirty="0"/>
          </a:p>
        </p:txBody>
      </p:sp>
      <p:sp>
        <p:nvSpPr>
          <p:cNvPr id="8" name="Text 5"/>
          <p:cNvSpPr txBox="1"/>
          <p:nvPr/>
        </p:nvSpPr>
        <p:spPr>
          <a:xfrm>
            <a:off x="713232" y="2551176"/>
            <a:ext cx="1280160" cy="228600"/>
          </a:xfrm>
          <a:prstGeom prst="rect">
            <a:avLst/>
          </a:prstGeom>
          <a:noFill/>
          <a:ln/>
        </p:spPr>
        <p:txBody>
          <a:bodyPr wrap="square" lIns="0" tIns="0" rIns="0" bIns="0" rtlCol="0" anchor="t"/>
          <a:lstStyle/>
          <a:p>
            <a:pPr algn="l" indent="0" marL="0">
              <a:lnSpc>
                <a:spcPct val="100000"/>
              </a:lnSpc>
              <a:buNone/>
            </a:pPr>
            <a:r>
              <a:rPr lang="en-US" sz="950" dirty="0">
                <a:solidFill>
                  <a:srgbClr val="5A6A85"/>
                </a:solidFill>
                <a:latin typeface="Arial" pitchFamily="34" charset="0"/>
                <a:ea typeface="Arial" pitchFamily="34" charset="-122"/>
                <a:cs typeface="Arial" pitchFamily="34" charset="-120"/>
              </a:rPr>
              <a:t>Scan the pack</a:t>
            </a:r>
            <a:endParaRPr lang="en-US" sz="950" dirty="0"/>
          </a:p>
        </p:txBody>
      </p:sp>
      <p:sp>
        <p:nvSpPr>
          <p:cNvPr id="9" name="Shape 6"/>
          <p:cNvSpPr/>
          <p:nvPr/>
        </p:nvSpPr>
        <p:spPr>
          <a:xfrm>
            <a:off x="2121408" y="1783080"/>
            <a:ext cx="1463040" cy="1097280"/>
          </a:xfrm>
          <a:prstGeom prst="roundRect">
            <a:avLst>
              <a:gd name="adj" fmla="val 11667"/>
            </a:avLst>
          </a:prstGeom>
          <a:solidFill>
            <a:srgbClr val="F4F8FC"/>
          </a:solidFill>
          <a:ln/>
        </p:spPr>
      </p:sp>
      <p:pic>
        <p:nvPicPr>
          <p:cNvPr id="10" name="Image 1" descr="/private/tmp/claude-501/-Users-jaypandey-Library-Application-Support-Claude-scratch-workspaces-e205fcbe-ff17-47a0-b0da-08b9c2cd8dd1-9a575c31-2854-4c86-a69f-21eba1183528-scratch-2026-09-25-918942/ab509d62-e048-41fc-927b-5525291df5de/scratchpad/img/icons/LuCamera_0072BC.png">    </p:cNvPr>
          <p:cNvPicPr>
            <a:picLocks noChangeAspect="1"/>
          </p:cNvPicPr>
          <p:nvPr/>
        </p:nvPicPr>
        <p:blipFill>
          <a:blip r:embed="rId2"/>
          <a:stretch>
            <a:fillRect/>
          </a:stretch>
        </p:blipFill>
        <p:spPr>
          <a:xfrm>
            <a:off x="2286000" y="1947672"/>
            <a:ext cx="310896" cy="310896"/>
          </a:xfrm>
          <a:prstGeom prst="rect">
            <a:avLst/>
          </a:prstGeom>
        </p:spPr>
      </p:pic>
      <p:sp>
        <p:nvSpPr>
          <p:cNvPr id="11" name="Text 7"/>
          <p:cNvSpPr txBox="1"/>
          <p:nvPr/>
        </p:nvSpPr>
        <p:spPr>
          <a:xfrm>
            <a:off x="2286000" y="2313432"/>
            <a:ext cx="1234440" cy="237744"/>
          </a:xfrm>
          <a:prstGeom prst="rect">
            <a:avLst/>
          </a:prstGeom>
          <a:noFill/>
          <a:ln/>
        </p:spPr>
        <p:txBody>
          <a:bodyPr wrap="square" lIns="0" tIns="0" rIns="0" bIns="0" rtlCol="0" anchor="t"/>
          <a:lstStyle/>
          <a:p>
            <a:pPr algn="l" indent="0" marL="0">
              <a:lnSpc>
                <a:spcPct val="100000"/>
              </a:lnSpc>
              <a:buNone/>
            </a:pPr>
            <a:r>
              <a:rPr lang="en-US" sz="1300" b="1" dirty="0">
                <a:solidFill>
                  <a:srgbClr val="0B1F44"/>
                </a:solidFill>
                <a:latin typeface="Arial" pitchFamily="34" charset="0"/>
                <a:ea typeface="Arial" pitchFamily="34" charset="-122"/>
                <a:cs typeface="Arial" pitchFamily="34" charset="-120"/>
              </a:rPr>
              <a:t>Photo</a:t>
            </a:r>
            <a:endParaRPr lang="en-US" sz="1300" dirty="0"/>
          </a:p>
        </p:txBody>
      </p:sp>
      <p:sp>
        <p:nvSpPr>
          <p:cNvPr id="12" name="Text 8"/>
          <p:cNvSpPr txBox="1"/>
          <p:nvPr/>
        </p:nvSpPr>
        <p:spPr>
          <a:xfrm>
            <a:off x="2286000" y="2551176"/>
            <a:ext cx="1280160" cy="228600"/>
          </a:xfrm>
          <a:prstGeom prst="rect">
            <a:avLst/>
          </a:prstGeom>
          <a:noFill/>
          <a:ln/>
        </p:spPr>
        <p:txBody>
          <a:bodyPr wrap="square" lIns="0" tIns="0" rIns="0" bIns="0" rtlCol="0" anchor="t"/>
          <a:lstStyle/>
          <a:p>
            <a:pPr algn="l" indent="0" marL="0">
              <a:lnSpc>
                <a:spcPct val="100000"/>
              </a:lnSpc>
              <a:buNone/>
            </a:pPr>
            <a:r>
              <a:rPr lang="en-US" sz="950" dirty="0">
                <a:solidFill>
                  <a:srgbClr val="5A6A85"/>
                </a:solidFill>
                <a:latin typeface="Arial" pitchFamily="34" charset="0"/>
                <a:ea typeface="Arial" pitchFamily="34" charset="-122"/>
                <a:cs typeface="Arial" pitchFamily="34" charset="-120"/>
              </a:rPr>
              <a:t>Point the camera</a:t>
            </a:r>
            <a:endParaRPr lang="en-US" sz="950" dirty="0"/>
          </a:p>
        </p:txBody>
      </p:sp>
      <p:sp>
        <p:nvSpPr>
          <p:cNvPr id="13" name="Shape 9"/>
          <p:cNvSpPr/>
          <p:nvPr/>
        </p:nvSpPr>
        <p:spPr>
          <a:xfrm>
            <a:off x="548640" y="2990088"/>
            <a:ext cx="1463040" cy="1097280"/>
          </a:xfrm>
          <a:prstGeom prst="roundRect">
            <a:avLst>
              <a:gd name="adj" fmla="val 11667"/>
            </a:avLst>
          </a:prstGeom>
          <a:solidFill>
            <a:srgbClr val="F4F8FC"/>
          </a:solidFill>
          <a:ln/>
        </p:spPr>
      </p:sp>
      <p:pic>
        <p:nvPicPr>
          <p:cNvPr id="14" name="Image 2" descr="/private/tmp/claude-501/-Users-jaypandey-Library-Application-Support-Claude-scratch-workspaces-e205fcbe-ff17-47a0-b0da-08b9c2cd8dd1-9a575c31-2854-4c86-a69f-21eba1183528-scratch-2026-09-25-918942/ab509d62-e048-41fc-927b-5525291df5de/scratchpad/img/icons/LuMic_0072BC.png">    </p:cNvPr>
          <p:cNvPicPr>
            <a:picLocks noChangeAspect="1"/>
          </p:cNvPicPr>
          <p:nvPr/>
        </p:nvPicPr>
        <p:blipFill>
          <a:blip r:embed="rId3"/>
          <a:stretch>
            <a:fillRect/>
          </a:stretch>
        </p:blipFill>
        <p:spPr>
          <a:xfrm>
            <a:off x="713232" y="3154680"/>
            <a:ext cx="310896" cy="310896"/>
          </a:xfrm>
          <a:prstGeom prst="rect">
            <a:avLst/>
          </a:prstGeom>
        </p:spPr>
      </p:pic>
      <p:sp>
        <p:nvSpPr>
          <p:cNvPr id="15" name="Text 10"/>
          <p:cNvSpPr txBox="1"/>
          <p:nvPr/>
        </p:nvSpPr>
        <p:spPr>
          <a:xfrm>
            <a:off x="713232" y="3520440"/>
            <a:ext cx="1234440" cy="237744"/>
          </a:xfrm>
          <a:prstGeom prst="rect">
            <a:avLst/>
          </a:prstGeom>
          <a:noFill/>
          <a:ln/>
        </p:spPr>
        <p:txBody>
          <a:bodyPr wrap="square" lIns="0" tIns="0" rIns="0" bIns="0" rtlCol="0" anchor="t"/>
          <a:lstStyle/>
          <a:p>
            <a:pPr algn="l" indent="0" marL="0">
              <a:lnSpc>
                <a:spcPct val="100000"/>
              </a:lnSpc>
              <a:buNone/>
            </a:pPr>
            <a:r>
              <a:rPr lang="en-US" sz="1300" b="1" dirty="0">
                <a:solidFill>
                  <a:srgbClr val="0B1F44"/>
                </a:solidFill>
                <a:latin typeface="Arial" pitchFamily="34" charset="0"/>
                <a:ea typeface="Arial" pitchFamily="34" charset="-122"/>
                <a:cs typeface="Arial" pitchFamily="34" charset="-120"/>
              </a:rPr>
              <a:t>Voice</a:t>
            </a:r>
            <a:endParaRPr lang="en-US" sz="1300" dirty="0"/>
          </a:p>
        </p:txBody>
      </p:sp>
      <p:sp>
        <p:nvSpPr>
          <p:cNvPr id="16" name="Text 11"/>
          <p:cNvSpPr txBox="1"/>
          <p:nvPr/>
        </p:nvSpPr>
        <p:spPr>
          <a:xfrm>
            <a:off x="713232" y="3758184"/>
            <a:ext cx="1280160" cy="228600"/>
          </a:xfrm>
          <a:prstGeom prst="rect">
            <a:avLst/>
          </a:prstGeom>
          <a:noFill/>
          <a:ln/>
        </p:spPr>
        <p:txBody>
          <a:bodyPr wrap="square" lIns="0" tIns="0" rIns="0" bIns="0" rtlCol="0" anchor="t"/>
          <a:lstStyle/>
          <a:p>
            <a:pPr algn="l" indent="0" marL="0">
              <a:lnSpc>
                <a:spcPct val="100000"/>
              </a:lnSpc>
              <a:buNone/>
            </a:pPr>
            <a:r>
              <a:rPr lang="en-US" sz="950" dirty="0">
                <a:solidFill>
                  <a:srgbClr val="5A6A85"/>
                </a:solidFill>
                <a:latin typeface="Arial" pitchFamily="34" charset="0"/>
                <a:ea typeface="Arial" pitchFamily="34" charset="-122"/>
                <a:cs typeface="Arial" pitchFamily="34" charset="-120"/>
              </a:rPr>
              <a:t>“2 doodh, 1 bread”</a:t>
            </a:r>
            <a:endParaRPr lang="en-US" sz="950" dirty="0"/>
          </a:p>
        </p:txBody>
      </p:sp>
      <p:sp>
        <p:nvSpPr>
          <p:cNvPr id="17" name="Shape 12"/>
          <p:cNvSpPr/>
          <p:nvPr/>
        </p:nvSpPr>
        <p:spPr>
          <a:xfrm>
            <a:off x="2121408" y="2990088"/>
            <a:ext cx="1463040" cy="1097280"/>
          </a:xfrm>
          <a:prstGeom prst="roundRect">
            <a:avLst>
              <a:gd name="adj" fmla="val 11667"/>
            </a:avLst>
          </a:prstGeom>
          <a:solidFill>
            <a:srgbClr val="0B1F44"/>
          </a:solidFill>
          <a:ln/>
        </p:spPr>
      </p:sp>
      <p:pic>
        <p:nvPicPr>
          <p:cNvPr id="18" name="Image 3" descr="/private/tmp/claude-501/-Users-jaypandey-Library-Application-Support-Claude-scratch-workspaces-e205fcbe-ff17-47a0-b0da-08b9c2cd8dd1-9a575c31-2854-4c86-a69f-21eba1183528-scratch-2026-09-25-918942/ab509d62-e048-41fc-927b-5525291df5de/scratchpad/img/icons/LuReceiptText_8FD6F5.png">    </p:cNvPr>
          <p:cNvPicPr>
            <a:picLocks noChangeAspect="1"/>
          </p:cNvPicPr>
          <p:nvPr/>
        </p:nvPicPr>
        <p:blipFill>
          <a:blip r:embed="rId4"/>
          <a:stretch>
            <a:fillRect/>
          </a:stretch>
        </p:blipFill>
        <p:spPr>
          <a:xfrm>
            <a:off x="2286000" y="3154680"/>
            <a:ext cx="310896" cy="310896"/>
          </a:xfrm>
          <a:prstGeom prst="rect">
            <a:avLst/>
          </a:prstGeom>
        </p:spPr>
      </p:pic>
      <p:sp>
        <p:nvSpPr>
          <p:cNvPr id="19" name="Text 13"/>
          <p:cNvSpPr txBox="1"/>
          <p:nvPr/>
        </p:nvSpPr>
        <p:spPr>
          <a:xfrm>
            <a:off x="2286000" y="3520440"/>
            <a:ext cx="1234440" cy="237744"/>
          </a:xfrm>
          <a:prstGeom prst="rect">
            <a:avLst/>
          </a:prstGeom>
          <a:noFill/>
          <a:ln/>
        </p:spPr>
        <p:txBody>
          <a:bodyPr wrap="square" lIns="0" tIns="0" rIns="0" bIns="0" rtlCol="0" anchor="t"/>
          <a:lstStyle/>
          <a:p>
            <a:pPr algn="l" indent="0" marL="0">
              <a:lnSpc>
                <a:spcPct val="100000"/>
              </a:lnSpc>
              <a:buNone/>
            </a:pPr>
            <a:r>
              <a:rPr lang="en-US" sz="1300" b="1" dirty="0">
                <a:solidFill>
                  <a:srgbClr val="FFFFFF"/>
                </a:solidFill>
                <a:latin typeface="Arial" pitchFamily="34" charset="0"/>
                <a:ea typeface="Arial" pitchFamily="34" charset="-122"/>
                <a:cs typeface="Arial" pitchFamily="34" charset="-120"/>
              </a:rPr>
              <a:t>Parchi</a:t>
            </a:r>
            <a:endParaRPr lang="en-US" sz="1300" dirty="0"/>
          </a:p>
        </p:txBody>
      </p:sp>
      <p:sp>
        <p:nvSpPr>
          <p:cNvPr id="20" name="Text 14"/>
          <p:cNvSpPr txBox="1"/>
          <p:nvPr/>
        </p:nvSpPr>
        <p:spPr>
          <a:xfrm>
            <a:off x="2286000" y="3758184"/>
            <a:ext cx="1280160" cy="228600"/>
          </a:xfrm>
          <a:prstGeom prst="rect">
            <a:avLst/>
          </a:prstGeom>
          <a:noFill/>
          <a:ln/>
        </p:spPr>
        <p:txBody>
          <a:bodyPr wrap="square" lIns="0" tIns="0" rIns="0" bIns="0" rtlCol="0" anchor="t"/>
          <a:lstStyle/>
          <a:p>
            <a:pPr algn="l" indent="0" marL="0">
              <a:lnSpc>
                <a:spcPct val="100000"/>
              </a:lnSpc>
              <a:buNone/>
            </a:pPr>
            <a:r>
              <a:rPr lang="en-US" sz="950" dirty="0">
                <a:solidFill>
                  <a:srgbClr val="B8C8E2"/>
                </a:solidFill>
                <a:latin typeface="Arial" pitchFamily="34" charset="0"/>
                <a:ea typeface="Arial" pitchFamily="34" charset="-122"/>
                <a:cs typeface="Arial" pitchFamily="34" charset="-120"/>
              </a:rPr>
              <a:t>Snap the written list</a:t>
            </a:r>
            <a:endParaRPr lang="en-US" sz="950" dirty="0"/>
          </a:p>
        </p:txBody>
      </p:sp>
      <p:sp>
        <p:nvSpPr>
          <p:cNvPr id="21" name="Shape 15"/>
          <p:cNvSpPr/>
          <p:nvPr/>
        </p:nvSpPr>
        <p:spPr>
          <a:xfrm>
            <a:off x="3639312" y="2926080"/>
            <a:ext cx="274320" cy="91"/>
          </a:xfrm>
          <a:prstGeom prst="line">
            <a:avLst/>
          </a:prstGeom>
          <a:noFill/>
          <a:ln w="25400">
            <a:solidFill>
              <a:srgbClr val="00A7E1"/>
            </a:solidFill>
            <a:prstDash val="solid"/>
            <a:tailEnd type="triangle"/>
          </a:ln>
        </p:spPr>
      </p:sp>
      <p:sp>
        <p:nvSpPr>
          <p:cNvPr id="22" name="Shape 16"/>
          <p:cNvSpPr/>
          <p:nvPr/>
        </p:nvSpPr>
        <p:spPr>
          <a:xfrm>
            <a:off x="548640" y="4297680"/>
            <a:ext cx="3035808" cy="1417320"/>
          </a:xfrm>
          <a:prstGeom prst="roundRect">
            <a:avLst>
              <a:gd name="adj" fmla="val 9032"/>
            </a:avLst>
          </a:prstGeom>
          <a:solidFill>
            <a:srgbClr val="FFF6E8"/>
          </a:solidFill>
          <a:ln/>
        </p:spPr>
      </p:sp>
      <p:pic>
        <p:nvPicPr>
          <p:cNvPr id="23" name="Image 4" descr="/private/tmp/claude-501/-Users-jaypandey-Library-Application-Support-Claude-scratch-workspaces-e205fcbe-ff17-47a0-b0da-08b9c2cd8dd1-9a575c31-2854-4c86-a69f-21eba1183528-scratch-2026-09-25-918942/ab509d62-e048-41fc-927b-5525291df5de/scratchpad/img/icons/LuUserCheck_9A5B0C.png">    </p:cNvPr>
          <p:cNvPicPr>
            <a:picLocks noChangeAspect="1"/>
          </p:cNvPicPr>
          <p:nvPr/>
        </p:nvPicPr>
        <p:blipFill>
          <a:blip r:embed="rId5"/>
          <a:stretch>
            <a:fillRect/>
          </a:stretch>
        </p:blipFill>
        <p:spPr>
          <a:xfrm>
            <a:off x="731520" y="4462272"/>
            <a:ext cx="274320" cy="274320"/>
          </a:xfrm>
          <a:prstGeom prst="rect">
            <a:avLst/>
          </a:prstGeom>
        </p:spPr>
      </p:pic>
      <p:sp>
        <p:nvSpPr>
          <p:cNvPr id="24" name="Text 17"/>
          <p:cNvSpPr txBox="1"/>
          <p:nvPr/>
        </p:nvSpPr>
        <p:spPr>
          <a:xfrm>
            <a:off x="1097280" y="4443984"/>
            <a:ext cx="2377440" cy="274320"/>
          </a:xfrm>
          <a:prstGeom prst="rect">
            <a:avLst/>
          </a:prstGeom>
          <a:noFill/>
          <a:ln/>
        </p:spPr>
        <p:txBody>
          <a:bodyPr wrap="square" lIns="0" tIns="0" rIns="0" bIns="0" rtlCol="0" anchor="t"/>
          <a:lstStyle/>
          <a:p>
            <a:pPr algn="l" indent="0" marL="0">
              <a:lnSpc>
                <a:spcPct val="100000"/>
              </a:lnSpc>
              <a:buNone/>
            </a:pPr>
            <a:r>
              <a:rPr lang="en-US" sz="1250" b="1" dirty="0">
                <a:solidFill>
                  <a:srgbClr val="7A4608"/>
                </a:solidFill>
                <a:latin typeface="Arial" pitchFamily="34" charset="0"/>
                <a:ea typeface="Arial" pitchFamily="34" charset="-122"/>
                <a:cs typeface="Arial" pitchFamily="34" charset="-120"/>
              </a:rPr>
              <a:t>Human in the loop</a:t>
            </a:r>
            <a:endParaRPr lang="en-US" sz="1250" dirty="0"/>
          </a:p>
        </p:txBody>
      </p:sp>
      <p:sp>
        <p:nvSpPr>
          <p:cNvPr id="25" name="Text 18"/>
          <p:cNvSpPr txBox="1"/>
          <p:nvPr/>
        </p:nvSpPr>
        <p:spPr>
          <a:xfrm>
            <a:off x="731520" y="4800600"/>
            <a:ext cx="2724912" cy="822960"/>
          </a:xfrm>
          <a:prstGeom prst="rect">
            <a:avLst/>
          </a:prstGeom>
          <a:noFill/>
          <a:ln/>
        </p:spPr>
        <p:txBody>
          <a:bodyPr wrap="square" lIns="0" tIns="0" rIns="0" bIns="0" rtlCol="0" anchor="t"/>
          <a:lstStyle/>
          <a:p>
            <a:pPr algn="l" indent="0" marL="0">
              <a:lnSpc>
                <a:spcPct val="105000"/>
              </a:lnSpc>
              <a:buNone/>
            </a:pPr>
            <a:r>
              <a:rPr lang="en-US" sz="1100" dirty="0">
                <a:solidFill>
                  <a:srgbClr val="5C3A0E"/>
                </a:solidFill>
                <a:latin typeface="Arial" pitchFamily="34" charset="0"/>
                <a:ea typeface="Arial" pitchFamily="34" charset="-122"/>
                <a:cs typeface="Arial" pitchFamily="34" charset="-120"/>
              </a:rPr>
              <a:t>AI proposes the bill; the shopkeeper confirms. Any line it isn’t sure about stays editable before payment.</a:t>
            </a:r>
            <a:endParaRPr lang="en-US" sz="1100" dirty="0"/>
          </a:p>
        </p:txBody>
      </p:sp>
      <p:pic>
        <p:nvPicPr>
          <p:cNvPr id="26" name="Image 5" descr="/private/tmp/claude-501/-Users-jaypandey-Library-Application-Support-Claude-scratch-workspaces-e205fcbe-ff17-47a0-b0da-08b9c2cd8dd1-9a575c31-2854-4c86-a69f-21eba1183528-scratch-2026-09-25-918942/ab509d62-e048-41fc-927b-5525291df5de/scratchpad/img/counter.png">    </p:cNvPr>
          <p:cNvPicPr>
            <a:picLocks noChangeAspect="1"/>
          </p:cNvPicPr>
          <p:nvPr/>
        </p:nvPicPr>
        <p:blipFill>
          <a:blip r:embed="rId6"/>
          <a:stretch>
            <a:fillRect/>
          </a:stretch>
        </p:blipFill>
        <p:spPr>
          <a:xfrm>
            <a:off x="4023360" y="1783080"/>
            <a:ext cx="2109651" cy="4343400"/>
          </a:xfrm>
          <a:prstGeom prst="rect">
            <a:avLst/>
          </a:prstGeom>
        </p:spPr>
      </p:pic>
      <p:sp>
        <p:nvSpPr>
          <p:cNvPr id="27" name="Text 19"/>
          <p:cNvSpPr txBox="1"/>
          <p:nvPr/>
        </p:nvSpPr>
        <p:spPr>
          <a:xfrm>
            <a:off x="6675120" y="1417320"/>
            <a:ext cx="4937760" cy="256032"/>
          </a:xfrm>
          <a:prstGeom prst="rect">
            <a:avLst/>
          </a:prstGeom>
          <a:noFill/>
          <a:ln/>
        </p:spPr>
        <p:txBody>
          <a:bodyPr wrap="square" lIns="0" tIns="0" rIns="0" bIns="0" rtlCol="0" anchor="t"/>
          <a:lstStyle/>
          <a:p>
            <a:pPr algn="l" indent="0" marL="0">
              <a:lnSpc>
                <a:spcPct val="100000"/>
              </a:lnSpc>
              <a:buNone/>
            </a:pPr>
            <a:r>
              <a:rPr lang="en-US" sz="1100" b="1" spc="100" kern="0" dirty="0">
                <a:solidFill>
                  <a:srgbClr val="0072BC"/>
                </a:solidFill>
                <a:latin typeface="Arial" pitchFamily="34" charset="0"/>
                <a:ea typeface="Arial" pitchFamily="34" charset="-122"/>
                <a:cs typeface="Arial" pitchFamily="34" charset="-120"/>
              </a:rPr>
              <a:t>SHOP</a:t>
            </a:r>
            <a:pPr algn="l" indent="0" marL="0">
              <a:lnSpc>
                <a:spcPct val="100000"/>
              </a:lnSpc>
              <a:buNone/>
            </a:pPr>
            <a:r>
              <a:rPr lang="en-US" sz="1100" b="1" spc="100" kern="0" dirty="0">
                <a:solidFill>
                  <a:srgbClr val="5A6A85"/>
                </a:solidFill>
                <a:latin typeface="Arial" pitchFamily="34" charset="0"/>
                <a:ea typeface="Arial" pitchFamily="34" charset="-122"/>
                <a:cs typeface="Arial" pitchFamily="34" charset="-120"/>
              </a:rPr>
              <a:t>  ·  one QR, one storefront</a:t>
            </a:r>
            <a:endParaRPr lang="en-US" sz="1100" dirty="0"/>
          </a:p>
        </p:txBody>
      </p:sp>
      <p:pic>
        <p:nvPicPr>
          <p:cNvPr id="28" name="Image 6" descr="/private/tmp/claude-501/-Users-jaypandey-Library-Application-Support-Claude-scratch-workspaces-e205fcbe-ff17-47a0-b0da-08b9c2cd8dd1-9a575c31-2854-4c86-a69f-21eba1183528-scratch-2026-09-25-918942/ab509d62-e048-41fc-927b-5525291df5de/scratchpad/img/shop.png">    </p:cNvPr>
          <p:cNvPicPr>
            <a:picLocks noChangeAspect="1"/>
          </p:cNvPicPr>
          <p:nvPr/>
        </p:nvPicPr>
        <p:blipFill>
          <a:blip r:embed="rId7"/>
          <a:stretch>
            <a:fillRect/>
          </a:stretch>
        </p:blipFill>
        <p:spPr>
          <a:xfrm>
            <a:off x="6675120" y="1783080"/>
            <a:ext cx="2109651" cy="4343400"/>
          </a:xfrm>
          <a:prstGeom prst="rect">
            <a:avLst/>
          </a:prstGeom>
        </p:spPr>
      </p:pic>
      <p:sp>
        <p:nvSpPr>
          <p:cNvPr id="29" name="Shape 20"/>
          <p:cNvSpPr/>
          <p:nvPr/>
        </p:nvSpPr>
        <p:spPr>
          <a:xfrm>
            <a:off x="8961120" y="1828800"/>
            <a:ext cx="420624" cy="420624"/>
          </a:xfrm>
          <a:prstGeom prst="ellipse">
            <a:avLst/>
          </a:prstGeom>
          <a:solidFill>
            <a:srgbClr val="EAF6FC"/>
          </a:solidFill>
          <a:ln/>
        </p:spPr>
      </p:sp>
      <p:pic>
        <p:nvPicPr>
          <p:cNvPr id="30" name="Image 7" descr="/private/tmp/claude-501/-Users-jaypandey-Library-Application-Support-Claude-scratch-workspaces-e205fcbe-ff17-47a0-b0da-08b9c2cd8dd1-9a575c31-2854-4c86-a69f-21eba1183528-scratch-2026-09-25-918942/ab509d62-e048-41fc-927b-5525291df5de/scratchpad/img/icons/LuQrCode_0072BC.png">    </p:cNvPr>
          <p:cNvPicPr>
            <a:picLocks noChangeAspect="1"/>
          </p:cNvPicPr>
          <p:nvPr/>
        </p:nvPicPr>
        <p:blipFill>
          <a:blip r:embed="rId8"/>
          <a:stretch>
            <a:fillRect/>
          </a:stretch>
        </p:blipFill>
        <p:spPr>
          <a:xfrm>
            <a:off x="9062070" y="1929750"/>
            <a:ext cx="218724" cy="218724"/>
          </a:xfrm>
          <a:prstGeom prst="rect">
            <a:avLst/>
          </a:prstGeom>
        </p:spPr>
      </p:pic>
      <p:sp>
        <p:nvSpPr>
          <p:cNvPr id="31" name="Text 21"/>
          <p:cNvSpPr txBox="1"/>
          <p:nvPr/>
        </p:nvSpPr>
        <p:spPr>
          <a:xfrm>
            <a:off x="9509760" y="1792224"/>
            <a:ext cx="2130552" cy="658368"/>
          </a:xfrm>
          <a:prstGeom prst="rect">
            <a:avLst/>
          </a:prstGeom>
          <a:noFill/>
          <a:ln/>
        </p:spPr>
        <p:txBody>
          <a:bodyPr wrap="square" lIns="0" tIns="0" rIns="0" bIns="0" rtlCol="0" anchor="t"/>
          <a:lstStyle/>
          <a:p>
            <a:pPr algn="l" indent="0" marL="0">
              <a:lnSpc>
                <a:spcPct val="103000"/>
              </a:lnSpc>
              <a:buNone/>
            </a:pPr>
            <a:r>
              <a:rPr lang="en-US" sz="1150" dirty="0">
                <a:solidFill>
                  <a:srgbClr val="0F1B33"/>
                </a:solidFill>
                <a:latin typeface="Arial" pitchFamily="34" charset="0"/>
                <a:ea typeface="Arial" pitchFamily="34" charset="-122"/>
                <a:cs typeface="Arial" pitchFamily="34" charset="-120"/>
              </a:rPr>
              <a:t>Customer scans the shop’s QR or a shared link</a:t>
            </a:r>
            <a:endParaRPr lang="en-US" sz="1150" dirty="0"/>
          </a:p>
        </p:txBody>
      </p:sp>
      <p:sp>
        <p:nvSpPr>
          <p:cNvPr id="32" name="Shape 22"/>
          <p:cNvSpPr/>
          <p:nvPr/>
        </p:nvSpPr>
        <p:spPr>
          <a:xfrm>
            <a:off x="8961120" y="2633472"/>
            <a:ext cx="420624" cy="420624"/>
          </a:xfrm>
          <a:prstGeom prst="ellipse">
            <a:avLst/>
          </a:prstGeom>
          <a:solidFill>
            <a:srgbClr val="EAF6FC"/>
          </a:solidFill>
          <a:ln/>
        </p:spPr>
      </p:sp>
      <p:pic>
        <p:nvPicPr>
          <p:cNvPr id="33" name="Image 8" descr="/private/tmp/claude-501/-Users-jaypandey-Library-Application-Support-Claude-scratch-workspaces-e205fcbe-ff17-47a0-b0da-08b9c2cd8dd1-9a575c31-2854-4c86-a69f-21eba1183528-scratch-2026-09-25-918942/ab509d62-e048-41fc-927b-5525291df5de/scratchpad/img/icons/LuShoppingBasket_0072BC.png">    </p:cNvPr>
          <p:cNvPicPr>
            <a:picLocks noChangeAspect="1"/>
          </p:cNvPicPr>
          <p:nvPr/>
        </p:nvPicPr>
        <p:blipFill>
          <a:blip r:embed="rId9"/>
          <a:stretch>
            <a:fillRect/>
          </a:stretch>
        </p:blipFill>
        <p:spPr>
          <a:xfrm>
            <a:off x="9062070" y="2734422"/>
            <a:ext cx="218724" cy="218724"/>
          </a:xfrm>
          <a:prstGeom prst="rect">
            <a:avLst/>
          </a:prstGeom>
        </p:spPr>
      </p:pic>
      <p:sp>
        <p:nvSpPr>
          <p:cNvPr id="34" name="Text 23"/>
          <p:cNvSpPr txBox="1"/>
          <p:nvPr/>
        </p:nvSpPr>
        <p:spPr>
          <a:xfrm>
            <a:off x="9509760" y="2596896"/>
            <a:ext cx="2130552" cy="658368"/>
          </a:xfrm>
          <a:prstGeom prst="rect">
            <a:avLst/>
          </a:prstGeom>
          <a:noFill/>
          <a:ln/>
        </p:spPr>
        <p:txBody>
          <a:bodyPr wrap="square" lIns="0" tIns="0" rIns="0" bIns="0" rtlCol="0" anchor="t"/>
          <a:lstStyle/>
          <a:p>
            <a:pPr algn="l" indent="0" marL="0">
              <a:lnSpc>
                <a:spcPct val="103000"/>
              </a:lnSpc>
              <a:buNone/>
            </a:pPr>
            <a:r>
              <a:rPr lang="en-US" sz="1150" dirty="0">
                <a:solidFill>
                  <a:srgbClr val="0F1B33"/>
                </a:solidFill>
                <a:latin typeface="Arial" pitchFamily="34" charset="0"/>
                <a:ea typeface="Arial" pitchFamily="34" charset="-122"/>
                <a:cs typeface="Arial" pitchFamily="34" charset="-120"/>
              </a:rPr>
              <a:t>Browses live prices and stock, from the counter’s catalogue</a:t>
            </a:r>
            <a:endParaRPr lang="en-US" sz="1150" dirty="0"/>
          </a:p>
        </p:txBody>
      </p:sp>
      <p:sp>
        <p:nvSpPr>
          <p:cNvPr id="35" name="Shape 24"/>
          <p:cNvSpPr/>
          <p:nvPr/>
        </p:nvSpPr>
        <p:spPr>
          <a:xfrm>
            <a:off x="8961120" y="3438144"/>
            <a:ext cx="420624" cy="420624"/>
          </a:xfrm>
          <a:prstGeom prst="ellipse">
            <a:avLst/>
          </a:prstGeom>
          <a:solidFill>
            <a:srgbClr val="EAF6FC"/>
          </a:solidFill>
          <a:ln/>
        </p:spPr>
      </p:sp>
      <p:pic>
        <p:nvPicPr>
          <p:cNvPr id="36" name="Image 9" descr="/private/tmp/claude-501/-Users-jaypandey-Library-Application-Support-Claude-scratch-workspaces-e205fcbe-ff17-47a0-b0da-08b9c2cd8dd1-9a575c31-2854-4c86-a69f-21eba1183528-scratch-2026-09-25-918942/ab509d62-e048-41fc-927b-5525291df5de/scratchpad/img/icons/LuCreditCard_0072BC.png">    </p:cNvPr>
          <p:cNvPicPr>
            <a:picLocks noChangeAspect="1"/>
          </p:cNvPicPr>
          <p:nvPr/>
        </p:nvPicPr>
        <p:blipFill>
          <a:blip r:embed="rId10"/>
          <a:stretch>
            <a:fillRect/>
          </a:stretch>
        </p:blipFill>
        <p:spPr>
          <a:xfrm>
            <a:off x="9062070" y="3539094"/>
            <a:ext cx="218724" cy="218724"/>
          </a:xfrm>
          <a:prstGeom prst="rect">
            <a:avLst/>
          </a:prstGeom>
        </p:spPr>
      </p:pic>
      <p:sp>
        <p:nvSpPr>
          <p:cNvPr id="37" name="Text 25"/>
          <p:cNvSpPr txBox="1"/>
          <p:nvPr/>
        </p:nvSpPr>
        <p:spPr>
          <a:xfrm>
            <a:off x="9509760" y="3401568"/>
            <a:ext cx="2130552" cy="658368"/>
          </a:xfrm>
          <a:prstGeom prst="rect">
            <a:avLst/>
          </a:prstGeom>
          <a:noFill/>
          <a:ln/>
        </p:spPr>
        <p:txBody>
          <a:bodyPr wrap="square" lIns="0" tIns="0" rIns="0" bIns="0" rtlCol="0" anchor="t"/>
          <a:lstStyle/>
          <a:p>
            <a:pPr algn="l" indent="0" marL="0">
              <a:lnSpc>
                <a:spcPct val="103000"/>
              </a:lnSpc>
              <a:buNone/>
            </a:pPr>
            <a:r>
              <a:rPr lang="en-US" sz="1150" dirty="0">
                <a:solidFill>
                  <a:srgbClr val="0F1B33"/>
                </a:solidFill>
                <a:latin typeface="Arial" pitchFamily="34" charset="0"/>
                <a:ea typeface="Arial" pitchFamily="34" charset="-122"/>
                <a:cs typeface="Arial" pitchFamily="34" charset="-120"/>
              </a:rPr>
              <a:t>Pays through Paytm checkout</a:t>
            </a:r>
            <a:endParaRPr lang="en-US" sz="1150" dirty="0"/>
          </a:p>
        </p:txBody>
      </p:sp>
      <p:sp>
        <p:nvSpPr>
          <p:cNvPr id="38" name="Shape 26"/>
          <p:cNvSpPr/>
          <p:nvPr/>
        </p:nvSpPr>
        <p:spPr>
          <a:xfrm>
            <a:off x="8961120" y="4242816"/>
            <a:ext cx="420624" cy="420624"/>
          </a:xfrm>
          <a:prstGeom prst="ellipse">
            <a:avLst/>
          </a:prstGeom>
          <a:solidFill>
            <a:srgbClr val="EAF6FC"/>
          </a:solidFill>
          <a:ln/>
        </p:spPr>
      </p:sp>
      <p:pic>
        <p:nvPicPr>
          <p:cNvPr id="39" name="Image 10" descr="/private/tmp/claude-501/-Users-jaypandey-Library-Application-Support-Claude-scratch-workspaces-e205fcbe-ff17-47a0-b0da-08b9c2cd8dd1-9a575c31-2854-4c86-a69f-21eba1183528-scratch-2026-09-25-918942/ab509d62-e048-41fc-927b-5525291df5de/scratchpad/img/icons/LuPackageCheck_0072BC.png">    </p:cNvPr>
          <p:cNvPicPr>
            <a:picLocks noChangeAspect="1"/>
          </p:cNvPicPr>
          <p:nvPr/>
        </p:nvPicPr>
        <p:blipFill>
          <a:blip r:embed="rId11"/>
          <a:stretch>
            <a:fillRect/>
          </a:stretch>
        </p:blipFill>
        <p:spPr>
          <a:xfrm>
            <a:off x="9062070" y="4343766"/>
            <a:ext cx="218724" cy="218724"/>
          </a:xfrm>
          <a:prstGeom prst="rect">
            <a:avLst/>
          </a:prstGeom>
        </p:spPr>
      </p:pic>
      <p:sp>
        <p:nvSpPr>
          <p:cNvPr id="40" name="Text 27"/>
          <p:cNvSpPr txBox="1"/>
          <p:nvPr/>
        </p:nvSpPr>
        <p:spPr>
          <a:xfrm>
            <a:off x="9509760" y="4206240"/>
            <a:ext cx="2130552" cy="658368"/>
          </a:xfrm>
          <a:prstGeom prst="rect">
            <a:avLst/>
          </a:prstGeom>
          <a:noFill/>
          <a:ln/>
        </p:spPr>
        <p:txBody>
          <a:bodyPr wrap="square" lIns="0" tIns="0" rIns="0" bIns="0" rtlCol="0" anchor="t"/>
          <a:lstStyle/>
          <a:p>
            <a:pPr algn="l" indent="0" marL="0">
              <a:lnSpc>
                <a:spcPct val="103000"/>
              </a:lnSpc>
              <a:buNone/>
            </a:pPr>
            <a:r>
              <a:rPr lang="en-US" sz="1150" dirty="0">
                <a:solidFill>
                  <a:srgbClr val="0F1B33"/>
                </a:solidFill>
                <a:latin typeface="Arial" pitchFamily="34" charset="0"/>
                <a:ea typeface="Arial" pitchFamily="34" charset="-122"/>
                <a:cs typeface="Arial" pitchFamily="34" charset="-120"/>
              </a:rPr>
              <a:t>Tracks the order: received → preparing → ready</a:t>
            </a:r>
            <a:endParaRPr lang="en-US" sz="1150" dirty="0"/>
          </a:p>
        </p:txBody>
      </p:sp>
      <p:sp>
        <p:nvSpPr>
          <p:cNvPr id="41" name="Shape 28"/>
          <p:cNvSpPr/>
          <p:nvPr/>
        </p:nvSpPr>
        <p:spPr>
          <a:xfrm>
            <a:off x="8961120" y="5138928"/>
            <a:ext cx="2679192" cy="941832"/>
          </a:xfrm>
          <a:prstGeom prst="roundRect">
            <a:avLst>
              <a:gd name="adj" fmla="val 13592"/>
            </a:avLst>
          </a:prstGeom>
          <a:solidFill>
            <a:srgbClr val="0B1F44"/>
          </a:solidFill>
          <a:ln/>
        </p:spPr>
      </p:sp>
      <p:sp>
        <p:nvSpPr>
          <p:cNvPr id="42" name="Text 29"/>
          <p:cNvSpPr txBox="1"/>
          <p:nvPr/>
        </p:nvSpPr>
        <p:spPr>
          <a:xfrm>
            <a:off x="9144000" y="5230368"/>
            <a:ext cx="2377440" cy="777240"/>
          </a:xfrm>
          <a:prstGeom prst="rect">
            <a:avLst/>
          </a:prstGeom>
          <a:noFill/>
          <a:ln/>
        </p:spPr>
        <p:txBody>
          <a:bodyPr wrap="square" lIns="0" tIns="0" rIns="0" bIns="0" rtlCol="0" anchor="ctr"/>
          <a:lstStyle/>
          <a:p>
            <a:pPr algn="l" indent="0" marL="0">
              <a:lnSpc>
                <a:spcPct val="105000"/>
              </a:lnSpc>
              <a:buNone/>
            </a:pPr>
            <a:r>
              <a:rPr lang="en-US" sz="1200" b="1" dirty="0">
                <a:solidFill>
                  <a:srgbClr val="FFFFFF"/>
                </a:solidFill>
                <a:latin typeface="Arial" pitchFamily="34" charset="0"/>
                <a:ea typeface="Arial" pitchFamily="34" charset="-122"/>
                <a:cs typeface="Arial" pitchFamily="34" charset="-120"/>
              </a:rPr>
              <a:t>A new sales channel without a separate e-commerce setup.</a:t>
            </a:r>
            <a:endParaRPr lang="en-US" sz="1200" dirty="0"/>
          </a:p>
        </p:txBody>
      </p:sp>
      <p:sp>
        <p:nvSpPr>
          <p:cNvPr id="43" name="Text 30"/>
          <p:cNvSpPr txBox="1"/>
          <p:nvPr/>
        </p:nvSpPr>
        <p:spPr>
          <a:xfrm>
            <a:off x="548640" y="5943600"/>
            <a:ext cx="2889504" cy="237744"/>
          </a:xfrm>
          <a:prstGeom prst="roundRect">
            <a:avLst>
              <a:gd name="adj" fmla="val 50000"/>
            </a:avLst>
          </a:prstGeom>
          <a:solidFill>
            <a:srgbClr val="E3F1FA"/>
          </a:solidFill>
          <a:ln/>
        </p:spPr>
        <p:txBody>
          <a:bodyPr wrap="square" lIns="0" tIns="0" rIns="0" bIns="0" rtlCol="0" anchor="ctr"/>
          <a:lstStyle/>
          <a:p>
            <a:pPr algn="ctr" indent="0" marL="0">
              <a:lnSpc>
                <a:spcPct val="100000"/>
              </a:lnSpc>
              <a:buNone/>
            </a:pPr>
            <a:r>
              <a:rPr lang="en-US" sz="850" b="1" spc="60" kern="0" dirty="0">
                <a:solidFill>
                  <a:srgbClr val="005D99"/>
                </a:solidFill>
                <a:latin typeface="Arial" pitchFamily="34" charset="0"/>
                <a:ea typeface="Arial" pitchFamily="34" charset="-122"/>
                <a:cs typeface="Arial" pitchFamily="34" charset="-120"/>
              </a:rPr>
              <a:t>CONCEPT SCREENS · DEMO STORE &amp; DATA</a:t>
            </a:r>
            <a:endParaRPr lang="en-US" sz="850" dirty="0"/>
          </a:p>
        </p:txBody>
      </p:sp>
      <p:sp>
        <p:nvSpPr>
          <p:cNvPr id="44" name="Text 31"/>
          <p:cNvSpPr txBox="1"/>
          <p:nvPr/>
        </p:nvSpPr>
        <p:spPr>
          <a:xfrm>
            <a:off x="548640" y="6419088"/>
            <a:ext cx="4572000" cy="228600"/>
          </a:xfrm>
          <a:prstGeom prst="rect">
            <a:avLst/>
          </a:prstGeom>
          <a:noFill/>
          <a:ln/>
        </p:spPr>
        <p:txBody>
          <a:bodyPr wrap="square" lIns="0" tIns="0" rIns="0" bIns="0" rtlCol="0" anchor="t"/>
          <a:lstStyle/>
          <a:p>
            <a:pPr algn="l" indent="0" marL="0">
              <a:lnSpc>
                <a:spcPct val="100000"/>
              </a:lnSpc>
              <a:buNone/>
            </a:pPr>
            <a:r>
              <a:rPr lang="en-US" sz="900" b="1" dirty="0">
                <a:solidFill>
                  <a:srgbClr val="8A99B3"/>
                </a:solidFill>
                <a:latin typeface="Arial" pitchFamily="34" charset="0"/>
                <a:ea typeface="Arial" pitchFamily="34" charset="-122"/>
                <a:cs typeface="Arial" pitchFamily="34" charset="-120"/>
              </a:rPr>
              <a:t>Kirana Shop AI</a:t>
            </a:r>
            <a:endParaRPr lang="en-US" sz="900" dirty="0"/>
          </a:p>
        </p:txBody>
      </p:sp>
      <p:sp>
        <p:nvSpPr>
          <p:cNvPr id="45" name="Text 32"/>
          <p:cNvSpPr txBox="1"/>
          <p:nvPr/>
        </p:nvSpPr>
        <p:spPr>
          <a:xfrm>
            <a:off x="9354312" y="6419088"/>
            <a:ext cx="2286000" cy="228600"/>
          </a:xfrm>
          <a:prstGeom prst="rect">
            <a:avLst/>
          </a:prstGeom>
          <a:noFill/>
          <a:ln/>
        </p:spPr>
        <p:txBody>
          <a:bodyPr wrap="square" lIns="0" tIns="0" rIns="0" bIns="0" rtlCol="0" anchor="t"/>
          <a:lstStyle/>
          <a:p>
            <a:pPr algn="r" indent="0" marL="0">
              <a:lnSpc>
                <a:spcPct val="100000"/>
              </a:lnSpc>
              <a:buNone/>
            </a:pPr>
            <a:r>
              <a:rPr lang="en-US" sz="900" dirty="0">
                <a:solidFill>
                  <a:srgbClr val="8A99B3"/>
                </a:solidFill>
                <a:latin typeface="Arial" pitchFamily="34" charset="0"/>
                <a:ea typeface="Arial" pitchFamily="34" charset="-122"/>
                <a:cs typeface="Arial" pitchFamily="34" charset="-120"/>
              </a:rPr>
              <a:t>05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072BC"/>
                </a:solidFill>
                <a:latin typeface="Arial" pitchFamily="34" charset="0"/>
                <a:ea typeface="Arial" pitchFamily="34" charset="-122"/>
                <a:cs typeface="Arial" pitchFamily="34" charset="-120"/>
              </a:rPr>
              <a:t>KHATA AND SALAAHKAAR</a:t>
            </a:r>
            <a:endParaRPr lang="en-US" sz="1100" dirty="0"/>
          </a:p>
        </p:txBody>
      </p:sp>
      <p:sp>
        <p:nvSpPr>
          <p:cNvPr id="3" name="Text 1"/>
          <p:cNvSpPr txBox="1"/>
          <p:nvPr/>
        </p:nvSpPr>
        <p:spPr>
          <a:xfrm>
            <a:off x="548640" y="676656"/>
            <a:ext cx="11064240" cy="566928"/>
          </a:xfrm>
          <a:prstGeom prst="rect">
            <a:avLst/>
          </a:prstGeom>
          <a:noFill/>
          <a:ln/>
        </p:spPr>
        <p:txBody>
          <a:bodyPr wrap="square" lIns="0" tIns="0" rIns="0" bIns="0" rtlCol="0" anchor="t"/>
          <a:lstStyle/>
          <a:p>
            <a:pPr algn="l" indent="0" marL="0">
              <a:lnSpc>
                <a:spcPct val="100000"/>
              </a:lnSpc>
              <a:buNone/>
            </a:pPr>
            <a:r>
              <a:rPr lang="en-US" sz="3000" b="1" dirty="0">
                <a:solidFill>
                  <a:srgbClr val="0B1F44"/>
                </a:solidFill>
                <a:latin typeface="Arial" pitchFamily="34" charset="0"/>
                <a:ea typeface="Arial" pitchFamily="34" charset="-122"/>
                <a:cs typeface="Arial" pitchFamily="34" charset="-120"/>
              </a:rPr>
              <a:t>Khata tracks the dues. Salaahkaar suggests what’s next.</a:t>
            </a:r>
            <a:endParaRPr lang="en-US" sz="3000" dirty="0"/>
          </a:p>
        </p:txBody>
      </p:sp>
      <p:sp>
        <p:nvSpPr>
          <p:cNvPr id="4" name="Text 2"/>
          <p:cNvSpPr txBox="1"/>
          <p:nvPr/>
        </p:nvSpPr>
        <p:spPr>
          <a:xfrm>
            <a:off x="548640" y="1371600"/>
            <a:ext cx="2377440" cy="256032"/>
          </a:xfrm>
          <a:prstGeom prst="rect">
            <a:avLst/>
          </a:prstGeom>
          <a:noFill/>
          <a:ln/>
        </p:spPr>
        <p:txBody>
          <a:bodyPr wrap="square" lIns="0" tIns="0" rIns="0" bIns="0" rtlCol="0" anchor="t"/>
          <a:lstStyle/>
          <a:p>
            <a:pPr algn="l" indent="0" marL="0">
              <a:lnSpc>
                <a:spcPct val="100000"/>
              </a:lnSpc>
              <a:buNone/>
            </a:pPr>
            <a:r>
              <a:rPr lang="en-US" sz="1100" b="1" spc="100" kern="0" dirty="0">
                <a:solidFill>
                  <a:srgbClr val="0072BC"/>
                </a:solidFill>
                <a:latin typeface="Arial" pitchFamily="34" charset="0"/>
                <a:ea typeface="Arial" pitchFamily="34" charset="-122"/>
                <a:cs typeface="Arial" pitchFamily="34" charset="-120"/>
              </a:rPr>
              <a:t>KHATA</a:t>
            </a:r>
            <a:endParaRPr lang="en-US" sz="1100" dirty="0"/>
          </a:p>
        </p:txBody>
      </p:sp>
      <p:sp>
        <p:nvSpPr>
          <p:cNvPr id="5" name="Text 3"/>
          <p:cNvSpPr txBox="1"/>
          <p:nvPr/>
        </p:nvSpPr>
        <p:spPr>
          <a:xfrm>
            <a:off x="548640" y="1627632"/>
            <a:ext cx="2331720" cy="457200"/>
          </a:xfrm>
          <a:prstGeom prst="rect">
            <a:avLst/>
          </a:prstGeom>
          <a:noFill/>
          <a:ln/>
        </p:spPr>
        <p:txBody>
          <a:bodyPr wrap="square" lIns="0" tIns="0" rIns="0" bIns="0" rtlCol="0" anchor="t"/>
          <a:lstStyle/>
          <a:p>
            <a:pPr algn="l" indent="0" marL="0">
              <a:lnSpc>
                <a:spcPct val="102000"/>
              </a:lnSpc>
              <a:buNone/>
            </a:pPr>
            <a:r>
              <a:rPr lang="en-US" sz="1050" dirty="0">
                <a:solidFill>
                  <a:srgbClr val="5A6A85"/>
                </a:solidFill>
                <a:latin typeface="Arial" pitchFamily="34" charset="0"/>
                <a:ea typeface="Arial" pitchFamily="34" charset="-122"/>
                <a:cs typeface="Arial" pitchFamily="34" charset="-120"/>
              </a:rPr>
              <a:t>Dues ranked by age. Reminders sent only after approval.</a:t>
            </a:r>
            <a:endParaRPr lang="en-US" sz="1050" dirty="0"/>
          </a:p>
        </p:txBody>
      </p:sp>
      <p:pic>
        <p:nvPicPr>
          <p:cNvPr id="6" name="Image 0" descr="/private/tmp/claude-501/-Users-jaypandey-Library-Application-Support-Claude-scratch-workspaces-e205fcbe-ff17-47a0-b0da-08b9c2cd8dd1-9a575c31-2854-4c86-a69f-21eba1183528-scratch-2026-09-25-918942/ab509d62-e048-41fc-927b-5525291df5de/scratchpad/img/khata.png">    </p:cNvPr>
          <p:cNvPicPr>
            <a:picLocks noChangeAspect="1"/>
          </p:cNvPicPr>
          <p:nvPr/>
        </p:nvPicPr>
        <p:blipFill>
          <a:blip r:embed="rId1"/>
          <a:stretch>
            <a:fillRect/>
          </a:stretch>
        </p:blipFill>
        <p:spPr>
          <a:xfrm>
            <a:off x="603504" y="2167128"/>
            <a:ext cx="1954203" cy="4023360"/>
          </a:xfrm>
          <a:prstGeom prst="rect">
            <a:avLst/>
          </a:prstGeom>
        </p:spPr>
      </p:pic>
      <p:sp>
        <p:nvSpPr>
          <p:cNvPr id="7" name="Shape 4"/>
          <p:cNvSpPr/>
          <p:nvPr/>
        </p:nvSpPr>
        <p:spPr>
          <a:xfrm>
            <a:off x="3154680" y="1371600"/>
            <a:ext cx="8485632" cy="4846320"/>
          </a:xfrm>
          <a:prstGeom prst="roundRect">
            <a:avLst>
              <a:gd name="adj" fmla="val 3774"/>
            </a:avLst>
          </a:prstGeom>
          <a:solidFill>
            <a:srgbClr val="0B1F44"/>
          </a:solidFill>
          <a:ln/>
        </p:spPr>
      </p:sp>
      <p:pic>
        <p:nvPicPr>
          <p:cNvPr id="8" name="Image 1" descr="/private/tmp/claude-501/-Users-jaypandey-Library-Application-Support-Claude-scratch-workspaces-e205fcbe-ff17-47a0-b0da-08b9c2cd8dd1-9a575c31-2854-4c86-a69f-21eba1183528-scratch-2026-09-25-918942/ab509d62-e048-41fc-927b-5525291df5de/scratchpad/img/salaahkaar.png">    </p:cNvPr>
          <p:cNvPicPr>
            <a:picLocks noChangeAspect="1"/>
          </p:cNvPicPr>
          <p:nvPr/>
        </p:nvPicPr>
        <p:blipFill>
          <a:blip r:embed="rId2"/>
          <a:stretch>
            <a:fillRect/>
          </a:stretch>
        </p:blipFill>
        <p:spPr>
          <a:xfrm>
            <a:off x="3429000" y="1536192"/>
            <a:ext cx="2198479" cy="4526280"/>
          </a:xfrm>
          <a:prstGeom prst="rect">
            <a:avLst/>
          </a:prstGeom>
        </p:spPr>
      </p:pic>
      <p:sp>
        <p:nvSpPr>
          <p:cNvPr id="9" name="Text 5"/>
          <p:cNvSpPr txBox="1"/>
          <p:nvPr/>
        </p:nvSpPr>
        <p:spPr>
          <a:xfrm>
            <a:off x="5852160" y="1627632"/>
            <a:ext cx="5486400" cy="256032"/>
          </a:xfrm>
          <a:prstGeom prst="rect">
            <a:avLst/>
          </a:prstGeom>
          <a:noFill/>
          <a:ln/>
        </p:spPr>
        <p:txBody>
          <a:bodyPr wrap="square" lIns="0" tIns="0" rIns="0" bIns="0" rtlCol="0" anchor="t"/>
          <a:lstStyle/>
          <a:p>
            <a:pPr algn="l" indent="0" marL="0">
              <a:lnSpc>
                <a:spcPct val="100000"/>
              </a:lnSpc>
              <a:buNone/>
            </a:pPr>
            <a:r>
              <a:rPr lang="en-US" sz="1100" b="1" spc="120" kern="0" dirty="0">
                <a:solidFill>
                  <a:srgbClr val="8FD6F5"/>
                </a:solidFill>
                <a:latin typeface="Arial" pitchFamily="34" charset="0"/>
                <a:ea typeface="Arial" pitchFamily="34" charset="-122"/>
                <a:cs typeface="Arial" pitchFamily="34" charset="-120"/>
              </a:rPr>
              <a:t>SALAAHKAAR  ·  THE AI CORE</a:t>
            </a:r>
            <a:endParaRPr lang="en-US" sz="1100" dirty="0"/>
          </a:p>
        </p:txBody>
      </p:sp>
      <p:sp>
        <p:nvSpPr>
          <p:cNvPr id="10" name="Text 6"/>
          <p:cNvSpPr txBox="1"/>
          <p:nvPr/>
        </p:nvSpPr>
        <p:spPr>
          <a:xfrm>
            <a:off x="5852160" y="1901952"/>
            <a:ext cx="5577840" cy="685800"/>
          </a:xfrm>
          <a:prstGeom prst="rect">
            <a:avLst/>
          </a:prstGeom>
          <a:noFill/>
          <a:ln/>
        </p:spPr>
        <p:txBody>
          <a:bodyPr wrap="square" lIns="0" tIns="0" rIns="0" bIns="0" rtlCol="0" anchor="t"/>
          <a:lstStyle/>
          <a:p>
            <a:pPr algn="l" indent="0" marL="0">
              <a:lnSpc>
                <a:spcPct val="103000"/>
              </a:lnSpc>
              <a:buNone/>
            </a:pPr>
            <a:r>
              <a:rPr lang="en-US" sz="1900" b="1" dirty="0">
                <a:solidFill>
                  <a:srgbClr val="FFFFFF"/>
                </a:solidFill>
                <a:latin typeface="Arial" pitchFamily="34" charset="0"/>
                <a:ea typeface="Arial" pitchFamily="34" charset="-122"/>
                <a:cs typeface="Arial" pitchFamily="34" charset="-120"/>
              </a:rPr>
              <a:t>A voice-first adviser that speaks the shopkeeper’s language.</a:t>
            </a:r>
            <a:endParaRPr lang="en-US" sz="1900" dirty="0"/>
          </a:p>
        </p:txBody>
      </p:sp>
      <p:sp>
        <p:nvSpPr>
          <p:cNvPr id="11" name="Text 7"/>
          <p:cNvSpPr txBox="1"/>
          <p:nvPr/>
        </p:nvSpPr>
        <p:spPr>
          <a:xfrm>
            <a:off x="5852160" y="2724912"/>
            <a:ext cx="2697480" cy="347472"/>
          </a:xfrm>
          <a:prstGeom prst="roundRect">
            <a:avLst>
              <a:gd name="adj" fmla="val 50000"/>
            </a:avLst>
          </a:prstGeom>
          <a:solidFill>
            <a:srgbClr val="1C3A6E"/>
          </a:solidFill>
          <a:ln/>
        </p:spPr>
        <p:txBody>
          <a:bodyPr wrap="square" lIns="0" tIns="0" rIns="0" bIns="0" rtlCol="0" anchor="ctr"/>
          <a:lstStyle/>
          <a:p>
            <a:pPr algn="ctr" indent="0" marL="0">
              <a:lnSpc>
                <a:spcPct val="100000"/>
              </a:lnSpc>
              <a:buNone/>
            </a:pPr>
            <a:r>
              <a:rPr lang="en-US" sz="1100" dirty="0">
                <a:solidFill>
                  <a:srgbClr val="FFFFFF"/>
                </a:solidFill>
                <a:latin typeface="Arial" pitchFamily="34" charset="0"/>
                <a:ea typeface="Arial" pitchFamily="34" charset="-122"/>
                <a:cs typeface="Arial" pitchFamily="34" charset="-120"/>
              </a:rPr>
              <a:t>“Aaj kitna sale hua?”</a:t>
            </a:r>
            <a:endParaRPr lang="en-US" sz="1100" dirty="0"/>
          </a:p>
        </p:txBody>
      </p:sp>
      <p:sp>
        <p:nvSpPr>
          <p:cNvPr id="12" name="Text 8"/>
          <p:cNvSpPr txBox="1"/>
          <p:nvPr/>
        </p:nvSpPr>
        <p:spPr>
          <a:xfrm>
            <a:off x="8641080" y="2724912"/>
            <a:ext cx="2697480" cy="347472"/>
          </a:xfrm>
          <a:prstGeom prst="roundRect">
            <a:avLst>
              <a:gd name="adj" fmla="val 50000"/>
            </a:avLst>
          </a:prstGeom>
          <a:solidFill>
            <a:srgbClr val="1C3A6E"/>
          </a:solidFill>
          <a:ln/>
        </p:spPr>
        <p:txBody>
          <a:bodyPr wrap="square" lIns="0" tIns="0" rIns="0" bIns="0" rtlCol="0" anchor="ctr"/>
          <a:lstStyle/>
          <a:p>
            <a:pPr algn="ctr" indent="0" marL="0">
              <a:lnSpc>
                <a:spcPct val="100000"/>
              </a:lnSpc>
              <a:buNone/>
            </a:pPr>
            <a:r>
              <a:rPr lang="en-US" sz="1100" dirty="0">
                <a:solidFill>
                  <a:srgbClr val="FFFFFF"/>
                </a:solidFill>
                <a:latin typeface="Arial" pitchFamily="34" charset="0"/>
                <a:ea typeface="Arial" pitchFamily="34" charset="-122"/>
                <a:cs typeface="Arial" pitchFamily="34" charset="-120"/>
              </a:rPr>
              <a:t>“Kaunsa item slow chal raha hai?”</a:t>
            </a:r>
            <a:endParaRPr lang="en-US" sz="1100" dirty="0"/>
          </a:p>
        </p:txBody>
      </p:sp>
      <p:sp>
        <p:nvSpPr>
          <p:cNvPr id="13" name="Text 9"/>
          <p:cNvSpPr txBox="1"/>
          <p:nvPr/>
        </p:nvSpPr>
        <p:spPr>
          <a:xfrm>
            <a:off x="5852160" y="3145536"/>
            <a:ext cx="2697480" cy="347472"/>
          </a:xfrm>
          <a:prstGeom prst="roundRect">
            <a:avLst>
              <a:gd name="adj" fmla="val 50000"/>
            </a:avLst>
          </a:prstGeom>
          <a:solidFill>
            <a:srgbClr val="1C3A6E"/>
          </a:solidFill>
          <a:ln/>
        </p:spPr>
        <p:txBody>
          <a:bodyPr wrap="square" lIns="0" tIns="0" rIns="0" bIns="0" rtlCol="0" anchor="ctr"/>
          <a:lstStyle/>
          <a:p>
            <a:pPr algn="ctr" indent="0" marL="0">
              <a:lnSpc>
                <a:spcPct val="100000"/>
              </a:lnSpc>
              <a:buNone/>
            </a:pPr>
            <a:r>
              <a:rPr lang="en-US" sz="1100" dirty="0">
                <a:solidFill>
                  <a:srgbClr val="FFFFFF"/>
                </a:solidFill>
                <a:latin typeface="Arial" pitchFamily="34" charset="0"/>
                <a:ea typeface="Arial" pitchFamily="34" charset="-122"/>
                <a:cs typeface="Arial" pitchFamily="34" charset="-120"/>
              </a:rPr>
              <a:t>“Kis customer ka paisa baaki hai?”</a:t>
            </a:r>
            <a:endParaRPr lang="en-US" sz="1100" dirty="0"/>
          </a:p>
        </p:txBody>
      </p:sp>
      <p:sp>
        <p:nvSpPr>
          <p:cNvPr id="14" name="Text 10"/>
          <p:cNvSpPr txBox="1"/>
          <p:nvPr/>
        </p:nvSpPr>
        <p:spPr>
          <a:xfrm>
            <a:off x="8641080" y="3145536"/>
            <a:ext cx="2697480" cy="347472"/>
          </a:xfrm>
          <a:prstGeom prst="roundRect">
            <a:avLst>
              <a:gd name="adj" fmla="val 50000"/>
            </a:avLst>
          </a:prstGeom>
          <a:solidFill>
            <a:srgbClr val="1C3A6E"/>
          </a:solidFill>
          <a:ln/>
        </p:spPr>
        <p:txBody>
          <a:bodyPr wrap="square" lIns="0" tIns="0" rIns="0" bIns="0" rtlCol="0" anchor="ctr"/>
          <a:lstStyle/>
          <a:p>
            <a:pPr algn="ctr" indent="0" marL="0">
              <a:lnSpc>
                <a:spcPct val="100000"/>
              </a:lnSpc>
              <a:buNone/>
            </a:pPr>
            <a:r>
              <a:rPr lang="en-US" sz="1100" dirty="0">
                <a:solidFill>
                  <a:srgbClr val="FFFFFF"/>
                </a:solidFill>
                <a:latin typeface="Arial" pitchFamily="34" charset="0"/>
                <a:ea typeface="Arial" pitchFamily="34" charset="-122"/>
                <a:cs typeface="Arial" pitchFamily="34" charset="-120"/>
              </a:rPr>
              <a:t>“Kal kya stock mangwana chahiye?”</a:t>
            </a:r>
            <a:endParaRPr lang="en-US" sz="1100" dirty="0"/>
          </a:p>
        </p:txBody>
      </p:sp>
      <p:sp>
        <p:nvSpPr>
          <p:cNvPr id="15" name="Shape 11"/>
          <p:cNvSpPr/>
          <p:nvPr/>
        </p:nvSpPr>
        <p:spPr>
          <a:xfrm>
            <a:off x="5852160" y="3785616"/>
            <a:ext cx="420624" cy="420624"/>
          </a:xfrm>
          <a:prstGeom prst="ellipse">
            <a:avLst/>
          </a:prstGeom>
          <a:solidFill>
            <a:srgbClr val="00A7E1"/>
          </a:solidFill>
          <a:ln/>
        </p:spPr>
      </p:sp>
      <p:pic>
        <p:nvPicPr>
          <p:cNvPr id="16" name="Image 2" descr="/private/tmp/claude-501/-Users-jaypandey-Library-Application-Support-Claude-scratch-workspaces-e205fcbe-ff17-47a0-b0da-08b9c2cd8dd1-9a575c31-2854-4c86-a69f-21eba1183528-scratch-2026-09-25-918942/ab509d62-e048-41fc-927b-5525291df5de/scratchpad/img/icons/LuDatabase_FFFFFF.png">    </p:cNvPr>
          <p:cNvPicPr>
            <a:picLocks noChangeAspect="1"/>
          </p:cNvPicPr>
          <p:nvPr/>
        </p:nvPicPr>
        <p:blipFill>
          <a:blip r:embed="rId3"/>
          <a:stretch>
            <a:fillRect/>
          </a:stretch>
        </p:blipFill>
        <p:spPr>
          <a:xfrm>
            <a:off x="5953110" y="3886566"/>
            <a:ext cx="218724" cy="218724"/>
          </a:xfrm>
          <a:prstGeom prst="rect">
            <a:avLst/>
          </a:prstGeom>
        </p:spPr>
      </p:pic>
      <p:sp>
        <p:nvSpPr>
          <p:cNvPr id="17" name="Text 12"/>
          <p:cNvSpPr txBox="1"/>
          <p:nvPr/>
        </p:nvSpPr>
        <p:spPr>
          <a:xfrm>
            <a:off x="6419088" y="3749040"/>
            <a:ext cx="5029200" cy="237744"/>
          </a:xfrm>
          <a:prstGeom prst="rect">
            <a:avLst/>
          </a:prstGeom>
          <a:noFill/>
          <a:ln/>
        </p:spPr>
        <p:txBody>
          <a:bodyPr wrap="square" lIns="0" tIns="0" rIns="0" bIns="0" rtlCol="0" anchor="t"/>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Grounded, not guessed</a:t>
            </a:r>
            <a:endParaRPr lang="en-US" sz="1250" dirty="0"/>
          </a:p>
        </p:txBody>
      </p:sp>
      <p:sp>
        <p:nvSpPr>
          <p:cNvPr id="18" name="Text 13"/>
          <p:cNvSpPr txBox="1"/>
          <p:nvPr/>
        </p:nvSpPr>
        <p:spPr>
          <a:xfrm>
            <a:off x="6419088" y="3986784"/>
            <a:ext cx="5074920" cy="512064"/>
          </a:xfrm>
          <a:prstGeom prst="rect">
            <a:avLst/>
          </a:prstGeom>
          <a:noFill/>
          <a:ln/>
        </p:spPr>
        <p:txBody>
          <a:bodyPr wrap="square" lIns="0" tIns="0" rIns="0" bIns="0" rtlCol="0" anchor="t"/>
          <a:lstStyle/>
          <a:p>
            <a:pPr algn="l" indent="0" marL="0">
              <a:lnSpc>
                <a:spcPct val="102000"/>
              </a:lnSpc>
              <a:buNone/>
            </a:pPr>
            <a:r>
              <a:rPr lang="en-US" sz="1050" dirty="0">
                <a:solidFill>
                  <a:srgbClr val="B8C8E2"/>
                </a:solidFill>
                <a:latin typeface="Arial" pitchFamily="34" charset="0"/>
                <a:ea typeface="Arial" pitchFamily="34" charset="-122"/>
                <a:cs typeface="Arial" pitchFamily="34" charset="-120"/>
              </a:rPr>
              <a:t>Answers come from the shop’s own bills, stock and Khata through structured tools. It shows the source; it doesn’t invent numbers.</a:t>
            </a:r>
            <a:endParaRPr lang="en-US" sz="1050" dirty="0"/>
          </a:p>
        </p:txBody>
      </p:sp>
      <p:sp>
        <p:nvSpPr>
          <p:cNvPr id="19" name="Shape 14"/>
          <p:cNvSpPr/>
          <p:nvPr/>
        </p:nvSpPr>
        <p:spPr>
          <a:xfrm>
            <a:off x="5852160" y="4572000"/>
            <a:ext cx="420624" cy="420624"/>
          </a:xfrm>
          <a:prstGeom prst="ellipse">
            <a:avLst/>
          </a:prstGeom>
          <a:solidFill>
            <a:srgbClr val="00A7E1"/>
          </a:solidFill>
          <a:ln/>
        </p:spPr>
      </p:sp>
      <p:pic>
        <p:nvPicPr>
          <p:cNvPr id="20" name="Image 3" descr="/private/tmp/claude-501/-Users-jaypandey-Library-Application-Support-Claude-scratch-workspaces-e205fcbe-ff17-47a0-b0da-08b9c2cd8dd1-9a575c31-2854-4c86-a69f-21eba1183528-scratch-2026-09-25-918942/ab509d62-e048-41fc-927b-5525291df5de/scratchpad/img/icons/LuLanguages_FFFFFF.png">    </p:cNvPr>
          <p:cNvPicPr>
            <a:picLocks noChangeAspect="1"/>
          </p:cNvPicPr>
          <p:nvPr/>
        </p:nvPicPr>
        <p:blipFill>
          <a:blip r:embed="rId4"/>
          <a:stretch>
            <a:fillRect/>
          </a:stretch>
        </p:blipFill>
        <p:spPr>
          <a:xfrm>
            <a:off x="5953110" y="4672950"/>
            <a:ext cx="218724" cy="218724"/>
          </a:xfrm>
          <a:prstGeom prst="rect">
            <a:avLst/>
          </a:prstGeom>
        </p:spPr>
      </p:pic>
      <p:sp>
        <p:nvSpPr>
          <p:cNvPr id="21" name="Text 15"/>
          <p:cNvSpPr txBox="1"/>
          <p:nvPr/>
        </p:nvSpPr>
        <p:spPr>
          <a:xfrm>
            <a:off x="6419088" y="4535424"/>
            <a:ext cx="5029200" cy="237744"/>
          </a:xfrm>
          <a:prstGeom prst="rect">
            <a:avLst/>
          </a:prstGeom>
          <a:noFill/>
          <a:ln/>
        </p:spPr>
        <p:txBody>
          <a:bodyPr wrap="square" lIns="0" tIns="0" rIns="0" bIns="0" rtlCol="0" anchor="t"/>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Hindi and Hinglish, spoken</a:t>
            </a:r>
            <a:endParaRPr lang="en-US" sz="1250" dirty="0"/>
          </a:p>
        </p:txBody>
      </p:sp>
      <p:sp>
        <p:nvSpPr>
          <p:cNvPr id="22" name="Text 16"/>
          <p:cNvSpPr txBox="1"/>
          <p:nvPr/>
        </p:nvSpPr>
        <p:spPr>
          <a:xfrm>
            <a:off x="6419088" y="4773168"/>
            <a:ext cx="5074920" cy="512064"/>
          </a:xfrm>
          <a:prstGeom prst="rect">
            <a:avLst/>
          </a:prstGeom>
          <a:noFill/>
          <a:ln/>
        </p:spPr>
        <p:txBody>
          <a:bodyPr wrap="square" lIns="0" tIns="0" rIns="0" bIns="0" rtlCol="0" anchor="t"/>
          <a:lstStyle/>
          <a:p>
            <a:pPr algn="l" indent="0" marL="0">
              <a:lnSpc>
                <a:spcPct val="102000"/>
              </a:lnSpc>
              <a:buNone/>
            </a:pPr>
            <a:r>
              <a:rPr lang="en-US" sz="1050" dirty="0">
                <a:solidFill>
                  <a:srgbClr val="B8C8E2"/>
                </a:solidFill>
                <a:latin typeface="Arial" pitchFamily="34" charset="0"/>
                <a:ea typeface="Arial" pitchFamily="34" charset="-122"/>
                <a:cs typeface="Arial" pitchFamily="34" charset="-120"/>
              </a:rPr>
              <a:t>Built for code-mixed speech using Indian-language speech-to-text and text-to-speech (e.g. Sarvam APIs).</a:t>
            </a:r>
            <a:endParaRPr lang="en-US" sz="1050" dirty="0"/>
          </a:p>
        </p:txBody>
      </p:sp>
      <p:sp>
        <p:nvSpPr>
          <p:cNvPr id="23" name="Shape 17"/>
          <p:cNvSpPr/>
          <p:nvPr/>
        </p:nvSpPr>
        <p:spPr>
          <a:xfrm>
            <a:off x="5852160" y="5358384"/>
            <a:ext cx="420624" cy="420624"/>
          </a:xfrm>
          <a:prstGeom prst="ellipse">
            <a:avLst/>
          </a:prstGeom>
          <a:solidFill>
            <a:srgbClr val="00A7E1"/>
          </a:solidFill>
          <a:ln/>
        </p:spPr>
      </p:sp>
      <p:pic>
        <p:nvPicPr>
          <p:cNvPr id="24" name="Image 4" descr="/private/tmp/claude-501/-Users-jaypandey-Library-Application-Support-Claude-scratch-workspaces-e205fcbe-ff17-47a0-b0da-08b9c2cd8dd1-9a575c31-2854-4c86-a69f-21eba1183528-scratch-2026-09-25-918942/ab509d62-e048-41fc-927b-5525291df5de/scratchpad/img/icons/LuHand_FFFFFF.png">    </p:cNvPr>
          <p:cNvPicPr>
            <a:picLocks noChangeAspect="1"/>
          </p:cNvPicPr>
          <p:nvPr/>
        </p:nvPicPr>
        <p:blipFill>
          <a:blip r:embed="rId5"/>
          <a:stretch>
            <a:fillRect/>
          </a:stretch>
        </p:blipFill>
        <p:spPr>
          <a:xfrm>
            <a:off x="5953110" y="5459334"/>
            <a:ext cx="218724" cy="218724"/>
          </a:xfrm>
          <a:prstGeom prst="rect">
            <a:avLst/>
          </a:prstGeom>
        </p:spPr>
      </p:pic>
      <p:sp>
        <p:nvSpPr>
          <p:cNvPr id="25" name="Text 18"/>
          <p:cNvSpPr txBox="1"/>
          <p:nvPr/>
        </p:nvSpPr>
        <p:spPr>
          <a:xfrm>
            <a:off x="6419088" y="5321808"/>
            <a:ext cx="5029200" cy="237744"/>
          </a:xfrm>
          <a:prstGeom prst="rect">
            <a:avLst/>
          </a:prstGeom>
          <a:noFill/>
          <a:ln/>
        </p:spPr>
        <p:txBody>
          <a:bodyPr wrap="square" lIns="0" tIns="0" rIns="0" bIns="0" rtlCol="0" anchor="t"/>
          <a:lstStyle/>
          <a:p>
            <a:pPr algn="l" indent="0" marL="0">
              <a:lnSpc>
                <a:spcPct val="100000"/>
              </a:lnSpc>
              <a:buNone/>
            </a:pPr>
            <a:r>
              <a:rPr lang="en-US" sz="1250" b="1" dirty="0">
                <a:solidFill>
                  <a:srgbClr val="FFFFFF"/>
                </a:solidFill>
                <a:latin typeface="Arial" pitchFamily="34" charset="0"/>
                <a:ea typeface="Arial" pitchFamily="34" charset="-122"/>
                <a:cs typeface="Arial" pitchFamily="34" charset="-120"/>
              </a:rPr>
              <a:t>Suggests, never acts alone</a:t>
            </a:r>
            <a:endParaRPr lang="en-US" sz="1250" dirty="0"/>
          </a:p>
        </p:txBody>
      </p:sp>
      <p:sp>
        <p:nvSpPr>
          <p:cNvPr id="26" name="Text 19"/>
          <p:cNvSpPr txBox="1"/>
          <p:nvPr/>
        </p:nvSpPr>
        <p:spPr>
          <a:xfrm>
            <a:off x="6419088" y="5559552"/>
            <a:ext cx="5074920" cy="512064"/>
          </a:xfrm>
          <a:prstGeom prst="rect">
            <a:avLst/>
          </a:prstGeom>
          <a:noFill/>
          <a:ln/>
        </p:spPr>
        <p:txBody>
          <a:bodyPr wrap="square" lIns="0" tIns="0" rIns="0" bIns="0" rtlCol="0" anchor="t"/>
          <a:lstStyle/>
          <a:p>
            <a:pPr algn="l" indent="0" marL="0">
              <a:lnSpc>
                <a:spcPct val="102000"/>
              </a:lnSpc>
              <a:buNone/>
            </a:pPr>
            <a:r>
              <a:rPr lang="en-US" sz="1050" dirty="0">
                <a:solidFill>
                  <a:srgbClr val="B8C8E2"/>
                </a:solidFill>
                <a:latin typeface="Arial" pitchFamily="34" charset="0"/>
                <a:ea typeface="Arial" pitchFamily="34" charset="-122"/>
                <a:cs typeface="Arial" pitchFamily="34" charset="-120"/>
              </a:rPr>
              <a:t>Reorders, reminders and anything touching money wait for the shopkeeper’s “haan”.</a:t>
            </a:r>
            <a:endParaRPr lang="en-US" sz="1050" dirty="0"/>
          </a:p>
        </p:txBody>
      </p:sp>
      <p:sp>
        <p:nvSpPr>
          <p:cNvPr id="27" name="Text 20"/>
          <p:cNvSpPr txBox="1"/>
          <p:nvPr/>
        </p:nvSpPr>
        <p:spPr>
          <a:xfrm>
            <a:off x="548640" y="6355080"/>
            <a:ext cx="3255264" cy="237744"/>
          </a:xfrm>
          <a:prstGeom prst="roundRect">
            <a:avLst>
              <a:gd name="adj" fmla="val 50000"/>
            </a:avLst>
          </a:prstGeom>
          <a:solidFill>
            <a:srgbClr val="E3F1FA"/>
          </a:solidFill>
          <a:ln/>
        </p:spPr>
        <p:txBody>
          <a:bodyPr wrap="square" lIns="0" tIns="0" rIns="0" bIns="0" rtlCol="0" anchor="ctr"/>
          <a:lstStyle/>
          <a:p>
            <a:pPr algn="ctr" indent="0" marL="0">
              <a:lnSpc>
                <a:spcPct val="100000"/>
              </a:lnSpc>
              <a:buNone/>
            </a:pPr>
            <a:r>
              <a:rPr lang="en-US" sz="850" b="1" spc="60" kern="0" dirty="0">
                <a:solidFill>
                  <a:srgbClr val="005D99"/>
                </a:solidFill>
                <a:latin typeface="Arial" pitchFamily="34" charset="0"/>
                <a:ea typeface="Arial" pitchFamily="34" charset="-122"/>
                <a:cs typeface="Arial" pitchFamily="34" charset="-120"/>
              </a:rPr>
              <a:t>CONCEPT SCREENS · ILLUSTRATIVE DEMO DATA</a:t>
            </a:r>
            <a:endParaRPr lang="en-US" sz="850" dirty="0"/>
          </a:p>
        </p:txBody>
      </p:sp>
      <p:sp>
        <p:nvSpPr>
          <p:cNvPr id="28" name="Text 21"/>
          <p:cNvSpPr txBox="1"/>
          <p:nvPr/>
        </p:nvSpPr>
        <p:spPr>
          <a:xfrm>
            <a:off x="9354312" y="6419088"/>
            <a:ext cx="2286000" cy="228600"/>
          </a:xfrm>
          <a:prstGeom prst="rect">
            <a:avLst/>
          </a:prstGeom>
          <a:noFill/>
          <a:ln/>
        </p:spPr>
        <p:txBody>
          <a:bodyPr wrap="square" lIns="0" tIns="0" rIns="0" bIns="0" rtlCol="0" anchor="t"/>
          <a:lstStyle/>
          <a:p>
            <a:pPr algn="r" indent="0" marL="0">
              <a:lnSpc>
                <a:spcPct val="100000"/>
              </a:lnSpc>
              <a:buNone/>
            </a:pPr>
            <a:r>
              <a:rPr lang="en-US" sz="900" dirty="0">
                <a:solidFill>
                  <a:srgbClr val="8A99B3"/>
                </a:solidFill>
                <a:latin typeface="Arial" pitchFamily="34" charset="0"/>
                <a:ea typeface="Arial" pitchFamily="34" charset="-122"/>
                <a:cs typeface="Arial" pitchFamily="34" charset="-120"/>
              </a:rPr>
              <a:t>06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C"/>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072BC"/>
                </a:solidFill>
                <a:latin typeface="Arial" pitchFamily="34" charset="0"/>
                <a:ea typeface="Arial" pitchFamily="34" charset="-122"/>
                <a:cs typeface="Arial" pitchFamily="34" charset="-120"/>
              </a:rPr>
              <a:t>END-TO-END PRODUCT DEMO</a:t>
            </a:r>
            <a:endParaRPr lang="en-US" sz="1100" dirty="0"/>
          </a:p>
        </p:txBody>
      </p:sp>
      <p:sp>
        <p:nvSpPr>
          <p:cNvPr id="3" name="Text 1"/>
          <p:cNvSpPr txBox="1"/>
          <p:nvPr/>
        </p:nvSpPr>
        <p:spPr>
          <a:xfrm>
            <a:off x="548640" y="676656"/>
            <a:ext cx="11064240" cy="566928"/>
          </a:xfrm>
          <a:prstGeom prst="rect">
            <a:avLst/>
          </a:prstGeom>
          <a:noFill/>
          <a:ln/>
        </p:spPr>
        <p:txBody>
          <a:bodyPr wrap="square" lIns="0" tIns="0" rIns="0" bIns="0" rtlCol="0" anchor="t"/>
          <a:lstStyle/>
          <a:p>
            <a:pPr algn="l" indent="0" marL="0">
              <a:lnSpc>
                <a:spcPct val="100000"/>
              </a:lnSpc>
              <a:buNone/>
            </a:pPr>
            <a:r>
              <a:rPr lang="en-US" sz="3000" b="1" dirty="0">
                <a:solidFill>
                  <a:srgbClr val="0B1F44"/>
                </a:solidFill>
                <a:latin typeface="Arial" pitchFamily="34" charset="0"/>
                <a:ea typeface="Arial" pitchFamily="34" charset="-122"/>
                <a:cs typeface="Arial" pitchFamily="34" charset="-120"/>
              </a:rPr>
              <a:t>One transaction, all the way to a decision.</a:t>
            </a:r>
            <a:endParaRPr lang="en-US" sz="3000" dirty="0"/>
          </a:p>
        </p:txBody>
      </p:sp>
      <p:sp>
        <p:nvSpPr>
          <p:cNvPr id="4" name="Shape 2"/>
          <p:cNvSpPr/>
          <p:nvPr/>
        </p:nvSpPr>
        <p:spPr>
          <a:xfrm>
            <a:off x="548640" y="1481328"/>
            <a:ext cx="2066544" cy="475488"/>
          </a:xfrm>
          <a:prstGeom prst="roundRect">
            <a:avLst>
              <a:gd name="adj" fmla="val 50000"/>
            </a:avLst>
          </a:prstGeom>
          <a:solidFill>
            <a:srgbClr val="0B1F44"/>
          </a:solidFill>
          <a:ln/>
        </p:spPr>
      </p:sp>
      <p:sp>
        <p:nvSpPr>
          <p:cNvPr id="5" name="Shape 3"/>
          <p:cNvSpPr/>
          <p:nvPr/>
        </p:nvSpPr>
        <p:spPr>
          <a:xfrm>
            <a:off x="621792" y="1554480"/>
            <a:ext cx="329184" cy="329184"/>
          </a:xfrm>
          <a:prstGeom prst="ellipse">
            <a:avLst/>
          </a:prstGeom>
          <a:solidFill>
            <a:srgbClr val="FFFFFF"/>
          </a:solidFill>
          <a:ln/>
        </p:spPr>
      </p:sp>
      <p:sp>
        <p:nvSpPr>
          <p:cNvPr id="6" name="Text 4"/>
          <p:cNvSpPr txBox="1"/>
          <p:nvPr/>
        </p:nvSpPr>
        <p:spPr>
          <a:xfrm>
            <a:off x="621792" y="1554480"/>
            <a:ext cx="329184" cy="329184"/>
          </a:xfrm>
          <a:prstGeom prst="rect">
            <a:avLst/>
          </a:prstGeom>
          <a:noFill/>
          <a:ln/>
        </p:spPr>
        <p:txBody>
          <a:bodyPr wrap="square" lIns="0" tIns="0" rIns="0" bIns="0" rtlCol="0" anchor="ctr"/>
          <a:lstStyle/>
          <a:p>
            <a:pPr algn="ctr" indent="0" marL="0">
              <a:lnSpc>
                <a:spcPct val="100000"/>
              </a:lnSpc>
              <a:buNone/>
            </a:pPr>
            <a:r>
              <a:rPr lang="en-US" sz="1200" b="1" dirty="0">
                <a:solidFill>
                  <a:srgbClr val="0B1F44"/>
                </a:solidFill>
                <a:latin typeface="Arial" pitchFamily="34" charset="0"/>
                <a:ea typeface="Arial" pitchFamily="34" charset="-122"/>
                <a:cs typeface="Arial" pitchFamily="34" charset="-120"/>
              </a:rPr>
              <a:t>1</a:t>
            </a:r>
            <a:endParaRPr lang="en-US" sz="1200" dirty="0"/>
          </a:p>
        </p:txBody>
      </p:sp>
      <p:sp>
        <p:nvSpPr>
          <p:cNvPr id="7" name="Text 5"/>
          <p:cNvSpPr txBox="1"/>
          <p:nvPr/>
        </p:nvSpPr>
        <p:spPr>
          <a:xfrm>
            <a:off x="1024128" y="1481328"/>
            <a:ext cx="1517904" cy="475488"/>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Arial" pitchFamily="34" charset="0"/>
                <a:ea typeface="Arial" pitchFamily="34" charset="-122"/>
                <a:cs typeface="Arial" pitchFamily="34" charset="-120"/>
              </a:rPr>
              <a:t>Transaction data</a:t>
            </a:r>
            <a:endParaRPr lang="en-US" sz="1200" dirty="0"/>
          </a:p>
        </p:txBody>
      </p:sp>
      <p:sp>
        <p:nvSpPr>
          <p:cNvPr id="8" name="Shape 6"/>
          <p:cNvSpPr/>
          <p:nvPr/>
        </p:nvSpPr>
        <p:spPr>
          <a:xfrm>
            <a:off x="2633472" y="1719072"/>
            <a:ext cx="155448" cy="91"/>
          </a:xfrm>
          <a:prstGeom prst="line">
            <a:avLst/>
          </a:prstGeom>
          <a:noFill/>
          <a:ln w="19050">
            <a:solidFill>
              <a:srgbClr val="0B1F44"/>
            </a:solidFill>
            <a:prstDash val="solid"/>
            <a:tailEnd type="triangle"/>
          </a:ln>
        </p:spPr>
      </p:sp>
      <p:sp>
        <p:nvSpPr>
          <p:cNvPr id="9" name="Shape 7"/>
          <p:cNvSpPr/>
          <p:nvPr/>
        </p:nvSpPr>
        <p:spPr>
          <a:xfrm>
            <a:off x="2798064" y="1481328"/>
            <a:ext cx="2066544" cy="475488"/>
          </a:xfrm>
          <a:prstGeom prst="roundRect">
            <a:avLst>
              <a:gd name="adj" fmla="val 50000"/>
            </a:avLst>
          </a:prstGeom>
          <a:solidFill>
            <a:srgbClr val="0B1F44"/>
          </a:solidFill>
          <a:ln/>
        </p:spPr>
      </p:sp>
      <p:sp>
        <p:nvSpPr>
          <p:cNvPr id="10" name="Shape 8"/>
          <p:cNvSpPr/>
          <p:nvPr/>
        </p:nvSpPr>
        <p:spPr>
          <a:xfrm>
            <a:off x="2871216" y="1554480"/>
            <a:ext cx="329184" cy="329184"/>
          </a:xfrm>
          <a:prstGeom prst="ellipse">
            <a:avLst/>
          </a:prstGeom>
          <a:solidFill>
            <a:srgbClr val="FFFFFF"/>
          </a:solidFill>
          <a:ln/>
        </p:spPr>
      </p:sp>
      <p:sp>
        <p:nvSpPr>
          <p:cNvPr id="11" name="Text 9"/>
          <p:cNvSpPr txBox="1"/>
          <p:nvPr/>
        </p:nvSpPr>
        <p:spPr>
          <a:xfrm>
            <a:off x="2871216" y="1554480"/>
            <a:ext cx="329184" cy="329184"/>
          </a:xfrm>
          <a:prstGeom prst="rect">
            <a:avLst/>
          </a:prstGeom>
          <a:noFill/>
          <a:ln/>
        </p:spPr>
        <p:txBody>
          <a:bodyPr wrap="square" lIns="0" tIns="0" rIns="0" bIns="0" rtlCol="0" anchor="ctr"/>
          <a:lstStyle/>
          <a:p>
            <a:pPr algn="ctr" indent="0" marL="0">
              <a:lnSpc>
                <a:spcPct val="100000"/>
              </a:lnSpc>
              <a:buNone/>
            </a:pPr>
            <a:r>
              <a:rPr lang="en-US" sz="1200" b="1" dirty="0">
                <a:solidFill>
                  <a:srgbClr val="0B1F44"/>
                </a:solidFill>
                <a:latin typeface="Arial" pitchFamily="34" charset="0"/>
                <a:ea typeface="Arial" pitchFamily="34" charset="-122"/>
                <a:cs typeface="Arial" pitchFamily="34" charset="-120"/>
              </a:rPr>
              <a:t>2</a:t>
            </a:r>
            <a:endParaRPr lang="en-US" sz="1200" dirty="0"/>
          </a:p>
        </p:txBody>
      </p:sp>
      <p:sp>
        <p:nvSpPr>
          <p:cNvPr id="12" name="Text 10"/>
          <p:cNvSpPr txBox="1"/>
          <p:nvPr/>
        </p:nvSpPr>
        <p:spPr>
          <a:xfrm>
            <a:off x="3273552" y="1481328"/>
            <a:ext cx="1517904" cy="475488"/>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Arial" pitchFamily="34" charset="0"/>
                <a:ea typeface="Arial" pitchFamily="34" charset="-122"/>
                <a:cs typeface="Arial" pitchFamily="34" charset="-120"/>
              </a:rPr>
              <a:t>Insight</a:t>
            </a:r>
            <a:endParaRPr lang="en-US" sz="1200" dirty="0"/>
          </a:p>
        </p:txBody>
      </p:sp>
      <p:sp>
        <p:nvSpPr>
          <p:cNvPr id="13" name="Shape 11"/>
          <p:cNvSpPr/>
          <p:nvPr/>
        </p:nvSpPr>
        <p:spPr>
          <a:xfrm>
            <a:off x="4882896" y="1719072"/>
            <a:ext cx="155448" cy="91"/>
          </a:xfrm>
          <a:prstGeom prst="line">
            <a:avLst/>
          </a:prstGeom>
          <a:noFill/>
          <a:ln w="19050">
            <a:solidFill>
              <a:srgbClr val="0B1F44"/>
            </a:solidFill>
            <a:prstDash val="solid"/>
            <a:tailEnd type="triangle"/>
          </a:ln>
        </p:spPr>
      </p:sp>
      <p:sp>
        <p:nvSpPr>
          <p:cNvPr id="14" name="Shape 12"/>
          <p:cNvSpPr/>
          <p:nvPr/>
        </p:nvSpPr>
        <p:spPr>
          <a:xfrm>
            <a:off x="5047488" y="1481328"/>
            <a:ext cx="2066544" cy="475488"/>
          </a:xfrm>
          <a:prstGeom prst="roundRect">
            <a:avLst>
              <a:gd name="adj" fmla="val 50000"/>
            </a:avLst>
          </a:prstGeom>
          <a:solidFill>
            <a:srgbClr val="0B1F44"/>
          </a:solidFill>
          <a:ln/>
        </p:spPr>
      </p:sp>
      <p:sp>
        <p:nvSpPr>
          <p:cNvPr id="15" name="Shape 13"/>
          <p:cNvSpPr/>
          <p:nvPr/>
        </p:nvSpPr>
        <p:spPr>
          <a:xfrm>
            <a:off x="5120640" y="1554480"/>
            <a:ext cx="329184" cy="329184"/>
          </a:xfrm>
          <a:prstGeom prst="ellipse">
            <a:avLst/>
          </a:prstGeom>
          <a:solidFill>
            <a:srgbClr val="FFFFFF"/>
          </a:solidFill>
          <a:ln/>
        </p:spPr>
      </p:sp>
      <p:sp>
        <p:nvSpPr>
          <p:cNvPr id="16" name="Text 14"/>
          <p:cNvSpPr txBox="1"/>
          <p:nvPr/>
        </p:nvSpPr>
        <p:spPr>
          <a:xfrm>
            <a:off x="5120640" y="1554480"/>
            <a:ext cx="329184" cy="329184"/>
          </a:xfrm>
          <a:prstGeom prst="rect">
            <a:avLst/>
          </a:prstGeom>
          <a:noFill/>
          <a:ln/>
        </p:spPr>
        <p:txBody>
          <a:bodyPr wrap="square" lIns="0" tIns="0" rIns="0" bIns="0" rtlCol="0" anchor="ctr"/>
          <a:lstStyle/>
          <a:p>
            <a:pPr algn="ctr" indent="0" marL="0">
              <a:lnSpc>
                <a:spcPct val="100000"/>
              </a:lnSpc>
              <a:buNone/>
            </a:pPr>
            <a:r>
              <a:rPr lang="en-US" sz="1200" b="1" dirty="0">
                <a:solidFill>
                  <a:srgbClr val="0B1F44"/>
                </a:solidFill>
                <a:latin typeface="Arial" pitchFamily="34" charset="0"/>
                <a:ea typeface="Arial" pitchFamily="34" charset="-122"/>
                <a:cs typeface="Arial" pitchFamily="34" charset="-120"/>
              </a:rPr>
              <a:t>3</a:t>
            </a:r>
            <a:endParaRPr lang="en-US" sz="1200" dirty="0"/>
          </a:p>
        </p:txBody>
      </p:sp>
      <p:sp>
        <p:nvSpPr>
          <p:cNvPr id="17" name="Text 15"/>
          <p:cNvSpPr txBox="1"/>
          <p:nvPr/>
        </p:nvSpPr>
        <p:spPr>
          <a:xfrm>
            <a:off x="5522976" y="1481328"/>
            <a:ext cx="1517904" cy="475488"/>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Arial" pitchFamily="34" charset="0"/>
                <a:ea typeface="Arial" pitchFamily="34" charset="-122"/>
                <a:cs typeface="Arial" pitchFamily="34" charset="-120"/>
              </a:rPr>
              <a:t>Recommendation</a:t>
            </a:r>
            <a:endParaRPr lang="en-US" sz="1200" dirty="0"/>
          </a:p>
        </p:txBody>
      </p:sp>
      <p:sp>
        <p:nvSpPr>
          <p:cNvPr id="18" name="Shape 16"/>
          <p:cNvSpPr/>
          <p:nvPr/>
        </p:nvSpPr>
        <p:spPr>
          <a:xfrm>
            <a:off x="7132320" y="1719072"/>
            <a:ext cx="155448" cy="91"/>
          </a:xfrm>
          <a:prstGeom prst="line">
            <a:avLst/>
          </a:prstGeom>
          <a:noFill/>
          <a:ln w="19050">
            <a:solidFill>
              <a:srgbClr val="0B1F44"/>
            </a:solidFill>
            <a:prstDash val="solid"/>
            <a:tailEnd type="triangle"/>
          </a:ln>
        </p:spPr>
      </p:sp>
      <p:sp>
        <p:nvSpPr>
          <p:cNvPr id="19" name="Shape 17"/>
          <p:cNvSpPr/>
          <p:nvPr/>
        </p:nvSpPr>
        <p:spPr>
          <a:xfrm>
            <a:off x="7296912" y="1481328"/>
            <a:ext cx="2066544" cy="475488"/>
          </a:xfrm>
          <a:prstGeom prst="roundRect">
            <a:avLst>
              <a:gd name="adj" fmla="val 50000"/>
            </a:avLst>
          </a:prstGeom>
          <a:solidFill>
            <a:srgbClr val="00A7E1"/>
          </a:solidFill>
          <a:ln/>
        </p:spPr>
      </p:sp>
      <p:sp>
        <p:nvSpPr>
          <p:cNvPr id="20" name="Shape 18"/>
          <p:cNvSpPr/>
          <p:nvPr/>
        </p:nvSpPr>
        <p:spPr>
          <a:xfrm>
            <a:off x="7370064" y="1554480"/>
            <a:ext cx="329184" cy="329184"/>
          </a:xfrm>
          <a:prstGeom prst="ellipse">
            <a:avLst/>
          </a:prstGeom>
          <a:solidFill>
            <a:srgbClr val="FFFFFF"/>
          </a:solidFill>
          <a:ln/>
        </p:spPr>
      </p:sp>
      <p:sp>
        <p:nvSpPr>
          <p:cNvPr id="21" name="Text 19"/>
          <p:cNvSpPr txBox="1"/>
          <p:nvPr/>
        </p:nvSpPr>
        <p:spPr>
          <a:xfrm>
            <a:off x="7370064" y="1554480"/>
            <a:ext cx="329184" cy="329184"/>
          </a:xfrm>
          <a:prstGeom prst="rect">
            <a:avLst/>
          </a:prstGeom>
          <a:noFill/>
          <a:ln/>
        </p:spPr>
        <p:txBody>
          <a:bodyPr wrap="square" lIns="0" tIns="0" rIns="0" bIns="0" rtlCol="0" anchor="ctr"/>
          <a:lstStyle/>
          <a:p>
            <a:pPr algn="ctr" indent="0" marL="0">
              <a:lnSpc>
                <a:spcPct val="100000"/>
              </a:lnSpc>
              <a:buNone/>
            </a:pPr>
            <a:r>
              <a:rPr lang="en-US" sz="1200" b="1" dirty="0">
                <a:solidFill>
                  <a:srgbClr val="0072BC"/>
                </a:solidFill>
                <a:latin typeface="Arial" pitchFamily="34" charset="0"/>
                <a:ea typeface="Arial" pitchFamily="34" charset="-122"/>
                <a:cs typeface="Arial" pitchFamily="34" charset="-120"/>
              </a:rPr>
              <a:t>4</a:t>
            </a:r>
            <a:endParaRPr lang="en-US" sz="1200" dirty="0"/>
          </a:p>
        </p:txBody>
      </p:sp>
      <p:sp>
        <p:nvSpPr>
          <p:cNvPr id="22" name="Text 20"/>
          <p:cNvSpPr txBox="1"/>
          <p:nvPr/>
        </p:nvSpPr>
        <p:spPr>
          <a:xfrm>
            <a:off x="7772400" y="1481328"/>
            <a:ext cx="1517904" cy="475488"/>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Arial" pitchFamily="34" charset="0"/>
                <a:ea typeface="Arial" pitchFamily="34" charset="-122"/>
                <a:cs typeface="Arial" pitchFamily="34" charset="-120"/>
              </a:rPr>
              <a:t>Merchant approval</a:t>
            </a:r>
            <a:endParaRPr lang="en-US" sz="1200" dirty="0"/>
          </a:p>
        </p:txBody>
      </p:sp>
      <p:sp>
        <p:nvSpPr>
          <p:cNvPr id="23" name="Shape 21"/>
          <p:cNvSpPr/>
          <p:nvPr/>
        </p:nvSpPr>
        <p:spPr>
          <a:xfrm>
            <a:off x="9381744" y="1719072"/>
            <a:ext cx="155448" cy="91"/>
          </a:xfrm>
          <a:prstGeom prst="line">
            <a:avLst/>
          </a:prstGeom>
          <a:noFill/>
          <a:ln w="19050">
            <a:solidFill>
              <a:srgbClr val="0B1F44"/>
            </a:solidFill>
            <a:prstDash val="solid"/>
            <a:tailEnd type="triangle"/>
          </a:ln>
        </p:spPr>
      </p:sp>
      <p:sp>
        <p:nvSpPr>
          <p:cNvPr id="24" name="Shape 22"/>
          <p:cNvSpPr/>
          <p:nvPr/>
        </p:nvSpPr>
        <p:spPr>
          <a:xfrm>
            <a:off x="9546336" y="1481328"/>
            <a:ext cx="2066544" cy="475488"/>
          </a:xfrm>
          <a:prstGeom prst="roundRect">
            <a:avLst>
              <a:gd name="adj" fmla="val 50000"/>
            </a:avLst>
          </a:prstGeom>
          <a:solidFill>
            <a:srgbClr val="0B1F44"/>
          </a:solidFill>
          <a:ln/>
        </p:spPr>
      </p:sp>
      <p:sp>
        <p:nvSpPr>
          <p:cNvPr id="25" name="Shape 23"/>
          <p:cNvSpPr/>
          <p:nvPr/>
        </p:nvSpPr>
        <p:spPr>
          <a:xfrm>
            <a:off x="9619488" y="1554480"/>
            <a:ext cx="329184" cy="329184"/>
          </a:xfrm>
          <a:prstGeom prst="ellipse">
            <a:avLst/>
          </a:prstGeom>
          <a:solidFill>
            <a:srgbClr val="FFFFFF"/>
          </a:solidFill>
          <a:ln/>
        </p:spPr>
      </p:sp>
      <p:sp>
        <p:nvSpPr>
          <p:cNvPr id="26" name="Text 24"/>
          <p:cNvSpPr txBox="1"/>
          <p:nvPr/>
        </p:nvSpPr>
        <p:spPr>
          <a:xfrm>
            <a:off x="9619488" y="1554480"/>
            <a:ext cx="329184" cy="329184"/>
          </a:xfrm>
          <a:prstGeom prst="rect">
            <a:avLst/>
          </a:prstGeom>
          <a:noFill/>
          <a:ln/>
        </p:spPr>
        <p:txBody>
          <a:bodyPr wrap="square" lIns="0" tIns="0" rIns="0" bIns="0" rtlCol="0" anchor="ctr"/>
          <a:lstStyle/>
          <a:p>
            <a:pPr algn="ctr" indent="0" marL="0">
              <a:lnSpc>
                <a:spcPct val="100000"/>
              </a:lnSpc>
              <a:buNone/>
            </a:pPr>
            <a:r>
              <a:rPr lang="en-US" sz="1200" b="1" dirty="0">
                <a:solidFill>
                  <a:srgbClr val="0B1F44"/>
                </a:solidFill>
                <a:latin typeface="Arial" pitchFamily="34" charset="0"/>
                <a:ea typeface="Arial" pitchFamily="34" charset="-122"/>
                <a:cs typeface="Arial" pitchFamily="34" charset="-120"/>
              </a:rPr>
              <a:t>5</a:t>
            </a:r>
            <a:endParaRPr lang="en-US" sz="1200" dirty="0"/>
          </a:p>
        </p:txBody>
      </p:sp>
      <p:sp>
        <p:nvSpPr>
          <p:cNvPr id="27" name="Text 25"/>
          <p:cNvSpPr txBox="1"/>
          <p:nvPr/>
        </p:nvSpPr>
        <p:spPr>
          <a:xfrm>
            <a:off x="10021824" y="1481328"/>
            <a:ext cx="1517904" cy="475488"/>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Arial" pitchFamily="34" charset="0"/>
                <a:ea typeface="Arial" pitchFamily="34" charset="-122"/>
                <a:cs typeface="Arial" pitchFamily="34" charset="-120"/>
              </a:rPr>
              <a:t>Action</a:t>
            </a:r>
            <a:endParaRPr lang="en-US" sz="1200" dirty="0"/>
          </a:p>
        </p:txBody>
      </p:sp>
      <p:sp>
        <p:nvSpPr>
          <p:cNvPr id="28" name="Shape 26"/>
          <p:cNvSpPr/>
          <p:nvPr/>
        </p:nvSpPr>
        <p:spPr>
          <a:xfrm>
            <a:off x="548640" y="2148840"/>
            <a:ext cx="2066544" cy="2331720"/>
          </a:xfrm>
          <a:prstGeom prst="roundRect">
            <a:avLst>
              <a:gd name="adj" fmla="val 6195"/>
            </a:avLst>
          </a:prstGeom>
          <a:solidFill>
            <a:srgbClr val="FFFFFF"/>
          </a:solidFill>
          <a:ln/>
          <a:effectLst>
            <a:outerShdw sx="100000" sy="100000" kx="0" ky="0" algn="bl" rotWithShape="0" blurRad="114300" dist="25400" dir="5400000">
              <a:srgbClr val="0B1F44">
                <a:alpha val="13000"/>
              </a:srgbClr>
            </a:outerShdw>
          </a:effectLst>
        </p:spPr>
      </p:sp>
      <p:sp>
        <p:nvSpPr>
          <p:cNvPr id="29" name="Text 27"/>
          <p:cNvSpPr txBox="1"/>
          <p:nvPr/>
        </p:nvSpPr>
        <p:spPr>
          <a:xfrm>
            <a:off x="713232" y="2313432"/>
            <a:ext cx="1737360" cy="228600"/>
          </a:xfrm>
          <a:prstGeom prst="rect">
            <a:avLst/>
          </a:prstGeom>
          <a:noFill/>
          <a:ln/>
        </p:spPr>
        <p:txBody>
          <a:bodyPr wrap="square" lIns="0" tIns="0" rIns="0" bIns="0" rtlCol="0" anchor="t"/>
          <a:lstStyle/>
          <a:p>
            <a:pPr algn="l" indent="0" marL="0">
              <a:lnSpc>
                <a:spcPct val="100000"/>
              </a:lnSpc>
              <a:buNone/>
            </a:pPr>
            <a:r>
              <a:rPr lang="en-US" sz="1000" b="1" dirty="0">
                <a:solidFill>
                  <a:srgbClr val="5A6A85"/>
                </a:solidFill>
                <a:latin typeface="Arial" pitchFamily="34" charset="0"/>
                <a:ea typeface="Arial" pitchFamily="34" charset="-122"/>
                <a:cs typeface="Arial" pitchFamily="34" charset="-120"/>
              </a:rPr>
              <a:t>Bill #1064</a:t>
            </a:r>
            <a:endParaRPr lang="en-US" sz="1000" dirty="0"/>
          </a:p>
        </p:txBody>
      </p:sp>
      <p:sp>
        <p:nvSpPr>
          <p:cNvPr id="30" name="Text 28"/>
          <p:cNvSpPr txBox="1"/>
          <p:nvPr/>
        </p:nvSpPr>
        <p:spPr>
          <a:xfrm>
            <a:off x="713232" y="2532888"/>
            <a:ext cx="1737360" cy="365760"/>
          </a:xfrm>
          <a:prstGeom prst="rect">
            <a:avLst/>
          </a:prstGeom>
          <a:noFill/>
          <a:ln/>
        </p:spPr>
        <p:txBody>
          <a:bodyPr wrap="square" lIns="0" tIns="0" rIns="0" bIns="0" rtlCol="0" anchor="t"/>
          <a:lstStyle/>
          <a:p>
            <a:pPr algn="l" indent="0" marL="0">
              <a:lnSpc>
                <a:spcPct val="100000"/>
              </a:lnSpc>
              <a:buNone/>
            </a:pPr>
            <a:r>
              <a:rPr lang="en-US" sz="2200" b="1" dirty="0">
                <a:solidFill>
                  <a:srgbClr val="0B1F44"/>
                </a:solidFill>
                <a:latin typeface="Arial" pitchFamily="34" charset="0"/>
                <a:ea typeface="Arial" pitchFamily="34" charset="-122"/>
                <a:cs typeface="Arial" pitchFamily="34" charset="-120"/>
              </a:rPr>
              <a:t>₹202</a:t>
            </a:r>
            <a:endParaRPr lang="en-US" sz="2200" dirty="0"/>
          </a:p>
        </p:txBody>
      </p:sp>
      <p:sp>
        <p:nvSpPr>
          <p:cNvPr id="31" name="Text 29"/>
          <p:cNvSpPr txBox="1"/>
          <p:nvPr/>
        </p:nvSpPr>
        <p:spPr>
          <a:xfrm>
            <a:off x="713232" y="2971800"/>
            <a:ext cx="1737360" cy="237744"/>
          </a:xfrm>
          <a:prstGeom prst="roundRect">
            <a:avLst>
              <a:gd name="adj" fmla="val 50000"/>
            </a:avLst>
          </a:prstGeom>
          <a:solidFill>
            <a:srgbClr val="E3F4EC"/>
          </a:solidFill>
          <a:ln/>
        </p:spPr>
        <p:txBody>
          <a:bodyPr wrap="square" lIns="0" tIns="0" rIns="0" bIns="0" rtlCol="0" anchor="ctr"/>
          <a:lstStyle/>
          <a:p>
            <a:pPr algn="ctr" indent="0" marL="0">
              <a:lnSpc>
                <a:spcPct val="100000"/>
              </a:lnSpc>
              <a:buNone/>
            </a:pPr>
            <a:r>
              <a:rPr lang="en-US" sz="950" b="1" dirty="0">
                <a:solidFill>
                  <a:srgbClr val="1A9E6A"/>
                </a:solidFill>
                <a:latin typeface="Arial" pitchFamily="34" charset="0"/>
                <a:ea typeface="Arial" pitchFamily="34" charset="-122"/>
                <a:cs typeface="Arial" pitchFamily="34" charset="-120"/>
              </a:rPr>
              <a:t>✓ Paid · webhook verified</a:t>
            </a:r>
            <a:endParaRPr lang="en-US" sz="950" dirty="0"/>
          </a:p>
        </p:txBody>
      </p:sp>
      <p:sp>
        <p:nvSpPr>
          <p:cNvPr id="32" name="Text 30"/>
          <p:cNvSpPr txBox="1"/>
          <p:nvPr/>
        </p:nvSpPr>
        <p:spPr>
          <a:xfrm>
            <a:off x="713232" y="3337560"/>
            <a:ext cx="1783080" cy="1005840"/>
          </a:xfrm>
          <a:prstGeom prst="rect">
            <a:avLst/>
          </a:prstGeom>
          <a:noFill/>
          <a:ln/>
        </p:spPr>
        <p:txBody>
          <a:bodyPr wrap="square" lIns="0" tIns="0" rIns="0" bIns="0" rtlCol="0" anchor="t"/>
          <a:lstStyle/>
          <a:p>
            <a:pPr algn="l" indent="0" marL="0">
              <a:lnSpc>
                <a:spcPct val="100000"/>
              </a:lnSpc>
              <a:spcAft>
                <a:spcPts val="300"/>
              </a:spcAft>
              <a:buNone/>
            </a:pPr>
            <a:r>
              <a:rPr lang="en-US" sz="1050" b="1" dirty="0">
                <a:solidFill>
                  <a:srgbClr val="0F1B33"/>
                </a:solidFill>
                <a:latin typeface="Arial" pitchFamily="34" charset="0"/>
                <a:ea typeface="Arial" pitchFamily="34" charset="-122"/>
                <a:cs typeface="Arial" pitchFamily="34" charset="-120"/>
              </a:rPr>
              <a:t>Toned milk 500ml</a:t>
            </a:r>
            <a:endParaRPr lang="en-US" sz="1050" dirty="0"/>
          </a:p>
          <a:p>
            <a:pPr algn="l" indent="0" marL="0">
              <a:lnSpc>
                <a:spcPct val="100000"/>
              </a:lnSpc>
              <a:spcAft>
                <a:spcPts val="300"/>
              </a:spcAft>
              <a:buNone/>
            </a:pPr>
            <a:r>
              <a:rPr lang="en-US" sz="1050" dirty="0">
                <a:solidFill>
                  <a:srgbClr val="0F1B33"/>
                </a:solidFill>
                <a:latin typeface="Arial" pitchFamily="34" charset="0"/>
                <a:ea typeface="Arial" pitchFamily="34" charset="-122"/>
                <a:cs typeface="Arial" pitchFamily="34" charset="-120"/>
              </a:rPr>
              <a:t>Stock −2 → </a:t>
            </a:r>
            <a:pPr algn="l" indent="0" marL="0">
              <a:lnSpc>
                <a:spcPct val="100000"/>
              </a:lnSpc>
              <a:spcAft>
                <a:spcPts val="300"/>
              </a:spcAft>
              <a:buNone/>
            </a:pPr>
            <a:r>
              <a:rPr lang="en-US" sz="1050" b="1" dirty="0">
                <a:solidFill>
                  <a:srgbClr val="D64545"/>
                </a:solidFill>
                <a:latin typeface="Arial" pitchFamily="34" charset="0"/>
                <a:ea typeface="Arial" pitchFamily="34" charset="-122"/>
                <a:cs typeface="Arial" pitchFamily="34" charset="-120"/>
              </a:rPr>
              <a:t>6 left</a:t>
            </a:r>
            <a:endParaRPr lang="en-US" sz="1050" dirty="0"/>
          </a:p>
          <a:p>
            <a:pPr algn="l" indent="0" marL="0">
              <a:lnSpc>
                <a:spcPct val="100000"/>
              </a:lnSpc>
              <a:spcAft>
                <a:spcPts val="300"/>
              </a:spcAft>
              <a:buNone/>
            </a:pPr>
            <a:r>
              <a:rPr lang="en-US" sz="1050" dirty="0">
                <a:solidFill>
                  <a:srgbClr val="0F1B33"/>
                </a:solidFill>
                <a:latin typeface="Arial" pitchFamily="34" charset="0"/>
                <a:ea typeface="Arial" pitchFamily="34" charset="-122"/>
                <a:cs typeface="Arial" pitchFamily="34" charset="-120"/>
              </a:rPr>
              <a:t>Khata: no credit on this bill</a:t>
            </a:r>
            <a:endParaRPr lang="en-US" sz="1050" dirty="0"/>
          </a:p>
        </p:txBody>
      </p:sp>
      <p:sp>
        <p:nvSpPr>
          <p:cNvPr id="33" name="Shape 31"/>
          <p:cNvSpPr/>
          <p:nvPr/>
        </p:nvSpPr>
        <p:spPr>
          <a:xfrm>
            <a:off x="2798064" y="2148840"/>
            <a:ext cx="2066544" cy="2331720"/>
          </a:xfrm>
          <a:prstGeom prst="roundRect">
            <a:avLst>
              <a:gd name="adj" fmla="val 6195"/>
            </a:avLst>
          </a:prstGeom>
          <a:solidFill>
            <a:srgbClr val="FFFFFF"/>
          </a:solidFill>
          <a:ln/>
          <a:effectLst>
            <a:outerShdw sx="100000" sy="100000" kx="0" ky="0" algn="bl" rotWithShape="0" blurRad="114300" dist="25400" dir="5400000">
              <a:srgbClr val="0B1F44">
                <a:alpha val="13000"/>
              </a:srgbClr>
            </a:outerShdw>
          </a:effectLst>
        </p:spPr>
      </p:sp>
      <p:pic>
        <p:nvPicPr>
          <p:cNvPr id="34" name="Image 0" descr="/private/tmp/claude-501/-Users-jaypandey-Library-Application-Support-Claude-scratch-workspaces-e205fcbe-ff17-47a0-b0da-08b9c2cd8dd1-9a575c31-2854-4c86-a69f-21eba1183528-scratch-2026-09-25-918942/ab509d62-e048-41fc-927b-5525291df5de/scratchpad/img/icons/LuTriangleAlert_E8962E.png">    </p:cNvPr>
          <p:cNvPicPr>
            <a:picLocks noChangeAspect="1"/>
          </p:cNvPicPr>
          <p:nvPr/>
        </p:nvPicPr>
        <p:blipFill>
          <a:blip r:embed="rId1"/>
          <a:stretch>
            <a:fillRect/>
          </a:stretch>
        </p:blipFill>
        <p:spPr>
          <a:xfrm>
            <a:off x="2962656" y="2331720"/>
            <a:ext cx="274320" cy="274320"/>
          </a:xfrm>
          <a:prstGeom prst="rect">
            <a:avLst/>
          </a:prstGeom>
        </p:spPr>
      </p:pic>
      <p:sp>
        <p:nvSpPr>
          <p:cNvPr id="35" name="Text 32"/>
          <p:cNvSpPr txBox="1"/>
          <p:nvPr/>
        </p:nvSpPr>
        <p:spPr>
          <a:xfrm>
            <a:off x="2962656" y="2697480"/>
            <a:ext cx="1755648" cy="777240"/>
          </a:xfrm>
          <a:prstGeom prst="rect">
            <a:avLst/>
          </a:prstGeom>
          <a:noFill/>
          <a:ln/>
        </p:spPr>
        <p:txBody>
          <a:bodyPr wrap="square" lIns="0" tIns="0" rIns="0" bIns="0" rtlCol="0" anchor="t"/>
          <a:lstStyle/>
          <a:p>
            <a:pPr algn="l" indent="0" marL="0">
              <a:lnSpc>
                <a:spcPct val="103000"/>
              </a:lnSpc>
              <a:buNone/>
            </a:pPr>
            <a:r>
              <a:rPr lang="en-US" sz="1250" b="1" dirty="0">
                <a:solidFill>
                  <a:srgbClr val="0B1F44"/>
                </a:solidFill>
                <a:latin typeface="Arial" pitchFamily="34" charset="0"/>
                <a:ea typeface="Arial" pitchFamily="34" charset="-122"/>
                <a:cs typeface="Arial" pitchFamily="34" charset="-120"/>
              </a:rPr>
              <a:t>Toned milk is likely to run out before tomorrow morning.</a:t>
            </a:r>
            <a:endParaRPr lang="en-US" sz="1250" dirty="0"/>
          </a:p>
        </p:txBody>
      </p:sp>
      <p:sp>
        <p:nvSpPr>
          <p:cNvPr id="36" name="Text 33"/>
          <p:cNvSpPr txBox="1"/>
          <p:nvPr/>
        </p:nvSpPr>
        <p:spPr>
          <a:xfrm>
            <a:off x="2962656" y="3566160"/>
            <a:ext cx="1755648" cy="777240"/>
          </a:xfrm>
          <a:prstGeom prst="rect">
            <a:avLst/>
          </a:prstGeom>
          <a:noFill/>
          <a:ln/>
        </p:spPr>
        <p:txBody>
          <a:bodyPr wrap="square" lIns="0" tIns="0" rIns="0" bIns="0" rtlCol="0" anchor="t"/>
          <a:lstStyle/>
          <a:p>
            <a:pPr algn="l" indent="0" marL="0">
              <a:lnSpc>
                <a:spcPct val="103000"/>
              </a:lnSpc>
              <a:buNone/>
            </a:pPr>
            <a:r>
              <a:rPr lang="en-US" sz="1050" dirty="0">
                <a:solidFill>
                  <a:srgbClr val="5A6A85"/>
                </a:solidFill>
                <a:latin typeface="Arial" pitchFamily="34" charset="0"/>
                <a:ea typeface="Arial" pitchFamily="34" charset="-122"/>
                <a:cs typeface="Arial" pitchFamily="34" charset="-120"/>
              </a:rPr>
              <a:t>6 packets left vs. a typical evening of 14 sold (last 7 days).</a:t>
            </a:r>
            <a:endParaRPr lang="en-US" sz="1050" dirty="0"/>
          </a:p>
        </p:txBody>
      </p:sp>
      <p:sp>
        <p:nvSpPr>
          <p:cNvPr id="37" name="Shape 34"/>
          <p:cNvSpPr/>
          <p:nvPr/>
        </p:nvSpPr>
        <p:spPr>
          <a:xfrm>
            <a:off x="5047488" y="2148840"/>
            <a:ext cx="2066544" cy="2331720"/>
          </a:xfrm>
          <a:prstGeom prst="roundRect">
            <a:avLst>
              <a:gd name="adj" fmla="val 6195"/>
            </a:avLst>
          </a:prstGeom>
          <a:solidFill>
            <a:srgbClr val="FFFFFF"/>
          </a:solidFill>
          <a:ln/>
          <a:effectLst>
            <a:outerShdw sx="100000" sy="100000" kx="0" ky="0" algn="bl" rotWithShape="0" blurRad="114300" dist="25400" dir="5400000">
              <a:srgbClr val="0B1F44">
                <a:alpha val="13000"/>
              </a:srgbClr>
            </a:outerShdw>
          </a:effectLst>
        </p:spPr>
      </p:sp>
      <p:sp>
        <p:nvSpPr>
          <p:cNvPr id="38" name="Text 35"/>
          <p:cNvSpPr txBox="1"/>
          <p:nvPr/>
        </p:nvSpPr>
        <p:spPr>
          <a:xfrm>
            <a:off x="5212080" y="2313432"/>
            <a:ext cx="1737360" cy="228600"/>
          </a:xfrm>
          <a:prstGeom prst="rect">
            <a:avLst/>
          </a:prstGeom>
          <a:noFill/>
          <a:ln/>
        </p:spPr>
        <p:txBody>
          <a:bodyPr wrap="square" lIns="0" tIns="0" rIns="0" bIns="0" rtlCol="0" anchor="t"/>
          <a:lstStyle/>
          <a:p>
            <a:pPr algn="l" indent="0" marL="0">
              <a:lnSpc>
                <a:spcPct val="100000"/>
              </a:lnSpc>
              <a:buNone/>
            </a:pPr>
            <a:r>
              <a:rPr lang="en-US" sz="1000" b="1" dirty="0">
                <a:solidFill>
                  <a:srgbClr val="5A6A85"/>
                </a:solidFill>
                <a:latin typeface="Arial" pitchFamily="34" charset="0"/>
                <a:ea typeface="Arial" pitchFamily="34" charset="-122"/>
                <a:cs typeface="Arial" pitchFamily="34" charset="-120"/>
              </a:rPr>
              <a:t>Salaahkaar says</a:t>
            </a:r>
            <a:endParaRPr lang="en-US" sz="1000" dirty="0"/>
          </a:p>
        </p:txBody>
      </p:sp>
      <p:sp>
        <p:nvSpPr>
          <p:cNvPr id="39" name="Text 36"/>
          <p:cNvSpPr txBox="1"/>
          <p:nvPr/>
        </p:nvSpPr>
        <p:spPr>
          <a:xfrm>
            <a:off x="5212080" y="2569464"/>
            <a:ext cx="1755648" cy="1051560"/>
          </a:xfrm>
          <a:prstGeom prst="roundRect">
            <a:avLst>
              <a:gd name="adj" fmla="val 10435"/>
            </a:avLst>
          </a:prstGeom>
          <a:solidFill>
            <a:srgbClr val="0072BC"/>
          </a:solidFill>
          <a:ln/>
        </p:spPr>
        <p:txBody>
          <a:bodyPr wrap="square" lIns="88900" tIns="88900" rIns="88900" bIns="88900" rtlCol="0" anchor="t"/>
          <a:lstStyle/>
          <a:p>
            <a:pPr algn="l" indent="0" marL="0">
              <a:lnSpc>
                <a:spcPct val="103000"/>
              </a:lnSpc>
              <a:buNone/>
            </a:pPr>
            <a:r>
              <a:rPr lang="en-US" sz="1200" b="1" dirty="0">
                <a:solidFill>
                  <a:srgbClr val="FFFFFF"/>
                </a:solidFill>
                <a:latin typeface="Arial" pitchFamily="34" charset="0"/>
                <a:ea typeface="Arial" pitchFamily="34" charset="-122"/>
                <a:cs typeface="Arial" pitchFamily="34" charset="-120"/>
              </a:rPr>
              <a:t>“Doodh kal subah tak khatam ho sakta hai. 2 crate mangwa lein?”</a:t>
            </a:r>
            <a:endParaRPr lang="en-US" sz="1200" dirty="0"/>
          </a:p>
        </p:txBody>
      </p:sp>
      <p:sp>
        <p:nvSpPr>
          <p:cNvPr id="40" name="Text 37"/>
          <p:cNvSpPr txBox="1"/>
          <p:nvPr/>
        </p:nvSpPr>
        <p:spPr>
          <a:xfrm>
            <a:off x="5212080" y="3749040"/>
            <a:ext cx="1755648" cy="594360"/>
          </a:xfrm>
          <a:prstGeom prst="rect">
            <a:avLst/>
          </a:prstGeom>
          <a:noFill/>
          <a:ln/>
        </p:spPr>
        <p:txBody>
          <a:bodyPr wrap="square" lIns="0" tIns="0" rIns="0" bIns="0" rtlCol="0" anchor="t"/>
          <a:lstStyle/>
          <a:p>
            <a:pPr algn="l" indent="0" marL="0">
              <a:lnSpc>
                <a:spcPct val="102000"/>
              </a:lnSpc>
              <a:buNone/>
            </a:pPr>
            <a:r>
              <a:rPr lang="en-US" sz="1000" dirty="0">
                <a:solidFill>
                  <a:srgbClr val="5A6A85"/>
                </a:solidFill>
                <a:latin typeface="Arial" pitchFamily="34" charset="0"/>
                <a:ea typeface="Arial" pitchFamily="34" charset="-122"/>
                <a:cs typeface="Arial" pitchFamily="34" charset="-120"/>
              </a:rPr>
              <a:t>Spoken in Hinglish; the numbers it used are shown on screen.</a:t>
            </a:r>
            <a:endParaRPr lang="en-US" sz="1000" dirty="0"/>
          </a:p>
        </p:txBody>
      </p:sp>
      <p:sp>
        <p:nvSpPr>
          <p:cNvPr id="41" name="Shape 38"/>
          <p:cNvSpPr/>
          <p:nvPr/>
        </p:nvSpPr>
        <p:spPr>
          <a:xfrm>
            <a:off x="7296912" y="2148840"/>
            <a:ext cx="2066544" cy="2331720"/>
          </a:xfrm>
          <a:prstGeom prst="roundRect">
            <a:avLst>
              <a:gd name="adj" fmla="val 6195"/>
            </a:avLst>
          </a:prstGeom>
          <a:solidFill>
            <a:srgbClr val="0B1F44"/>
          </a:solidFill>
          <a:ln/>
          <a:effectLst>
            <a:outerShdw sx="100000" sy="100000" kx="0" ky="0" algn="bl" rotWithShape="0" blurRad="114300" dist="25400" dir="5400000">
              <a:srgbClr val="0B1F44">
                <a:alpha val="13000"/>
              </a:srgbClr>
            </a:outerShdw>
          </a:effectLst>
        </p:spPr>
      </p:sp>
      <p:pic>
        <p:nvPicPr>
          <p:cNvPr id="42" name="Image 1" descr="/private/tmp/claude-501/-Users-jaypandey-Library-Application-Support-Claude-scratch-workspaces-e205fcbe-ff17-47a0-b0da-08b9c2cd8dd1-9a575c31-2854-4c86-a69f-21eba1183528-scratch-2026-09-25-918942/ab509d62-e048-41fc-927b-5525291df5de/scratchpad/img/icons/LuMic_8FD6F5.png">    </p:cNvPr>
          <p:cNvPicPr>
            <a:picLocks noChangeAspect="1"/>
          </p:cNvPicPr>
          <p:nvPr/>
        </p:nvPicPr>
        <p:blipFill>
          <a:blip r:embed="rId2"/>
          <a:stretch>
            <a:fillRect/>
          </a:stretch>
        </p:blipFill>
        <p:spPr>
          <a:xfrm>
            <a:off x="7461504" y="2331720"/>
            <a:ext cx="274320" cy="274320"/>
          </a:xfrm>
          <a:prstGeom prst="rect">
            <a:avLst/>
          </a:prstGeom>
        </p:spPr>
      </p:pic>
      <p:sp>
        <p:nvSpPr>
          <p:cNvPr id="43" name="Text 39"/>
          <p:cNvSpPr txBox="1"/>
          <p:nvPr/>
        </p:nvSpPr>
        <p:spPr>
          <a:xfrm>
            <a:off x="7461504" y="2679192"/>
            <a:ext cx="1755648" cy="365760"/>
          </a:xfrm>
          <a:prstGeom prst="rect">
            <a:avLst/>
          </a:prstGeom>
          <a:noFill/>
          <a:ln/>
        </p:spPr>
        <p:txBody>
          <a:bodyPr wrap="square" lIns="0" tIns="0" rIns="0" bIns="0" rtlCol="0" anchor="t"/>
          <a:lstStyle/>
          <a:p>
            <a:pPr algn="l" indent="0" marL="0">
              <a:lnSpc>
                <a:spcPct val="100000"/>
              </a:lnSpc>
              <a:buNone/>
            </a:pPr>
            <a:r>
              <a:rPr lang="en-US" sz="1500" b="1" dirty="0">
                <a:solidFill>
                  <a:srgbClr val="FFFFFF"/>
                </a:solidFill>
                <a:latin typeface="Arial" pitchFamily="34" charset="0"/>
                <a:ea typeface="Arial" pitchFamily="34" charset="-122"/>
                <a:cs typeface="Arial" pitchFamily="34" charset="-120"/>
              </a:rPr>
              <a:t>“Haan, bhej do.”</a:t>
            </a:r>
            <a:endParaRPr lang="en-US" sz="1500" dirty="0"/>
          </a:p>
        </p:txBody>
      </p:sp>
      <p:sp>
        <p:nvSpPr>
          <p:cNvPr id="44" name="Text 40"/>
          <p:cNvSpPr txBox="1"/>
          <p:nvPr/>
        </p:nvSpPr>
        <p:spPr>
          <a:xfrm>
            <a:off x="7461504" y="3136392"/>
            <a:ext cx="822960" cy="310896"/>
          </a:xfrm>
          <a:prstGeom prst="roundRect">
            <a:avLst>
              <a:gd name="adj" fmla="val 29412"/>
            </a:avLst>
          </a:prstGeom>
          <a:solidFill>
            <a:srgbClr val="00A7E1"/>
          </a:solidFill>
          <a:ln/>
        </p:spPr>
        <p:txBody>
          <a:bodyPr wrap="square" lIns="0" tIns="0" rIns="0" bIns="0" rtlCol="0" anchor="ctr"/>
          <a:lstStyle/>
          <a:p>
            <a:pPr algn="ctr" indent="0" marL="0">
              <a:lnSpc>
                <a:spcPct val="100000"/>
              </a:lnSpc>
              <a:buNone/>
            </a:pPr>
            <a:r>
              <a:rPr lang="en-US" sz="1050" b="1" dirty="0">
                <a:solidFill>
                  <a:srgbClr val="FFFFFF"/>
                </a:solidFill>
                <a:latin typeface="Arial" pitchFamily="34" charset="0"/>
                <a:ea typeface="Arial" pitchFamily="34" charset="-122"/>
                <a:cs typeface="Arial" pitchFamily="34" charset="-120"/>
              </a:rPr>
              <a:t>Approve</a:t>
            </a:r>
            <a:endParaRPr lang="en-US" sz="1050" dirty="0"/>
          </a:p>
        </p:txBody>
      </p:sp>
      <p:sp>
        <p:nvSpPr>
          <p:cNvPr id="45" name="Text 41"/>
          <p:cNvSpPr txBox="1"/>
          <p:nvPr/>
        </p:nvSpPr>
        <p:spPr>
          <a:xfrm>
            <a:off x="8357616" y="3136392"/>
            <a:ext cx="822960" cy="310896"/>
          </a:xfrm>
          <a:prstGeom prst="roundRect">
            <a:avLst>
              <a:gd name="adj" fmla="val 29412"/>
            </a:avLst>
          </a:prstGeom>
          <a:solidFill>
            <a:srgbClr val="1C3A6E"/>
          </a:solidFill>
          <a:ln/>
        </p:spPr>
        <p:txBody>
          <a:bodyPr wrap="square" lIns="0" tIns="0" rIns="0" bIns="0" rtlCol="0" anchor="ctr"/>
          <a:lstStyle/>
          <a:p>
            <a:pPr algn="ctr" indent="0" marL="0">
              <a:lnSpc>
                <a:spcPct val="100000"/>
              </a:lnSpc>
              <a:buNone/>
            </a:pPr>
            <a:r>
              <a:rPr lang="en-US" sz="1050" b="1" dirty="0">
                <a:solidFill>
                  <a:srgbClr val="FFFFFF"/>
                </a:solidFill>
                <a:latin typeface="Arial" pitchFamily="34" charset="0"/>
                <a:ea typeface="Arial" pitchFamily="34" charset="-122"/>
                <a:cs typeface="Arial" pitchFamily="34" charset="-120"/>
              </a:rPr>
              <a:t>Edit</a:t>
            </a:r>
            <a:endParaRPr lang="en-US" sz="1050" dirty="0"/>
          </a:p>
        </p:txBody>
      </p:sp>
      <p:sp>
        <p:nvSpPr>
          <p:cNvPr id="46" name="Text 42"/>
          <p:cNvSpPr txBox="1"/>
          <p:nvPr/>
        </p:nvSpPr>
        <p:spPr>
          <a:xfrm>
            <a:off x="7461504" y="3630168"/>
            <a:ext cx="1755648" cy="731520"/>
          </a:xfrm>
          <a:prstGeom prst="rect">
            <a:avLst/>
          </a:prstGeom>
          <a:noFill/>
          <a:ln/>
        </p:spPr>
        <p:txBody>
          <a:bodyPr wrap="square" lIns="0" tIns="0" rIns="0" bIns="0" rtlCol="0" anchor="t"/>
          <a:lstStyle/>
          <a:p>
            <a:pPr algn="l" indent="0" marL="0">
              <a:lnSpc>
                <a:spcPct val="103000"/>
              </a:lnSpc>
              <a:buNone/>
            </a:pPr>
            <a:r>
              <a:rPr lang="en-US" sz="1050" dirty="0">
                <a:solidFill>
                  <a:srgbClr val="B8C8E2"/>
                </a:solidFill>
                <a:latin typeface="Arial" pitchFamily="34" charset="0"/>
                <a:ea typeface="Arial" pitchFamily="34" charset="-122"/>
                <a:cs typeface="Arial" pitchFamily="34" charset="-120"/>
              </a:rPr>
              <a:t>Nothing is sent or paid without the shopkeeper’s explicit yes.</a:t>
            </a:r>
            <a:endParaRPr lang="en-US" sz="1050" dirty="0"/>
          </a:p>
        </p:txBody>
      </p:sp>
      <p:sp>
        <p:nvSpPr>
          <p:cNvPr id="47" name="Shape 43"/>
          <p:cNvSpPr/>
          <p:nvPr/>
        </p:nvSpPr>
        <p:spPr>
          <a:xfrm>
            <a:off x="9546336" y="2148840"/>
            <a:ext cx="2066544" cy="2331720"/>
          </a:xfrm>
          <a:prstGeom prst="roundRect">
            <a:avLst>
              <a:gd name="adj" fmla="val 6195"/>
            </a:avLst>
          </a:prstGeom>
          <a:solidFill>
            <a:srgbClr val="FFFFFF"/>
          </a:solidFill>
          <a:ln/>
          <a:effectLst>
            <a:outerShdw sx="100000" sy="100000" kx="0" ky="0" algn="bl" rotWithShape="0" blurRad="114300" dist="25400" dir="5400000">
              <a:srgbClr val="0B1F44">
                <a:alpha val="13000"/>
              </a:srgbClr>
            </a:outerShdw>
          </a:effectLst>
        </p:spPr>
      </p:sp>
      <p:pic>
        <p:nvPicPr>
          <p:cNvPr id="48" name="Image 2" descr="/private/tmp/claude-501/-Users-jaypandey-Library-Application-Support-Claude-scratch-workspaces-e205fcbe-ff17-47a0-b0da-08b9c2cd8dd1-9a575c31-2854-4c86-a69f-21eba1183528-scratch-2026-09-25-918942/ab509d62-e048-41fc-927b-5525291df5de/scratchpad/img/icons/LuCircleCheck_1A9E6A.png">    </p:cNvPr>
          <p:cNvPicPr>
            <a:picLocks noChangeAspect="1"/>
          </p:cNvPicPr>
          <p:nvPr/>
        </p:nvPicPr>
        <p:blipFill>
          <a:blip r:embed="rId3"/>
          <a:stretch>
            <a:fillRect/>
          </a:stretch>
        </p:blipFill>
        <p:spPr>
          <a:xfrm>
            <a:off x="9710928" y="2377440"/>
            <a:ext cx="219456" cy="219456"/>
          </a:xfrm>
          <a:prstGeom prst="rect">
            <a:avLst/>
          </a:prstGeom>
        </p:spPr>
      </p:pic>
      <p:sp>
        <p:nvSpPr>
          <p:cNvPr id="49" name="Text 44"/>
          <p:cNvSpPr txBox="1"/>
          <p:nvPr/>
        </p:nvSpPr>
        <p:spPr>
          <a:xfrm>
            <a:off x="10021824" y="2331720"/>
            <a:ext cx="1463040" cy="411480"/>
          </a:xfrm>
          <a:prstGeom prst="rect">
            <a:avLst/>
          </a:prstGeom>
          <a:noFill/>
          <a:ln/>
        </p:spPr>
        <p:txBody>
          <a:bodyPr wrap="square" lIns="0" tIns="0" rIns="0" bIns="0" rtlCol="0" anchor="t"/>
          <a:lstStyle/>
          <a:p>
            <a:pPr algn="l" indent="0" marL="0">
              <a:lnSpc>
                <a:spcPct val="100000"/>
              </a:lnSpc>
              <a:buNone/>
            </a:pPr>
            <a:r>
              <a:rPr lang="en-US" sz="1050" dirty="0">
                <a:solidFill>
                  <a:srgbClr val="0F1B33"/>
                </a:solidFill>
                <a:latin typeface="Arial" pitchFamily="34" charset="0"/>
                <a:ea typeface="Arial" pitchFamily="34" charset="-122"/>
                <a:cs typeface="Arial" pitchFamily="34" charset="-120"/>
              </a:rPr>
              <a:t>Reorder note saved: 2 crates</a:t>
            </a:r>
            <a:endParaRPr lang="en-US" sz="1050" dirty="0"/>
          </a:p>
        </p:txBody>
      </p:sp>
      <p:pic>
        <p:nvPicPr>
          <p:cNvPr id="50" name="Image 3" descr="/private/tmp/claude-501/-Users-jaypandey-Library-Application-Support-Claude-scratch-workspaces-e205fcbe-ff17-47a0-b0da-08b9c2cd8dd1-9a575c31-2854-4c86-a69f-21eba1183528-scratch-2026-09-25-918942/ab509d62-e048-41fc-927b-5525291df5de/scratchpad/img/icons/LuCircleCheck_1A9E6A.png">    </p:cNvPr>
          <p:cNvPicPr>
            <a:picLocks noChangeAspect="1"/>
          </p:cNvPicPr>
          <p:nvPr/>
        </p:nvPicPr>
        <p:blipFill>
          <a:blip r:embed="rId4"/>
          <a:stretch>
            <a:fillRect/>
          </a:stretch>
        </p:blipFill>
        <p:spPr>
          <a:xfrm>
            <a:off x="9710928" y="2852928"/>
            <a:ext cx="219456" cy="219456"/>
          </a:xfrm>
          <a:prstGeom prst="rect">
            <a:avLst/>
          </a:prstGeom>
        </p:spPr>
      </p:pic>
      <p:sp>
        <p:nvSpPr>
          <p:cNvPr id="51" name="Text 45"/>
          <p:cNvSpPr txBox="1"/>
          <p:nvPr/>
        </p:nvSpPr>
        <p:spPr>
          <a:xfrm>
            <a:off x="10021824" y="2807208"/>
            <a:ext cx="1463040" cy="411480"/>
          </a:xfrm>
          <a:prstGeom prst="rect">
            <a:avLst/>
          </a:prstGeom>
          <a:noFill/>
          <a:ln/>
        </p:spPr>
        <p:txBody>
          <a:bodyPr wrap="square" lIns="0" tIns="0" rIns="0" bIns="0" rtlCol="0" anchor="t"/>
          <a:lstStyle/>
          <a:p>
            <a:pPr algn="l" indent="0" marL="0">
              <a:lnSpc>
                <a:spcPct val="100000"/>
              </a:lnSpc>
              <a:buNone/>
            </a:pPr>
            <a:r>
              <a:rPr lang="en-US" sz="1050" dirty="0">
                <a:solidFill>
                  <a:srgbClr val="0F1B33"/>
                </a:solidFill>
                <a:latin typeface="Arial" pitchFamily="34" charset="0"/>
                <a:ea typeface="Arial" pitchFamily="34" charset="-122"/>
                <a:cs typeface="Arial" pitchFamily="34" charset="-120"/>
              </a:rPr>
              <a:t>Supplier message drafted</a:t>
            </a:r>
            <a:endParaRPr lang="en-US" sz="1050" dirty="0"/>
          </a:p>
        </p:txBody>
      </p:sp>
      <p:pic>
        <p:nvPicPr>
          <p:cNvPr id="52" name="Image 4" descr="/private/tmp/claude-501/-Users-jaypandey-Library-Application-Support-Claude-scratch-workspaces-e205fcbe-ff17-47a0-b0da-08b9c2cd8dd1-9a575c31-2854-4c86-a69f-21eba1183528-scratch-2026-09-25-918942/ab509d62-e048-41fc-927b-5525291df5de/scratchpad/img/icons/LuCircleCheck_1A9E6A.png">    </p:cNvPr>
          <p:cNvPicPr>
            <a:picLocks noChangeAspect="1"/>
          </p:cNvPicPr>
          <p:nvPr/>
        </p:nvPicPr>
        <p:blipFill>
          <a:blip r:embed="rId5"/>
          <a:stretch>
            <a:fillRect/>
          </a:stretch>
        </p:blipFill>
        <p:spPr>
          <a:xfrm>
            <a:off x="9710928" y="3328416"/>
            <a:ext cx="219456" cy="219456"/>
          </a:xfrm>
          <a:prstGeom prst="rect">
            <a:avLst/>
          </a:prstGeom>
        </p:spPr>
      </p:pic>
      <p:sp>
        <p:nvSpPr>
          <p:cNvPr id="53" name="Text 46"/>
          <p:cNvSpPr txBox="1"/>
          <p:nvPr/>
        </p:nvSpPr>
        <p:spPr>
          <a:xfrm>
            <a:off x="10021824" y="3282696"/>
            <a:ext cx="1463040" cy="411480"/>
          </a:xfrm>
          <a:prstGeom prst="rect">
            <a:avLst/>
          </a:prstGeom>
          <a:noFill/>
          <a:ln/>
        </p:spPr>
        <p:txBody>
          <a:bodyPr wrap="square" lIns="0" tIns="0" rIns="0" bIns="0" rtlCol="0" anchor="t"/>
          <a:lstStyle/>
          <a:p>
            <a:pPr algn="l" indent="0" marL="0">
              <a:lnSpc>
                <a:spcPct val="100000"/>
              </a:lnSpc>
              <a:buNone/>
            </a:pPr>
            <a:r>
              <a:rPr lang="en-US" sz="1050" dirty="0">
                <a:solidFill>
                  <a:srgbClr val="0F1B33"/>
                </a:solidFill>
                <a:latin typeface="Arial" pitchFamily="34" charset="0"/>
                <a:ea typeface="Arial" pitchFamily="34" charset="-122"/>
                <a:cs typeface="Arial" pitchFamily="34" charset="-120"/>
              </a:rPr>
              <a:t>Follow-up set for 8 pm</a:t>
            </a:r>
            <a:endParaRPr lang="en-US" sz="1050" dirty="0"/>
          </a:p>
        </p:txBody>
      </p:sp>
      <p:sp>
        <p:nvSpPr>
          <p:cNvPr id="54" name="Text 47"/>
          <p:cNvSpPr txBox="1"/>
          <p:nvPr/>
        </p:nvSpPr>
        <p:spPr>
          <a:xfrm>
            <a:off x="9710928" y="3840480"/>
            <a:ext cx="1755648" cy="548640"/>
          </a:xfrm>
          <a:prstGeom prst="rect">
            <a:avLst/>
          </a:prstGeom>
          <a:noFill/>
          <a:ln/>
        </p:spPr>
        <p:txBody>
          <a:bodyPr wrap="square" lIns="0" tIns="0" rIns="0" bIns="0" rtlCol="0" anchor="t"/>
          <a:lstStyle/>
          <a:p>
            <a:pPr algn="l" indent="0" marL="0">
              <a:lnSpc>
                <a:spcPct val="102000"/>
              </a:lnSpc>
              <a:buNone/>
            </a:pPr>
            <a:r>
              <a:rPr lang="en-US" sz="1000" dirty="0">
                <a:solidFill>
                  <a:srgbClr val="5A6A85"/>
                </a:solidFill>
                <a:latin typeface="Arial" pitchFamily="34" charset="0"/>
                <a:ea typeface="Arial" pitchFamily="34" charset="-122"/>
                <a:cs typeface="Arial" pitchFamily="34" charset="-120"/>
              </a:rPr>
              <a:t>Logged, so the next suggestion knows what was accepted.</a:t>
            </a:r>
            <a:endParaRPr lang="en-US" sz="1000" dirty="0"/>
          </a:p>
        </p:txBody>
      </p:sp>
      <p:sp>
        <p:nvSpPr>
          <p:cNvPr id="55" name="Shape 48"/>
          <p:cNvSpPr/>
          <p:nvPr/>
        </p:nvSpPr>
        <p:spPr>
          <a:xfrm>
            <a:off x="548640" y="4736592"/>
            <a:ext cx="11091672" cy="1143000"/>
          </a:xfrm>
          <a:prstGeom prst="roundRect">
            <a:avLst>
              <a:gd name="adj" fmla="val 11200"/>
            </a:avLst>
          </a:prstGeom>
          <a:solidFill>
            <a:srgbClr val="FFFFFF"/>
          </a:solidFill>
          <a:ln w="12700">
            <a:solidFill>
              <a:srgbClr val="D5E3F0"/>
            </a:solidFill>
            <a:prstDash val="solid"/>
          </a:ln>
        </p:spPr>
      </p:sp>
      <p:sp>
        <p:nvSpPr>
          <p:cNvPr id="56" name="Text 49"/>
          <p:cNvSpPr txBox="1"/>
          <p:nvPr/>
        </p:nvSpPr>
        <p:spPr>
          <a:xfrm>
            <a:off x="777240" y="4846320"/>
            <a:ext cx="10058400" cy="237744"/>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0072BC"/>
                </a:solidFill>
                <a:latin typeface="Arial" pitchFamily="34" charset="0"/>
                <a:ea typeface="Arial" pitchFamily="34" charset="-122"/>
                <a:cs typeface="Arial" pitchFamily="34" charset="-120"/>
              </a:rPr>
              <a:t>UNDER THE HOOD: THE GOLDEN PATH WE BUILD ON HACKATHON DAY</a:t>
            </a:r>
            <a:endParaRPr lang="en-US" sz="950" dirty="0"/>
          </a:p>
        </p:txBody>
      </p:sp>
      <p:sp>
        <p:nvSpPr>
          <p:cNvPr id="57" name="Text 50"/>
          <p:cNvSpPr txBox="1"/>
          <p:nvPr/>
        </p:nvSpPr>
        <p:spPr>
          <a:xfrm>
            <a:off x="777240" y="5212080"/>
            <a:ext cx="1024128" cy="384048"/>
          </a:xfrm>
          <a:prstGeom prst="roundRect">
            <a:avLst>
              <a:gd name="adj" fmla="val 23810"/>
            </a:avLst>
          </a:prstGeom>
          <a:solidFill>
            <a:srgbClr val="EAF6FC"/>
          </a:solidFill>
          <a:ln/>
        </p:spPr>
        <p:txBody>
          <a:bodyPr wrap="square" lIns="0" tIns="0" rIns="0" bIns="0" rtlCol="0" anchor="ctr"/>
          <a:lstStyle/>
          <a:p>
            <a:pPr algn="ctr" indent="0" marL="0">
              <a:lnSpc>
                <a:spcPct val="100000"/>
              </a:lnSpc>
              <a:buNone/>
            </a:pPr>
            <a:r>
              <a:rPr lang="en-US" sz="1000" b="1" dirty="0">
                <a:solidFill>
                  <a:srgbClr val="0B1F44"/>
                </a:solidFill>
                <a:latin typeface="Arial" pitchFamily="34" charset="0"/>
                <a:ea typeface="Arial" pitchFamily="34" charset="-122"/>
                <a:cs typeface="Arial" pitchFamily="34" charset="-120"/>
              </a:rPr>
              <a:t>Parchi photo</a:t>
            </a:r>
            <a:endParaRPr lang="en-US" sz="1000" dirty="0"/>
          </a:p>
        </p:txBody>
      </p:sp>
      <p:sp>
        <p:nvSpPr>
          <p:cNvPr id="58" name="Shape 51"/>
          <p:cNvSpPr/>
          <p:nvPr/>
        </p:nvSpPr>
        <p:spPr>
          <a:xfrm>
            <a:off x="1819656" y="5404104"/>
            <a:ext cx="128016" cy="91"/>
          </a:xfrm>
          <a:prstGeom prst="line">
            <a:avLst/>
          </a:prstGeom>
          <a:noFill/>
          <a:ln w="15875">
            <a:solidFill>
              <a:srgbClr val="5A6A85"/>
            </a:solidFill>
            <a:prstDash val="solid"/>
            <a:tailEnd type="triangle"/>
          </a:ln>
        </p:spPr>
      </p:sp>
      <p:sp>
        <p:nvSpPr>
          <p:cNvPr id="59" name="Text 52"/>
          <p:cNvSpPr txBox="1"/>
          <p:nvPr/>
        </p:nvSpPr>
        <p:spPr>
          <a:xfrm>
            <a:off x="1984248" y="5212080"/>
            <a:ext cx="1143000" cy="384048"/>
          </a:xfrm>
          <a:prstGeom prst="roundRect">
            <a:avLst>
              <a:gd name="adj" fmla="val 23810"/>
            </a:avLst>
          </a:prstGeom>
          <a:solidFill>
            <a:srgbClr val="EAF6FC"/>
          </a:solidFill>
          <a:ln/>
        </p:spPr>
        <p:txBody>
          <a:bodyPr wrap="square" lIns="0" tIns="0" rIns="0" bIns="0" rtlCol="0" anchor="ctr"/>
          <a:lstStyle/>
          <a:p>
            <a:pPr algn="ctr" indent="0" marL="0">
              <a:lnSpc>
                <a:spcPct val="100000"/>
              </a:lnSpc>
              <a:buNone/>
            </a:pPr>
            <a:r>
              <a:rPr lang="en-US" sz="1000" b="1" dirty="0">
                <a:solidFill>
                  <a:srgbClr val="0B1F44"/>
                </a:solidFill>
                <a:latin typeface="Arial" pitchFamily="34" charset="0"/>
                <a:ea typeface="Arial" pitchFamily="34" charset="-122"/>
                <a:cs typeface="Arial" pitchFamily="34" charset="-120"/>
              </a:rPr>
              <a:t>OCR + confirm</a:t>
            </a:r>
            <a:endParaRPr lang="en-US" sz="1000" dirty="0"/>
          </a:p>
        </p:txBody>
      </p:sp>
      <p:sp>
        <p:nvSpPr>
          <p:cNvPr id="60" name="Shape 53"/>
          <p:cNvSpPr/>
          <p:nvPr/>
        </p:nvSpPr>
        <p:spPr>
          <a:xfrm>
            <a:off x="3145536" y="5404104"/>
            <a:ext cx="128016" cy="91"/>
          </a:xfrm>
          <a:prstGeom prst="line">
            <a:avLst/>
          </a:prstGeom>
          <a:noFill/>
          <a:ln w="15875">
            <a:solidFill>
              <a:srgbClr val="5A6A85"/>
            </a:solidFill>
            <a:prstDash val="solid"/>
            <a:tailEnd type="triangle"/>
          </a:ln>
        </p:spPr>
      </p:sp>
      <p:sp>
        <p:nvSpPr>
          <p:cNvPr id="61" name="Text 54"/>
          <p:cNvSpPr txBox="1"/>
          <p:nvPr/>
        </p:nvSpPr>
        <p:spPr>
          <a:xfrm>
            <a:off x="3310128" y="5212080"/>
            <a:ext cx="777240" cy="384048"/>
          </a:xfrm>
          <a:prstGeom prst="roundRect">
            <a:avLst>
              <a:gd name="adj" fmla="val 23810"/>
            </a:avLst>
          </a:prstGeom>
          <a:solidFill>
            <a:srgbClr val="EAF6FC"/>
          </a:solidFill>
          <a:ln/>
        </p:spPr>
        <p:txBody>
          <a:bodyPr wrap="square" lIns="0" tIns="0" rIns="0" bIns="0" rtlCol="0" anchor="ctr"/>
          <a:lstStyle/>
          <a:p>
            <a:pPr algn="ctr" indent="0" marL="0">
              <a:lnSpc>
                <a:spcPct val="100000"/>
              </a:lnSpc>
              <a:buNone/>
            </a:pPr>
            <a:r>
              <a:rPr lang="en-US" sz="1000" b="1" dirty="0">
                <a:solidFill>
                  <a:srgbClr val="0B1F44"/>
                </a:solidFill>
                <a:latin typeface="Arial" pitchFamily="34" charset="0"/>
                <a:ea typeface="Arial" pitchFamily="34" charset="-122"/>
                <a:cs typeface="Arial" pitchFamily="34" charset="-120"/>
              </a:rPr>
              <a:t>Invoice</a:t>
            </a:r>
            <a:endParaRPr lang="en-US" sz="1000" dirty="0"/>
          </a:p>
        </p:txBody>
      </p:sp>
      <p:sp>
        <p:nvSpPr>
          <p:cNvPr id="62" name="Shape 55"/>
          <p:cNvSpPr/>
          <p:nvPr/>
        </p:nvSpPr>
        <p:spPr>
          <a:xfrm>
            <a:off x="4105656" y="5404104"/>
            <a:ext cx="128016" cy="91"/>
          </a:xfrm>
          <a:prstGeom prst="line">
            <a:avLst/>
          </a:prstGeom>
          <a:noFill/>
          <a:ln w="15875">
            <a:solidFill>
              <a:srgbClr val="5A6A85"/>
            </a:solidFill>
            <a:prstDash val="solid"/>
            <a:tailEnd type="triangle"/>
          </a:ln>
        </p:spPr>
      </p:sp>
      <p:sp>
        <p:nvSpPr>
          <p:cNvPr id="63" name="Text 56"/>
          <p:cNvSpPr txBox="1"/>
          <p:nvPr/>
        </p:nvSpPr>
        <p:spPr>
          <a:xfrm>
            <a:off x="4270248" y="5212080"/>
            <a:ext cx="1783080" cy="384048"/>
          </a:xfrm>
          <a:prstGeom prst="roundRect">
            <a:avLst>
              <a:gd name="adj" fmla="val 23810"/>
            </a:avLst>
          </a:prstGeom>
          <a:solidFill>
            <a:srgbClr val="0072BC"/>
          </a:solidFill>
          <a:ln/>
        </p:spPr>
        <p:txBody>
          <a:bodyPr wrap="square" lIns="0" tIns="0" rIns="0" bIns="0" rtlCol="0" anchor="ctr"/>
          <a:lstStyle/>
          <a:p>
            <a:pPr algn="ctr" indent="0" marL="0">
              <a:lnSpc>
                <a:spcPct val="100000"/>
              </a:lnSpc>
              <a:buNone/>
            </a:pPr>
            <a:r>
              <a:rPr lang="en-US" sz="1000" b="1" dirty="0">
                <a:solidFill>
                  <a:srgbClr val="FFFFFF"/>
                </a:solidFill>
                <a:latin typeface="Arial" pitchFamily="34" charset="0"/>
                <a:ea typeface="Arial" pitchFamily="34" charset="-122"/>
                <a:cs typeface="Arial" pitchFamily="34" charset="-120"/>
              </a:rPr>
              <a:t>Paytm checkout (staging)</a:t>
            </a:r>
            <a:endParaRPr lang="en-US" sz="1000" dirty="0"/>
          </a:p>
        </p:txBody>
      </p:sp>
      <p:sp>
        <p:nvSpPr>
          <p:cNvPr id="64" name="Shape 57"/>
          <p:cNvSpPr/>
          <p:nvPr/>
        </p:nvSpPr>
        <p:spPr>
          <a:xfrm>
            <a:off x="6071616" y="5404104"/>
            <a:ext cx="128016" cy="91"/>
          </a:xfrm>
          <a:prstGeom prst="line">
            <a:avLst/>
          </a:prstGeom>
          <a:noFill/>
          <a:ln w="15875">
            <a:solidFill>
              <a:srgbClr val="5A6A85"/>
            </a:solidFill>
            <a:prstDash val="solid"/>
            <a:tailEnd type="triangle"/>
          </a:ln>
        </p:spPr>
      </p:sp>
      <p:sp>
        <p:nvSpPr>
          <p:cNvPr id="65" name="Text 58"/>
          <p:cNvSpPr txBox="1"/>
          <p:nvPr/>
        </p:nvSpPr>
        <p:spPr>
          <a:xfrm>
            <a:off x="6236208" y="5212080"/>
            <a:ext cx="1783080" cy="384048"/>
          </a:xfrm>
          <a:prstGeom prst="roundRect">
            <a:avLst>
              <a:gd name="adj" fmla="val 23810"/>
            </a:avLst>
          </a:prstGeom>
          <a:solidFill>
            <a:srgbClr val="0072BC"/>
          </a:solidFill>
          <a:ln/>
        </p:spPr>
        <p:txBody>
          <a:bodyPr wrap="square" lIns="0" tIns="0" rIns="0" bIns="0" rtlCol="0" anchor="ctr"/>
          <a:lstStyle/>
          <a:p>
            <a:pPr algn="ctr" indent="0" marL="0">
              <a:lnSpc>
                <a:spcPct val="100000"/>
              </a:lnSpc>
              <a:buNone/>
            </a:pPr>
            <a:r>
              <a:rPr lang="en-US" sz="1000" b="1" dirty="0">
                <a:solidFill>
                  <a:srgbClr val="FFFFFF"/>
                </a:solidFill>
                <a:latin typeface="Arial" pitchFamily="34" charset="0"/>
                <a:ea typeface="Arial" pitchFamily="34" charset="-122"/>
                <a:cs typeface="Arial" pitchFamily="34" charset="-120"/>
              </a:rPr>
              <a:t>Server-side verification</a:t>
            </a:r>
            <a:endParaRPr lang="en-US" sz="1000" dirty="0"/>
          </a:p>
        </p:txBody>
      </p:sp>
      <p:sp>
        <p:nvSpPr>
          <p:cNvPr id="66" name="Shape 59"/>
          <p:cNvSpPr/>
          <p:nvPr/>
        </p:nvSpPr>
        <p:spPr>
          <a:xfrm>
            <a:off x="8037576" y="5404104"/>
            <a:ext cx="128016" cy="91"/>
          </a:xfrm>
          <a:prstGeom prst="line">
            <a:avLst/>
          </a:prstGeom>
          <a:noFill/>
          <a:ln w="15875">
            <a:solidFill>
              <a:srgbClr val="5A6A85"/>
            </a:solidFill>
            <a:prstDash val="solid"/>
            <a:tailEnd type="triangle"/>
          </a:ln>
        </p:spPr>
      </p:sp>
      <p:sp>
        <p:nvSpPr>
          <p:cNvPr id="67" name="Text 60"/>
          <p:cNvSpPr txBox="1"/>
          <p:nvPr/>
        </p:nvSpPr>
        <p:spPr>
          <a:xfrm>
            <a:off x="8202168" y="5212080"/>
            <a:ext cx="1554480" cy="384048"/>
          </a:xfrm>
          <a:prstGeom prst="roundRect">
            <a:avLst>
              <a:gd name="adj" fmla="val 23810"/>
            </a:avLst>
          </a:prstGeom>
          <a:solidFill>
            <a:srgbClr val="EAF6FC"/>
          </a:solidFill>
          <a:ln/>
        </p:spPr>
        <p:txBody>
          <a:bodyPr wrap="square" lIns="0" tIns="0" rIns="0" bIns="0" rtlCol="0" anchor="ctr"/>
          <a:lstStyle/>
          <a:p>
            <a:pPr algn="ctr" indent="0" marL="0">
              <a:lnSpc>
                <a:spcPct val="100000"/>
              </a:lnSpc>
              <a:buNone/>
            </a:pPr>
            <a:r>
              <a:rPr lang="en-US" sz="1000" b="1" dirty="0">
                <a:solidFill>
                  <a:srgbClr val="0B1F44"/>
                </a:solidFill>
                <a:latin typeface="Arial" pitchFamily="34" charset="0"/>
                <a:ea typeface="Arial" pitchFamily="34" charset="-122"/>
                <a:cs typeface="Arial" pitchFamily="34" charset="-120"/>
              </a:rPr>
              <a:t>Stock + Khata update</a:t>
            </a:r>
            <a:endParaRPr lang="en-US" sz="1000" dirty="0"/>
          </a:p>
        </p:txBody>
      </p:sp>
      <p:sp>
        <p:nvSpPr>
          <p:cNvPr id="68" name="Shape 61"/>
          <p:cNvSpPr/>
          <p:nvPr/>
        </p:nvSpPr>
        <p:spPr>
          <a:xfrm>
            <a:off x="9774936" y="5404104"/>
            <a:ext cx="128016" cy="91"/>
          </a:xfrm>
          <a:prstGeom prst="line">
            <a:avLst/>
          </a:prstGeom>
          <a:noFill/>
          <a:ln w="15875">
            <a:solidFill>
              <a:srgbClr val="5A6A85"/>
            </a:solidFill>
            <a:prstDash val="solid"/>
            <a:tailEnd type="triangle"/>
          </a:ln>
        </p:spPr>
      </p:sp>
      <p:sp>
        <p:nvSpPr>
          <p:cNvPr id="69" name="Text 62"/>
          <p:cNvSpPr txBox="1"/>
          <p:nvPr/>
        </p:nvSpPr>
        <p:spPr>
          <a:xfrm>
            <a:off x="9939528" y="5212080"/>
            <a:ext cx="1463040" cy="384048"/>
          </a:xfrm>
          <a:prstGeom prst="roundRect">
            <a:avLst>
              <a:gd name="adj" fmla="val 23810"/>
            </a:avLst>
          </a:prstGeom>
          <a:solidFill>
            <a:srgbClr val="EAF6FC"/>
          </a:solidFill>
          <a:ln/>
        </p:spPr>
        <p:txBody>
          <a:bodyPr wrap="square" lIns="0" tIns="0" rIns="0" bIns="0" rtlCol="0" anchor="ctr"/>
          <a:lstStyle/>
          <a:p>
            <a:pPr algn="ctr" indent="0" marL="0">
              <a:lnSpc>
                <a:spcPct val="100000"/>
              </a:lnSpc>
              <a:buNone/>
            </a:pPr>
            <a:r>
              <a:rPr lang="en-US" sz="1000" b="1" dirty="0">
                <a:solidFill>
                  <a:srgbClr val="0B1F44"/>
                </a:solidFill>
                <a:latin typeface="Arial" pitchFamily="34" charset="0"/>
                <a:ea typeface="Arial" pitchFamily="34" charset="-122"/>
                <a:cs typeface="Arial" pitchFamily="34" charset="-120"/>
              </a:rPr>
              <a:t>Salaahkaar insight</a:t>
            </a:r>
            <a:endParaRPr lang="en-US" sz="1000" dirty="0"/>
          </a:p>
        </p:txBody>
      </p:sp>
      <p:sp>
        <p:nvSpPr>
          <p:cNvPr id="70" name="Text 63"/>
          <p:cNvSpPr txBox="1"/>
          <p:nvPr/>
        </p:nvSpPr>
        <p:spPr>
          <a:xfrm>
            <a:off x="548640" y="6035040"/>
            <a:ext cx="2743200" cy="237744"/>
          </a:xfrm>
          <a:prstGeom prst="roundRect">
            <a:avLst>
              <a:gd name="adj" fmla="val 50000"/>
            </a:avLst>
          </a:prstGeom>
          <a:solidFill>
            <a:srgbClr val="E3F1FA"/>
          </a:solidFill>
          <a:ln/>
        </p:spPr>
        <p:txBody>
          <a:bodyPr wrap="square" lIns="0" tIns="0" rIns="0" bIns="0" rtlCol="0" anchor="ctr"/>
          <a:lstStyle/>
          <a:p>
            <a:pPr algn="ctr" indent="0" marL="0">
              <a:lnSpc>
                <a:spcPct val="100000"/>
              </a:lnSpc>
              <a:buNone/>
            </a:pPr>
            <a:r>
              <a:rPr lang="en-US" sz="850" b="1" spc="60" kern="0" dirty="0">
                <a:solidFill>
                  <a:srgbClr val="005D99"/>
                </a:solidFill>
                <a:latin typeface="Arial" pitchFamily="34" charset="0"/>
                <a:ea typeface="Arial" pitchFamily="34" charset="-122"/>
                <a:cs typeface="Arial" pitchFamily="34" charset="-120"/>
              </a:rPr>
              <a:t>DEMO STORE · ILLUSTRATIVE NUMBERS</a:t>
            </a:r>
            <a:endParaRPr lang="en-US" sz="850" dirty="0"/>
          </a:p>
        </p:txBody>
      </p:sp>
      <p:sp>
        <p:nvSpPr>
          <p:cNvPr id="71" name="Text 64"/>
          <p:cNvSpPr txBox="1"/>
          <p:nvPr/>
        </p:nvSpPr>
        <p:spPr>
          <a:xfrm>
            <a:off x="548640" y="6419088"/>
            <a:ext cx="4572000" cy="228600"/>
          </a:xfrm>
          <a:prstGeom prst="rect">
            <a:avLst/>
          </a:prstGeom>
          <a:noFill/>
          <a:ln/>
        </p:spPr>
        <p:txBody>
          <a:bodyPr wrap="square" lIns="0" tIns="0" rIns="0" bIns="0" rtlCol="0" anchor="t"/>
          <a:lstStyle/>
          <a:p>
            <a:pPr algn="l" indent="0" marL="0">
              <a:lnSpc>
                <a:spcPct val="100000"/>
              </a:lnSpc>
              <a:buNone/>
            </a:pPr>
            <a:r>
              <a:rPr lang="en-US" sz="900" b="1" dirty="0">
                <a:solidFill>
                  <a:srgbClr val="8A99B3"/>
                </a:solidFill>
                <a:latin typeface="Arial" pitchFamily="34" charset="0"/>
                <a:ea typeface="Arial" pitchFamily="34" charset="-122"/>
                <a:cs typeface="Arial" pitchFamily="34" charset="-120"/>
              </a:rPr>
              <a:t>Kirana Shop AI</a:t>
            </a:r>
            <a:endParaRPr lang="en-US" sz="900" dirty="0"/>
          </a:p>
        </p:txBody>
      </p:sp>
      <p:sp>
        <p:nvSpPr>
          <p:cNvPr id="72" name="Text 65"/>
          <p:cNvSpPr txBox="1"/>
          <p:nvPr/>
        </p:nvSpPr>
        <p:spPr>
          <a:xfrm>
            <a:off x="9354312" y="6419088"/>
            <a:ext cx="2286000" cy="228600"/>
          </a:xfrm>
          <a:prstGeom prst="rect">
            <a:avLst/>
          </a:prstGeom>
          <a:noFill/>
          <a:ln/>
        </p:spPr>
        <p:txBody>
          <a:bodyPr wrap="square" lIns="0" tIns="0" rIns="0" bIns="0" rtlCol="0" anchor="t"/>
          <a:lstStyle/>
          <a:p>
            <a:pPr algn="r" indent="0" marL="0">
              <a:lnSpc>
                <a:spcPct val="100000"/>
              </a:lnSpc>
              <a:buNone/>
            </a:pPr>
            <a:r>
              <a:rPr lang="en-US" sz="900" dirty="0">
                <a:solidFill>
                  <a:srgbClr val="8A99B3"/>
                </a:solidFill>
                <a:latin typeface="Arial" pitchFamily="34" charset="0"/>
                <a:ea typeface="Arial" pitchFamily="34" charset="-122"/>
                <a:cs typeface="Arial" pitchFamily="34" charset="-120"/>
              </a:rPr>
              <a:t>07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072BC"/>
                </a:solidFill>
                <a:latin typeface="Arial" pitchFamily="34" charset="0"/>
                <a:ea typeface="Arial" pitchFamily="34" charset="-122"/>
                <a:cs typeface="Arial" pitchFamily="34" charset="-120"/>
              </a:rPr>
              <a:t>WHY THIS MATTERS TO PAYTM</a:t>
            </a:r>
            <a:endParaRPr lang="en-US" sz="1100" dirty="0"/>
          </a:p>
        </p:txBody>
      </p:sp>
      <p:sp>
        <p:nvSpPr>
          <p:cNvPr id="3" name="Text 1"/>
          <p:cNvSpPr txBox="1"/>
          <p:nvPr/>
        </p:nvSpPr>
        <p:spPr>
          <a:xfrm>
            <a:off x="548640" y="676656"/>
            <a:ext cx="11064240" cy="566928"/>
          </a:xfrm>
          <a:prstGeom prst="rect">
            <a:avLst/>
          </a:prstGeom>
          <a:noFill/>
          <a:ln/>
        </p:spPr>
        <p:txBody>
          <a:bodyPr wrap="square" lIns="0" tIns="0" rIns="0" bIns="0" rtlCol="0" anchor="t"/>
          <a:lstStyle/>
          <a:p>
            <a:pPr algn="l" indent="0" marL="0">
              <a:lnSpc>
                <a:spcPct val="100000"/>
              </a:lnSpc>
              <a:buNone/>
            </a:pPr>
            <a:r>
              <a:rPr lang="en-US" sz="3000" b="1" dirty="0">
                <a:solidFill>
                  <a:srgbClr val="0B1F44"/>
                </a:solidFill>
                <a:latin typeface="Arial" pitchFamily="34" charset="0"/>
                <a:ea typeface="Arial" pitchFamily="34" charset="-122"/>
                <a:cs typeface="Arial" pitchFamily="34" charset="-120"/>
              </a:rPr>
              <a:t>Payments bring merchants in. Daily value keeps them.</a:t>
            </a:r>
            <a:endParaRPr lang="en-US" sz="3000" dirty="0"/>
          </a:p>
        </p:txBody>
      </p:sp>
      <p:sp>
        <p:nvSpPr>
          <p:cNvPr id="4" name="Shape 2"/>
          <p:cNvSpPr/>
          <p:nvPr/>
        </p:nvSpPr>
        <p:spPr>
          <a:xfrm>
            <a:off x="1371600" y="1965960"/>
            <a:ext cx="3566160" cy="3566160"/>
          </a:xfrm>
          <a:prstGeom prst="ellipse">
            <a:avLst/>
          </a:prstGeom>
          <a:ln w="114300">
            <a:solidFill>
              <a:srgbClr val="C9E6F6"/>
            </a:solidFill>
            <a:prstDash val="solid"/>
          </a:ln>
        </p:spPr>
      </p:sp>
      <p:sp>
        <p:nvSpPr>
          <p:cNvPr id="5" name="Text 3"/>
          <p:cNvSpPr txBox="1"/>
          <p:nvPr/>
        </p:nvSpPr>
        <p:spPr>
          <a:xfrm>
            <a:off x="2103120" y="3364992"/>
            <a:ext cx="2103120" cy="1005840"/>
          </a:xfrm>
          <a:prstGeom prst="rect">
            <a:avLst/>
          </a:prstGeom>
          <a:noFill/>
          <a:ln/>
        </p:spPr>
        <p:txBody>
          <a:bodyPr wrap="square" lIns="0" tIns="0" rIns="0" bIns="0" rtlCol="0" anchor="ctr"/>
          <a:lstStyle/>
          <a:p>
            <a:pPr algn="ctr" indent="0" marL="0">
              <a:lnSpc>
                <a:spcPct val="100000"/>
              </a:lnSpc>
              <a:spcAft>
                <a:spcPts val="300"/>
              </a:spcAft>
              <a:buNone/>
            </a:pPr>
            <a:r>
              <a:rPr lang="en-US" sz="1200" b="1" dirty="0">
                <a:solidFill>
                  <a:srgbClr val="0B1F44"/>
                </a:solidFill>
                <a:latin typeface="Arial" pitchFamily="34" charset="0"/>
                <a:ea typeface="Arial" pitchFamily="34" charset="-122"/>
                <a:cs typeface="Arial" pitchFamily="34" charset="-120"/>
              </a:rPr>
              <a:t>Every payment creates data.</a:t>
            </a:r>
            <a:endParaRPr lang="en-US" sz="1200" dirty="0"/>
          </a:p>
          <a:p>
            <a:pPr algn="ctr" indent="0" marL="0">
              <a:lnSpc>
                <a:spcPct val="100000"/>
              </a:lnSpc>
              <a:spcAft>
                <a:spcPts val="300"/>
              </a:spcAft>
              <a:buNone/>
            </a:pPr>
            <a:r>
              <a:rPr lang="en-US" sz="1200" b="1" dirty="0">
                <a:solidFill>
                  <a:srgbClr val="0B1F44"/>
                </a:solidFill>
                <a:latin typeface="Arial" pitchFamily="34" charset="0"/>
                <a:ea typeface="Arial" pitchFamily="34" charset="-122"/>
                <a:cs typeface="Arial" pitchFamily="34" charset="-120"/>
              </a:rPr>
              <a:t>Data creates an action.</a:t>
            </a:r>
            <a:endParaRPr lang="en-US" sz="1200" dirty="0"/>
          </a:p>
          <a:p>
            <a:pPr algn="ctr" indent="0" marL="0">
              <a:lnSpc>
                <a:spcPct val="100000"/>
              </a:lnSpc>
              <a:spcAft>
                <a:spcPts val="300"/>
              </a:spcAft>
              <a:buNone/>
            </a:pPr>
            <a:r>
              <a:rPr lang="en-US" sz="1200" b="1" dirty="0">
                <a:solidFill>
                  <a:srgbClr val="0072BC"/>
                </a:solidFill>
                <a:latin typeface="Arial" pitchFamily="34" charset="0"/>
                <a:ea typeface="Arial" pitchFamily="34" charset="-122"/>
                <a:cs typeface="Arial" pitchFamily="34" charset="-120"/>
              </a:rPr>
              <a:t>Action creates value.</a:t>
            </a:r>
            <a:endParaRPr lang="en-US" sz="1200" dirty="0"/>
          </a:p>
        </p:txBody>
      </p:sp>
      <p:sp>
        <p:nvSpPr>
          <p:cNvPr id="6" name="Shape 4"/>
          <p:cNvSpPr/>
          <p:nvPr/>
        </p:nvSpPr>
        <p:spPr>
          <a:xfrm>
            <a:off x="2354580" y="1709928"/>
            <a:ext cx="1600200" cy="512064"/>
          </a:xfrm>
          <a:prstGeom prst="roundRect">
            <a:avLst>
              <a:gd name="adj" fmla="val 50000"/>
            </a:avLst>
          </a:prstGeom>
          <a:solidFill>
            <a:srgbClr val="0B1F44"/>
          </a:solidFill>
          <a:ln/>
          <a:effectLst>
            <a:outerShdw sx="100000" sy="100000" kx="0" ky="0" algn="bl" rotWithShape="0" blurRad="114300" dist="25400" dir="5400000">
              <a:srgbClr val="0B1F44">
                <a:alpha val="13000"/>
              </a:srgbClr>
            </a:outerShdw>
          </a:effectLst>
        </p:spPr>
      </p:sp>
      <p:sp>
        <p:nvSpPr>
          <p:cNvPr id="7" name="Text 5"/>
          <p:cNvSpPr txBox="1"/>
          <p:nvPr/>
        </p:nvSpPr>
        <p:spPr>
          <a:xfrm>
            <a:off x="2427732" y="1709928"/>
            <a:ext cx="365760" cy="512064"/>
          </a:xfrm>
          <a:prstGeom prst="rect">
            <a:avLst/>
          </a:prstGeom>
          <a:noFill/>
          <a:ln/>
        </p:spPr>
        <p:txBody>
          <a:bodyPr wrap="square" lIns="0" tIns="0" rIns="0" bIns="0" rtlCol="0" anchor="ctr"/>
          <a:lstStyle/>
          <a:p>
            <a:pPr algn="ctr" indent="0" marL="0">
              <a:lnSpc>
                <a:spcPct val="100000"/>
              </a:lnSpc>
              <a:buNone/>
            </a:pPr>
            <a:r>
              <a:rPr lang="en-US" sz="1200" b="1" dirty="0">
                <a:solidFill>
                  <a:srgbClr val="8FD6F5"/>
                </a:solidFill>
                <a:latin typeface="Arial" pitchFamily="34" charset="0"/>
                <a:ea typeface="Arial" pitchFamily="34" charset="-122"/>
                <a:cs typeface="Arial" pitchFamily="34" charset="-120"/>
              </a:rPr>
              <a:t>1</a:t>
            </a:r>
            <a:endParaRPr lang="en-US" sz="1200" dirty="0"/>
          </a:p>
        </p:txBody>
      </p:sp>
      <p:sp>
        <p:nvSpPr>
          <p:cNvPr id="8" name="Text 6"/>
          <p:cNvSpPr txBox="1"/>
          <p:nvPr/>
        </p:nvSpPr>
        <p:spPr>
          <a:xfrm>
            <a:off x="2766060" y="1709928"/>
            <a:ext cx="1143000" cy="512064"/>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Arial" pitchFamily="34" charset="0"/>
                <a:ea typeface="Arial" pitchFamily="34" charset="-122"/>
                <a:cs typeface="Arial" pitchFamily="34" charset="-120"/>
              </a:rPr>
              <a:t>Faster billing</a:t>
            </a:r>
            <a:endParaRPr lang="en-US" sz="1150" dirty="0"/>
          </a:p>
        </p:txBody>
      </p:sp>
      <p:sp>
        <p:nvSpPr>
          <p:cNvPr id="9" name="Shape 7"/>
          <p:cNvSpPr/>
          <p:nvPr/>
        </p:nvSpPr>
        <p:spPr>
          <a:xfrm>
            <a:off x="4050390" y="2942006"/>
            <a:ext cx="1600200" cy="512064"/>
          </a:xfrm>
          <a:prstGeom prst="roundRect">
            <a:avLst>
              <a:gd name="adj" fmla="val 50000"/>
            </a:avLst>
          </a:prstGeom>
          <a:solidFill>
            <a:srgbClr val="0B1F44"/>
          </a:solidFill>
          <a:ln/>
          <a:effectLst>
            <a:outerShdw sx="100000" sy="100000" kx="0" ky="0" algn="bl" rotWithShape="0" blurRad="114300" dist="25400" dir="5400000">
              <a:srgbClr val="0B1F44">
                <a:alpha val="13000"/>
              </a:srgbClr>
            </a:outerShdw>
          </a:effectLst>
        </p:spPr>
      </p:sp>
      <p:sp>
        <p:nvSpPr>
          <p:cNvPr id="10" name="Text 8"/>
          <p:cNvSpPr txBox="1"/>
          <p:nvPr/>
        </p:nvSpPr>
        <p:spPr>
          <a:xfrm>
            <a:off x="4123542" y="2942006"/>
            <a:ext cx="365760" cy="512064"/>
          </a:xfrm>
          <a:prstGeom prst="rect">
            <a:avLst/>
          </a:prstGeom>
          <a:noFill/>
          <a:ln/>
        </p:spPr>
        <p:txBody>
          <a:bodyPr wrap="square" lIns="0" tIns="0" rIns="0" bIns="0" rtlCol="0" anchor="ctr"/>
          <a:lstStyle/>
          <a:p>
            <a:pPr algn="ctr" indent="0" marL="0">
              <a:lnSpc>
                <a:spcPct val="100000"/>
              </a:lnSpc>
              <a:buNone/>
            </a:pPr>
            <a:r>
              <a:rPr lang="en-US" sz="1200" b="1" dirty="0">
                <a:solidFill>
                  <a:srgbClr val="8FD6F5"/>
                </a:solidFill>
                <a:latin typeface="Arial" pitchFamily="34" charset="0"/>
                <a:ea typeface="Arial" pitchFamily="34" charset="-122"/>
                <a:cs typeface="Arial" pitchFamily="34" charset="-120"/>
              </a:rPr>
              <a:t>2</a:t>
            </a:r>
            <a:endParaRPr lang="en-US" sz="1200" dirty="0"/>
          </a:p>
        </p:txBody>
      </p:sp>
      <p:sp>
        <p:nvSpPr>
          <p:cNvPr id="11" name="Text 9"/>
          <p:cNvSpPr txBox="1"/>
          <p:nvPr/>
        </p:nvSpPr>
        <p:spPr>
          <a:xfrm>
            <a:off x="4461870" y="2942006"/>
            <a:ext cx="1143000" cy="512064"/>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Arial" pitchFamily="34" charset="0"/>
                <a:ea typeface="Arial" pitchFamily="34" charset="-122"/>
                <a:cs typeface="Arial" pitchFamily="34" charset="-120"/>
              </a:rPr>
              <a:t>More digital orders</a:t>
            </a:r>
            <a:endParaRPr lang="en-US" sz="1150" dirty="0"/>
          </a:p>
        </p:txBody>
      </p:sp>
      <p:sp>
        <p:nvSpPr>
          <p:cNvPr id="12" name="Shape 10"/>
          <p:cNvSpPr/>
          <p:nvPr/>
        </p:nvSpPr>
        <p:spPr>
          <a:xfrm>
            <a:off x="3402648" y="4935550"/>
            <a:ext cx="1600200" cy="512064"/>
          </a:xfrm>
          <a:prstGeom prst="roundRect">
            <a:avLst>
              <a:gd name="adj" fmla="val 50000"/>
            </a:avLst>
          </a:prstGeom>
          <a:solidFill>
            <a:srgbClr val="0B1F44"/>
          </a:solidFill>
          <a:ln/>
          <a:effectLst>
            <a:outerShdw sx="100000" sy="100000" kx="0" ky="0" algn="bl" rotWithShape="0" blurRad="114300" dist="25400" dir="5400000">
              <a:srgbClr val="0B1F44">
                <a:alpha val="13000"/>
              </a:srgbClr>
            </a:outerShdw>
          </a:effectLst>
        </p:spPr>
      </p:sp>
      <p:sp>
        <p:nvSpPr>
          <p:cNvPr id="13" name="Text 11"/>
          <p:cNvSpPr txBox="1"/>
          <p:nvPr/>
        </p:nvSpPr>
        <p:spPr>
          <a:xfrm>
            <a:off x="3475800" y="4935550"/>
            <a:ext cx="365760" cy="512064"/>
          </a:xfrm>
          <a:prstGeom prst="rect">
            <a:avLst/>
          </a:prstGeom>
          <a:noFill/>
          <a:ln/>
        </p:spPr>
        <p:txBody>
          <a:bodyPr wrap="square" lIns="0" tIns="0" rIns="0" bIns="0" rtlCol="0" anchor="ctr"/>
          <a:lstStyle/>
          <a:p>
            <a:pPr algn="ctr" indent="0" marL="0">
              <a:lnSpc>
                <a:spcPct val="100000"/>
              </a:lnSpc>
              <a:buNone/>
            </a:pPr>
            <a:r>
              <a:rPr lang="en-US" sz="1200" b="1" dirty="0">
                <a:solidFill>
                  <a:srgbClr val="8FD6F5"/>
                </a:solidFill>
                <a:latin typeface="Arial" pitchFamily="34" charset="0"/>
                <a:ea typeface="Arial" pitchFamily="34" charset="-122"/>
                <a:cs typeface="Arial" pitchFamily="34" charset="-120"/>
              </a:rPr>
              <a:t>3</a:t>
            </a:r>
            <a:endParaRPr lang="en-US" sz="1200" dirty="0"/>
          </a:p>
        </p:txBody>
      </p:sp>
      <p:sp>
        <p:nvSpPr>
          <p:cNvPr id="14" name="Text 12"/>
          <p:cNvSpPr txBox="1"/>
          <p:nvPr/>
        </p:nvSpPr>
        <p:spPr>
          <a:xfrm>
            <a:off x="3814128" y="4935550"/>
            <a:ext cx="1143000" cy="512064"/>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Arial" pitchFamily="34" charset="0"/>
                <a:ea typeface="Arial" pitchFamily="34" charset="-122"/>
                <a:cs typeface="Arial" pitchFamily="34" charset="-120"/>
              </a:rPr>
              <a:t>Better data</a:t>
            </a:r>
            <a:endParaRPr lang="en-US" sz="1150" dirty="0"/>
          </a:p>
        </p:txBody>
      </p:sp>
      <p:sp>
        <p:nvSpPr>
          <p:cNvPr id="15" name="Shape 13"/>
          <p:cNvSpPr/>
          <p:nvPr/>
        </p:nvSpPr>
        <p:spPr>
          <a:xfrm>
            <a:off x="1306512" y="4935550"/>
            <a:ext cx="1600200" cy="512064"/>
          </a:xfrm>
          <a:prstGeom prst="roundRect">
            <a:avLst>
              <a:gd name="adj" fmla="val 50000"/>
            </a:avLst>
          </a:prstGeom>
          <a:solidFill>
            <a:srgbClr val="00A7E1"/>
          </a:solidFill>
          <a:ln/>
          <a:effectLst>
            <a:outerShdw sx="100000" sy="100000" kx="0" ky="0" algn="bl" rotWithShape="0" blurRad="114300" dist="25400" dir="5400000">
              <a:srgbClr val="0B1F44">
                <a:alpha val="13000"/>
              </a:srgbClr>
            </a:outerShdw>
          </a:effectLst>
        </p:spPr>
      </p:sp>
      <p:sp>
        <p:nvSpPr>
          <p:cNvPr id="16" name="Text 14"/>
          <p:cNvSpPr txBox="1"/>
          <p:nvPr/>
        </p:nvSpPr>
        <p:spPr>
          <a:xfrm>
            <a:off x="1379664" y="4935550"/>
            <a:ext cx="365760" cy="512064"/>
          </a:xfrm>
          <a:prstGeom prst="rect">
            <a:avLst/>
          </a:prstGeom>
          <a:noFill/>
          <a:ln/>
        </p:spPr>
        <p:txBody>
          <a:bodyPr wrap="square" lIns="0" tIns="0" rIns="0" bIns="0" rtlCol="0" anchor="ctr"/>
          <a:lstStyle/>
          <a:p>
            <a:pPr algn="ctr" indent="0" marL="0">
              <a:lnSpc>
                <a:spcPct val="100000"/>
              </a:lnSpc>
              <a:buNone/>
            </a:pPr>
            <a:r>
              <a:rPr lang="en-US" sz="1200" b="1" dirty="0">
                <a:solidFill>
                  <a:srgbClr val="0B1F44"/>
                </a:solidFill>
                <a:latin typeface="Arial" pitchFamily="34" charset="0"/>
                <a:ea typeface="Arial" pitchFamily="34" charset="-122"/>
                <a:cs typeface="Arial" pitchFamily="34" charset="-120"/>
              </a:rPr>
              <a:t>4</a:t>
            </a:r>
            <a:endParaRPr lang="en-US" sz="1200" dirty="0"/>
          </a:p>
        </p:txBody>
      </p:sp>
      <p:sp>
        <p:nvSpPr>
          <p:cNvPr id="17" name="Text 15"/>
          <p:cNvSpPr txBox="1"/>
          <p:nvPr/>
        </p:nvSpPr>
        <p:spPr>
          <a:xfrm>
            <a:off x="1717992" y="4935550"/>
            <a:ext cx="1143000" cy="512064"/>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Arial" pitchFamily="34" charset="0"/>
                <a:ea typeface="Arial" pitchFamily="34" charset="-122"/>
                <a:cs typeface="Arial" pitchFamily="34" charset="-120"/>
              </a:rPr>
              <a:t>Better advice</a:t>
            </a:r>
            <a:endParaRPr lang="en-US" sz="1150" dirty="0"/>
          </a:p>
        </p:txBody>
      </p:sp>
      <p:sp>
        <p:nvSpPr>
          <p:cNvPr id="18" name="Shape 16"/>
          <p:cNvSpPr/>
          <p:nvPr/>
        </p:nvSpPr>
        <p:spPr>
          <a:xfrm>
            <a:off x="658770" y="2942006"/>
            <a:ext cx="1600200" cy="512064"/>
          </a:xfrm>
          <a:prstGeom prst="roundRect">
            <a:avLst>
              <a:gd name="adj" fmla="val 50000"/>
            </a:avLst>
          </a:prstGeom>
          <a:solidFill>
            <a:srgbClr val="0B1F44"/>
          </a:solidFill>
          <a:ln/>
          <a:effectLst>
            <a:outerShdw sx="100000" sy="100000" kx="0" ky="0" algn="bl" rotWithShape="0" blurRad="114300" dist="25400" dir="5400000">
              <a:srgbClr val="0B1F44">
                <a:alpha val="13000"/>
              </a:srgbClr>
            </a:outerShdw>
          </a:effectLst>
        </p:spPr>
      </p:sp>
      <p:sp>
        <p:nvSpPr>
          <p:cNvPr id="19" name="Text 17"/>
          <p:cNvSpPr txBox="1"/>
          <p:nvPr/>
        </p:nvSpPr>
        <p:spPr>
          <a:xfrm>
            <a:off x="731922" y="2942006"/>
            <a:ext cx="365760" cy="512064"/>
          </a:xfrm>
          <a:prstGeom prst="rect">
            <a:avLst/>
          </a:prstGeom>
          <a:noFill/>
          <a:ln/>
        </p:spPr>
        <p:txBody>
          <a:bodyPr wrap="square" lIns="0" tIns="0" rIns="0" bIns="0" rtlCol="0" anchor="ctr"/>
          <a:lstStyle/>
          <a:p>
            <a:pPr algn="ctr" indent="0" marL="0">
              <a:lnSpc>
                <a:spcPct val="100000"/>
              </a:lnSpc>
              <a:buNone/>
            </a:pPr>
            <a:r>
              <a:rPr lang="en-US" sz="1200" b="1" dirty="0">
                <a:solidFill>
                  <a:srgbClr val="8FD6F5"/>
                </a:solidFill>
                <a:latin typeface="Arial" pitchFamily="34" charset="0"/>
                <a:ea typeface="Arial" pitchFamily="34" charset="-122"/>
                <a:cs typeface="Arial" pitchFamily="34" charset="-120"/>
              </a:rPr>
              <a:t>5</a:t>
            </a:r>
            <a:endParaRPr lang="en-US" sz="1200" dirty="0"/>
          </a:p>
        </p:txBody>
      </p:sp>
      <p:sp>
        <p:nvSpPr>
          <p:cNvPr id="20" name="Text 18"/>
          <p:cNvSpPr txBox="1"/>
          <p:nvPr/>
        </p:nvSpPr>
        <p:spPr>
          <a:xfrm>
            <a:off x="1070250" y="2942006"/>
            <a:ext cx="1143000" cy="512064"/>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Arial" pitchFamily="34" charset="0"/>
                <a:ea typeface="Arial" pitchFamily="34" charset="-122"/>
                <a:cs typeface="Arial" pitchFamily="34" charset="-120"/>
              </a:rPr>
              <a:t>Daily habit</a:t>
            </a:r>
            <a:endParaRPr lang="en-US" sz="1150" dirty="0"/>
          </a:p>
        </p:txBody>
      </p:sp>
      <p:sp>
        <p:nvSpPr>
          <p:cNvPr id="21" name="Shape 19"/>
          <p:cNvSpPr/>
          <p:nvPr/>
        </p:nvSpPr>
        <p:spPr>
          <a:xfrm>
            <a:off x="6263640" y="1481328"/>
            <a:ext cx="5376672" cy="960120"/>
          </a:xfrm>
          <a:prstGeom prst="roundRect">
            <a:avLst>
              <a:gd name="adj" fmla="val 13333"/>
            </a:avLst>
          </a:prstGeom>
          <a:solidFill>
            <a:srgbClr val="EAF6FC"/>
          </a:solidFill>
          <a:ln/>
        </p:spPr>
      </p:sp>
      <p:sp>
        <p:nvSpPr>
          <p:cNvPr id="22" name="Text 20"/>
          <p:cNvSpPr txBox="1"/>
          <p:nvPr/>
        </p:nvSpPr>
        <p:spPr>
          <a:xfrm>
            <a:off x="6492240" y="1572768"/>
            <a:ext cx="1737360" cy="502920"/>
          </a:xfrm>
          <a:prstGeom prst="rect">
            <a:avLst/>
          </a:prstGeom>
          <a:noFill/>
          <a:ln/>
        </p:spPr>
        <p:txBody>
          <a:bodyPr wrap="square" lIns="0" tIns="0" rIns="0" bIns="0" rtlCol="0" anchor="ctr"/>
          <a:lstStyle/>
          <a:p>
            <a:pPr algn="l" indent="0" marL="0">
              <a:lnSpc>
                <a:spcPct val="100000"/>
              </a:lnSpc>
              <a:buNone/>
            </a:pPr>
            <a:r>
              <a:rPr lang="en-US" sz="2600" b="1" dirty="0">
                <a:solidFill>
                  <a:srgbClr val="0072BC"/>
                </a:solidFill>
                <a:latin typeface="Arial" pitchFamily="34" charset="0"/>
                <a:ea typeface="Arial" pitchFamily="34" charset="-122"/>
                <a:cs typeface="Arial" pitchFamily="34" charset="-120"/>
              </a:rPr>
              <a:t>5 crore+</a:t>
            </a:r>
            <a:endParaRPr lang="en-US" sz="2600" dirty="0"/>
          </a:p>
        </p:txBody>
      </p:sp>
      <p:sp>
        <p:nvSpPr>
          <p:cNvPr id="23" name="Text 21"/>
          <p:cNvSpPr txBox="1"/>
          <p:nvPr/>
        </p:nvSpPr>
        <p:spPr>
          <a:xfrm>
            <a:off x="8275320" y="1572768"/>
            <a:ext cx="3200400" cy="502920"/>
          </a:xfrm>
          <a:prstGeom prst="rect">
            <a:avLst/>
          </a:prstGeom>
          <a:noFill/>
          <a:ln/>
        </p:spPr>
        <p:txBody>
          <a:bodyPr wrap="square" lIns="0" tIns="0" rIns="0" bIns="0" rtlCol="0" anchor="ctr"/>
          <a:lstStyle/>
          <a:p>
            <a:pPr algn="l" indent="0" marL="0">
              <a:lnSpc>
                <a:spcPct val="102000"/>
              </a:lnSpc>
              <a:buNone/>
            </a:pPr>
            <a:r>
              <a:rPr lang="en-US" sz="1100" dirty="0">
                <a:solidFill>
                  <a:srgbClr val="0F1B33"/>
                </a:solidFill>
                <a:latin typeface="Arial" pitchFamily="34" charset="0"/>
                <a:ea typeface="Arial" pitchFamily="34" charset="-122"/>
                <a:cs typeface="Arial" pitchFamily="34" charset="-120"/>
              </a:rPr>
              <a:t>merchants &amp; businesses Paytm says it powers to accept digital payments</a:t>
            </a:r>
            <a:endParaRPr lang="en-US" sz="1100" dirty="0"/>
          </a:p>
        </p:txBody>
      </p:sp>
      <p:sp>
        <p:nvSpPr>
          <p:cNvPr id="24" name="Text 22"/>
          <p:cNvSpPr txBox="1"/>
          <p:nvPr/>
        </p:nvSpPr>
        <p:spPr>
          <a:xfrm>
            <a:off x="6492240" y="2103120"/>
            <a:ext cx="5029200" cy="228600"/>
          </a:xfrm>
          <a:prstGeom prst="rect">
            <a:avLst/>
          </a:prstGeom>
          <a:noFill/>
          <a:ln/>
        </p:spPr>
        <p:txBody>
          <a:bodyPr wrap="square" lIns="0" tIns="0" rIns="0" bIns="0" rtlCol="0" anchor="t"/>
          <a:lstStyle/>
          <a:p>
            <a:pPr algn="l" indent="0" marL="0">
              <a:lnSpc>
                <a:spcPct val="100000"/>
              </a:lnSpc>
              <a:buNone/>
            </a:pPr>
            <a:r>
              <a:rPr lang="en-US" sz="850" dirty="0">
                <a:solidFill>
                  <a:srgbClr val="5A6A85"/>
                </a:solidFill>
                <a:latin typeface="Arial" pitchFamily="34" charset="0"/>
                <a:ea typeface="Arial" pitchFamily="34" charset="-122"/>
                <a:cs typeface="Arial" pitchFamily="34" charset="-120"/>
              </a:rPr>
              <a:t>Source: paytm.com/about-us, reviewed 25 Sep 2026</a:t>
            </a:r>
            <a:endParaRPr lang="en-US" sz="850" dirty="0"/>
          </a:p>
        </p:txBody>
      </p:sp>
      <p:sp>
        <p:nvSpPr>
          <p:cNvPr id="25" name="Text 23"/>
          <p:cNvSpPr txBox="1"/>
          <p:nvPr/>
        </p:nvSpPr>
        <p:spPr>
          <a:xfrm>
            <a:off x="6263640" y="2606040"/>
            <a:ext cx="4059936" cy="237744"/>
          </a:xfrm>
          <a:prstGeom prst="roundRect">
            <a:avLst>
              <a:gd name="adj" fmla="val 50000"/>
            </a:avLst>
          </a:prstGeom>
          <a:solidFill>
            <a:srgbClr val="FDEFD9"/>
          </a:solidFill>
          <a:ln/>
        </p:spPr>
        <p:txBody>
          <a:bodyPr wrap="square" lIns="0" tIns="0" rIns="0" bIns="0" rtlCol="0" anchor="ctr"/>
          <a:lstStyle/>
          <a:p>
            <a:pPr algn="ctr" indent="0" marL="0">
              <a:lnSpc>
                <a:spcPct val="100000"/>
              </a:lnSpc>
              <a:buNone/>
            </a:pPr>
            <a:r>
              <a:rPr lang="en-US" sz="850" b="1" spc="60" kern="0" dirty="0">
                <a:solidFill>
                  <a:srgbClr val="8A5200"/>
                </a:solidFill>
                <a:latin typeface="Arial" pitchFamily="34" charset="0"/>
                <a:ea typeface="Arial" pitchFamily="34" charset="-122"/>
                <a:cs typeface="Arial" pitchFamily="34" charset="-120"/>
              </a:rPr>
              <a:t>WHAT PAYTM COULD GAIN · HYPOTHESES TO TEST IN PILOT</a:t>
            </a:r>
            <a:endParaRPr lang="en-US" sz="850" dirty="0"/>
          </a:p>
        </p:txBody>
      </p:sp>
      <p:sp>
        <p:nvSpPr>
          <p:cNvPr id="26" name="Shape 24"/>
          <p:cNvSpPr/>
          <p:nvPr/>
        </p:nvSpPr>
        <p:spPr>
          <a:xfrm>
            <a:off x="6263640" y="3008376"/>
            <a:ext cx="420624" cy="420624"/>
          </a:xfrm>
          <a:prstGeom prst="ellipse">
            <a:avLst/>
          </a:prstGeom>
          <a:solidFill>
            <a:srgbClr val="EAF6FC"/>
          </a:solidFill>
          <a:ln/>
        </p:spPr>
      </p:sp>
      <p:pic>
        <p:nvPicPr>
          <p:cNvPr id="27" name="Image 0" descr="/private/tmp/claude-501/-Users-jaypandey-Library-Application-Support-Claude-scratch-workspaces-e205fcbe-ff17-47a0-b0da-08b9c2cd8dd1-9a575c31-2854-4c86-a69f-21eba1183528-scratch-2026-09-25-918942/ab509d62-e048-41fc-927b-5525291df5de/scratchpad/img/icons/LuCalendarCheck_0072BC.png">    </p:cNvPr>
          <p:cNvPicPr>
            <a:picLocks noChangeAspect="1"/>
          </p:cNvPicPr>
          <p:nvPr/>
        </p:nvPicPr>
        <p:blipFill>
          <a:blip r:embed="rId1"/>
          <a:stretch>
            <a:fillRect/>
          </a:stretch>
        </p:blipFill>
        <p:spPr>
          <a:xfrm>
            <a:off x="6364590" y="3109326"/>
            <a:ext cx="218724" cy="218724"/>
          </a:xfrm>
          <a:prstGeom prst="rect">
            <a:avLst/>
          </a:prstGeom>
        </p:spPr>
      </p:pic>
      <p:sp>
        <p:nvSpPr>
          <p:cNvPr id="28" name="Text 25"/>
          <p:cNvSpPr txBox="1"/>
          <p:nvPr/>
        </p:nvSpPr>
        <p:spPr>
          <a:xfrm>
            <a:off x="6830568" y="2962656"/>
            <a:ext cx="4754880" cy="237744"/>
          </a:xfrm>
          <a:prstGeom prst="rect">
            <a:avLst/>
          </a:prstGeom>
          <a:noFill/>
          <a:ln/>
        </p:spPr>
        <p:txBody>
          <a:bodyPr wrap="square" lIns="0" tIns="0" rIns="0" bIns="0" rtlCol="0" anchor="t"/>
          <a:lstStyle/>
          <a:p>
            <a:pPr algn="l" indent="0" marL="0">
              <a:lnSpc>
                <a:spcPct val="100000"/>
              </a:lnSpc>
              <a:buNone/>
            </a:pPr>
            <a:r>
              <a:rPr lang="en-US" sz="1250" b="1" dirty="0">
                <a:solidFill>
                  <a:srgbClr val="0B1F44"/>
                </a:solidFill>
                <a:latin typeface="Arial" pitchFamily="34" charset="0"/>
                <a:ea typeface="Arial" pitchFamily="34" charset="-122"/>
                <a:cs typeface="Arial" pitchFamily="34" charset="-120"/>
              </a:rPr>
              <a:t>More daily touchpoints</a:t>
            </a:r>
            <a:endParaRPr lang="en-US" sz="1250" dirty="0"/>
          </a:p>
        </p:txBody>
      </p:sp>
      <p:sp>
        <p:nvSpPr>
          <p:cNvPr id="29" name="Text 26"/>
          <p:cNvSpPr txBox="1"/>
          <p:nvPr/>
        </p:nvSpPr>
        <p:spPr>
          <a:xfrm>
            <a:off x="6830568" y="3209544"/>
            <a:ext cx="4754880" cy="365760"/>
          </a:xfrm>
          <a:prstGeom prst="rect">
            <a:avLst/>
          </a:prstGeom>
          <a:noFill/>
          <a:ln/>
        </p:spPr>
        <p:txBody>
          <a:bodyPr wrap="square" lIns="0" tIns="0" rIns="0" bIns="0" rtlCol="0" anchor="t"/>
          <a:lstStyle/>
          <a:p>
            <a:pPr algn="l" indent="0" marL="0">
              <a:lnSpc>
                <a:spcPct val="100000"/>
              </a:lnSpc>
              <a:buNone/>
            </a:pPr>
            <a:r>
              <a:rPr lang="en-US" sz="1050" dirty="0">
                <a:solidFill>
                  <a:srgbClr val="5A6A85"/>
                </a:solidFill>
                <a:latin typeface="Arial" pitchFamily="34" charset="0"/>
                <a:ea typeface="Arial" pitchFamily="34" charset="-122"/>
                <a:cs typeface="Arial" pitchFamily="34" charset="-120"/>
              </a:rPr>
              <a:t>Billing, Khata, Shop and advice every day, not only a payment alert.</a:t>
            </a:r>
            <a:endParaRPr lang="en-US" sz="1050" dirty="0"/>
          </a:p>
        </p:txBody>
      </p:sp>
      <p:sp>
        <p:nvSpPr>
          <p:cNvPr id="30" name="Shape 27"/>
          <p:cNvSpPr/>
          <p:nvPr/>
        </p:nvSpPr>
        <p:spPr>
          <a:xfrm>
            <a:off x="6263640" y="3685032"/>
            <a:ext cx="420624" cy="420624"/>
          </a:xfrm>
          <a:prstGeom prst="ellipse">
            <a:avLst/>
          </a:prstGeom>
          <a:solidFill>
            <a:srgbClr val="EAF6FC"/>
          </a:solidFill>
          <a:ln/>
        </p:spPr>
      </p:sp>
      <p:pic>
        <p:nvPicPr>
          <p:cNvPr id="31" name="Image 1" descr="/private/tmp/claude-501/-Users-jaypandey-Library-Application-Support-Claude-scratch-workspaces-e205fcbe-ff17-47a0-b0da-08b9c2cd8dd1-9a575c31-2854-4c86-a69f-21eba1183528-scratch-2026-09-25-918942/ab509d62-e048-41fc-927b-5525291df5de/scratchpad/img/icons/LuRepeat_0072BC.png">    </p:cNvPr>
          <p:cNvPicPr>
            <a:picLocks noChangeAspect="1"/>
          </p:cNvPicPr>
          <p:nvPr/>
        </p:nvPicPr>
        <p:blipFill>
          <a:blip r:embed="rId2"/>
          <a:stretch>
            <a:fillRect/>
          </a:stretch>
        </p:blipFill>
        <p:spPr>
          <a:xfrm>
            <a:off x="6364590" y="3785982"/>
            <a:ext cx="218724" cy="218724"/>
          </a:xfrm>
          <a:prstGeom prst="rect">
            <a:avLst/>
          </a:prstGeom>
        </p:spPr>
      </p:pic>
      <p:sp>
        <p:nvSpPr>
          <p:cNvPr id="32" name="Text 28"/>
          <p:cNvSpPr txBox="1"/>
          <p:nvPr/>
        </p:nvSpPr>
        <p:spPr>
          <a:xfrm>
            <a:off x="6830568" y="3639312"/>
            <a:ext cx="4754880" cy="237744"/>
          </a:xfrm>
          <a:prstGeom prst="rect">
            <a:avLst/>
          </a:prstGeom>
          <a:noFill/>
          <a:ln/>
        </p:spPr>
        <p:txBody>
          <a:bodyPr wrap="square" lIns="0" tIns="0" rIns="0" bIns="0" rtlCol="0" anchor="t"/>
          <a:lstStyle/>
          <a:p>
            <a:pPr algn="l" indent="0" marL="0">
              <a:lnSpc>
                <a:spcPct val="100000"/>
              </a:lnSpc>
              <a:buNone/>
            </a:pPr>
            <a:r>
              <a:rPr lang="en-US" sz="1250" b="1" dirty="0">
                <a:solidFill>
                  <a:srgbClr val="0B1F44"/>
                </a:solidFill>
                <a:latin typeface="Arial" pitchFamily="34" charset="0"/>
                <a:ea typeface="Arial" pitchFamily="34" charset="-122"/>
                <a:cs typeface="Arial" pitchFamily="34" charset="-120"/>
              </a:rPr>
              <a:t>More payment-linked activity</a:t>
            </a:r>
            <a:endParaRPr lang="en-US" sz="1250" dirty="0"/>
          </a:p>
        </p:txBody>
      </p:sp>
      <p:sp>
        <p:nvSpPr>
          <p:cNvPr id="33" name="Text 29"/>
          <p:cNvSpPr txBox="1"/>
          <p:nvPr/>
        </p:nvSpPr>
        <p:spPr>
          <a:xfrm>
            <a:off x="6830568" y="3886200"/>
            <a:ext cx="4754880" cy="365760"/>
          </a:xfrm>
          <a:prstGeom prst="rect">
            <a:avLst/>
          </a:prstGeom>
          <a:noFill/>
          <a:ln/>
        </p:spPr>
        <p:txBody>
          <a:bodyPr wrap="square" lIns="0" tIns="0" rIns="0" bIns="0" rtlCol="0" anchor="t"/>
          <a:lstStyle/>
          <a:p>
            <a:pPr algn="l" indent="0" marL="0">
              <a:lnSpc>
                <a:spcPct val="100000"/>
              </a:lnSpc>
              <a:buNone/>
            </a:pPr>
            <a:r>
              <a:rPr lang="en-US" sz="1050" dirty="0">
                <a:solidFill>
                  <a:srgbClr val="5A6A85"/>
                </a:solidFill>
                <a:latin typeface="Arial" pitchFamily="34" charset="0"/>
                <a:ea typeface="Arial" pitchFamily="34" charset="-122"/>
                <a:cs typeface="Arial" pitchFamily="34" charset="-120"/>
              </a:rPr>
              <a:t>Eligible digital orders can use Paytm checkout, keeping payment and order records connected.</a:t>
            </a:r>
            <a:endParaRPr lang="en-US" sz="1050" dirty="0"/>
          </a:p>
        </p:txBody>
      </p:sp>
      <p:sp>
        <p:nvSpPr>
          <p:cNvPr id="34" name="Shape 30"/>
          <p:cNvSpPr/>
          <p:nvPr/>
        </p:nvSpPr>
        <p:spPr>
          <a:xfrm>
            <a:off x="6263640" y="4361688"/>
            <a:ext cx="420624" cy="420624"/>
          </a:xfrm>
          <a:prstGeom prst="ellipse">
            <a:avLst/>
          </a:prstGeom>
          <a:solidFill>
            <a:srgbClr val="EAF6FC"/>
          </a:solidFill>
          <a:ln/>
        </p:spPr>
      </p:sp>
      <p:pic>
        <p:nvPicPr>
          <p:cNvPr id="35" name="Image 2" descr="/private/tmp/claude-501/-Users-jaypandey-Library-Application-Support-Claude-scratch-workspaces-e205fcbe-ff17-47a0-b0da-08b9c2cd8dd1-9a575c31-2854-4c86-a69f-21eba1183528-scratch-2026-09-25-918942/ab509d62-e048-41fc-927b-5525291df5de/scratchpad/img/icons/LuAnchor_0072BC.png">    </p:cNvPr>
          <p:cNvPicPr>
            <a:picLocks noChangeAspect="1"/>
          </p:cNvPicPr>
          <p:nvPr/>
        </p:nvPicPr>
        <p:blipFill>
          <a:blip r:embed="rId3"/>
          <a:stretch>
            <a:fillRect/>
          </a:stretch>
        </p:blipFill>
        <p:spPr>
          <a:xfrm>
            <a:off x="6364590" y="4462638"/>
            <a:ext cx="218724" cy="218724"/>
          </a:xfrm>
          <a:prstGeom prst="rect">
            <a:avLst/>
          </a:prstGeom>
        </p:spPr>
      </p:pic>
      <p:sp>
        <p:nvSpPr>
          <p:cNvPr id="36" name="Text 31"/>
          <p:cNvSpPr txBox="1"/>
          <p:nvPr/>
        </p:nvSpPr>
        <p:spPr>
          <a:xfrm>
            <a:off x="6830568" y="4315968"/>
            <a:ext cx="4754880" cy="237744"/>
          </a:xfrm>
          <a:prstGeom prst="rect">
            <a:avLst/>
          </a:prstGeom>
          <a:noFill/>
          <a:ln/>
        </p:spPr>
        <p:txBody>
          <a:bodyPr wrap="square" lIns="0" tIns="0" rIns="0" bIns="0" rtlCol="0" anchor="t"/>
          <a:lstStyle/>
          <a:p>
            <a:pPr algn="l" indent="0" marL="0">
              <a:lnSpc>
                <a:spcPct val="100000"/>
              </a:lnSpc>
              <a:buNone/>
            </a:pPr>
            <a:r>
              <a:rPr lang="en-US" sz="1250" b="1" dirty="0">
                <a:solidFill>
                  <a:srgbClr val="0B1F44"/>
                </a:solidFill>
                <a:latin typeface="Arial" pitchFamily="34" charset="0"/>
                <a:ea typeface="Arial" pitchFamily="34" charset="-122"/>
                <a:cs typeface="Arial" pitchFamily="34" charset="-120"/>
              </a:rPr>
              <a:t>A stickier merchant relationship</a:t>
            </a:r>
            <a:endParaRPr lang="en-US" sz="1250" dirty="0"/>
          </a:p>
        </p:txBody>
      </p:sp>
      <p:sp>
        <p:nvSpPr>
          <p:cNvPr id="37" name="Text 32"/>
          <p:cNvSpPr txBox="1"/>
          <p:nvPr/>
        </p:nvSpPr>
        <p:spPr>
          <a:xfrm>
            <a:off x="6830568" y="4562856"/>
            <a:ext cx="4754880" cy="365760"/>
          </a:xfrm>
          <a:prstGeom prst="rect">
            <a:avLst/>
          </a:prstGeom>
          <a:noFill/>
          <a:ln/>
        </p:spPr>
        <p:txBody>
          <a:bodyPr wrap="square" lIns="0" tIns="0" rIns="0" bIns="0" rtlCol="0" anchor="t"/>
          <a:lstStyle/>
          <a:p>
            <a:pPr algn="l" indent="0" marL="0">
              <a:lnSpc>
                <a:spcPct val="100000"/>
              </a:lnSpc>
              <a:buNone/>
            </a:pPr>
            <a:r>
              <a:rPr lang="en-US" sz="1050" dirty="0">
                <a:solidFill>
                  <a:srgbClr val="5A6A85"/>
                </a:solidFill>
                <a:latin typeface="Arial" pitchFamily="34" charset="0"/>
                <a:ea typeface="Arial" pitchFamily="34" charset="-122"/>
                <a:cs typeface="Arial" pitchFamily="34" charset="-120"/>
              </a:rPr>
              <a:t>The more of the shop runs here, the harder it is to replace.</a:t>
            </a:r>
            <a:endParaRPr lang="en-US" sz="1050" dirty="0"/>
          </a:p>
        </p:txBody>
      </p:sp>
      <p:sp>
        <p:nvSpPr>
          <p:cNvPr id="38" name="Shape 33"/>
          <p:cNvSpPr/>
          <p:nvPr/>
        </p:nvSpPr>
        <p:spPr>
          <a:xfrm>
            <a:off x="6263640" y="5038344"/>
            <a:ext cx="420624" cy="420624"/>
          </a:xfrm>
          <a:prstGeom prst="ellipse">
            <a:avLst/>
          </a:prstGeom>
          <a:solidFill>
            <a:srgbClr val="EAF6FC"/>
          </a:solidFill>
          <a:ln/>
        </p:spPr>
      </p:sp>
      <p:pic>
        <p:nvPicPr>
          <p:cNvPr id="39" name="Image 3" descr="/private/tmp/claude-501/-Users-jaypandey-Library-Application-Support-Claude-scratch-workspaces-e205fcbe-ff17-47a0-b0da-08b9c2cd8dd1-9a575c31-2854-4c86-a69f-21eba1183528-scratch-2026-09-25-918942/ab509d62-e048-41fc-927b-5525291df5de/scratchpad/img/icons/LuHandshake_0072BC.png">    </p:cNvPr>
          <p:cNvPicPr>
            <a:picLocks noChangeAspect="1"/>
          </p:cNvPicPr>
          <p:nvPr/>
        </p:nvPicPr>
        <p:blipFill>
          <a:blip r:embed="rId4"/>
          <a:stretch>
            <a:fillRect/>
          </a:stretch>
        </p:blipFill>
        <p:spPr>
          <a:xfrm>
            <a:off x="6364590" y="5139294"/>
            <a:ext cx="218724" cy="218724"/>
          </a:xfrm>
          <a:prstGeom prst="rect">
            <a:avLst/>
          </a:prstGeom>
        </p:spPr>
      </p:pic>
      <p:sp>
        <p:nvSpPr>
          <p:cNvPr id="40" name="Text 34"/>
          <p:cNvSpPr txBox="1"/>
          <p:nvPr/>
        </p:nvSpPr>
        <p:spPr>
          <a:xfrm>
            <a:off x="6830568" y="4992624"/>
            <a:ext cx="4754880" cy="237744"/>
          </a:xfrm>
          <a:prstGeom prst="rect">
            <a:avLst/>
          </a:prstGeom>
          <a:noFill/>
          <a:ln/>
        </p:spPr>
        <p:txBody>
          <a:bodyPr wrap="square" lIns="0" tIns="0" rIns="0" bIns="0" rtlCol="0" anchor="t"/>
          <a:lstStyle/>
          <a:p>
            <a:pPr algn="l" indent="0" marL="0">
              <a:lnSpc>
                <a:spcPct val="100000"/>
              </a:lnSpc>
              <a:buNone/>
            </a:pPr>
            <a:r>
              <a:rPr lang="en-US" sz="1250" b="1" dirty="0">
                <a:solidFill>
                  <a:srgbClr val="0B1F44"/>
                </a:solidFill>
                <a:latin typeface="Arial" pitchFamily="34" charset="0"/>
                <a:ea typeface="Arial" pitchFamily="34" charset="-122"/>
                <a:cs typeface="Arial" pitchFamily="34" charset="-120"/>
              </a:rPr>
              <a:t>Relevant, consented cross-sell</a:t>
            </a:r>
            <a:endParaRPr lang="en-US" sz="1250" dirty="0"/>
          </a:p>
        </p:txBody>
      </p:sp>
      <p:sp>
        <p:nvSpPr>
          <p:cNvPr id="41" name="Text 35"/>
          <p:cNvSpPr txBox="1"/>
          <p:nvPr/>
        </p:nvSpPr>
        <p:spPr>
          <a:xfrm>
            <a:off x="6830568" y="5239512"/>
            <a:ext cx="4754880" cy="365760"/>
          </a:xfrm>
          <a:prstGeom prst="rect">
            <a:avLst/>
          </a:prstGeom>
          <a:noFill/>
          <a:ln/>
        </p:spPr>
        <p:txBody>
          <a:bodyPr wrap="square" lIns="0" tIns="0" rIns="0" bIns="0" rtlCol="0" anchor="t"/>
          <a:lstStyle/>
          <a:p>
            <a:pPr algn="l" indent="0" marL="0">
              <a:lnSpc>
                <a:spcPct val="100000"/>
              </a:lnSpc>
              <a:buNone/>
            </a:pPr>
            <a:r>
              <a:rPr lang="en-US" sz="1050" dirty="0">
                <a:solidFill>
                  <a:srgbClr val="5A6A85"/>
                </a:solidFill>
                <a:latin typeface="Arial" pitchFamily="34" charset="0"/>
                <a:ea typeface="Arial" pitchFamily="34" charset="-122"/>
                <a:cs typeface="Arial" pitchFamily="34" charset="-120"/>
              </a:rPr>
              <a:t>Devices and financial products shown only with eligibility and consent.</a:t>
            </a:r>
            <a:endParaRPr lang="en-US" sz="1050" dirty="0"/>
          </a:p>
        </p:txBody>
      </p:sp>
      <p:sp>
        <p:nvSpPr>
          <p:cNvPr id="42" name="Shape 36"/>
          <p:cNvSpPr/>
          <p:nvPr/>
        </p:nvSpPr>
        <p:spPr>
          <a:xfrm>
            <a:off x="6263640" y="5669280"/>
            <a:ext cx="5376672" cy="585216"/>
          </a:xfrm>
          <a:prstGeom prst="roundRect">
            <a:avLst>
              <a:gd name="adj" fmla="val 18750"/>
            </a:avLst>
          </a:prstGeom>
          <a:solidFill>
            <a:srgbClr val="0B1F44"/>
          </a:solidFill>
          <a:ln/>
        </p:spPr>
      </p:sp>
      <p:sp>
        <p:nvSpPr>
          <p:cNvPr id="43" name="Text 37"/>
          <p:cNvSpPr txBox="1"/>
          <p:nvPr/>
        </p:nvSpPr>
        <p:spPr>
          <a:xfrm>
            <a:off x="6464808" y="5669280"/>
            <a:ext cx="5010912" cy="585216"/>
          </a:xfrm>
          <a:prstGeom prst="rect">
            <a:avLst/>
          </a:prstGeom>
          <a:noFill/>
          <a:ln/>
        </p:spPr>
        <p:txBody>
          <a:bodyPr wrap="square" lIns="0" tIns="0" rIns="0" bIns="0" rtlCol="0" anchor="ctr"/>
          <a:lstStyle/>
          <a:p>
            <a:pPr algn="l" indent="0" marL="0">
              <a:lnSpc>
                <a:spcPct val="102000"/>
              </a:lnSpc>
              <a:buNone/>
            </a:pPr>
            <a:r>
              <a:rPr lang="en-US" sz="1100" b="1" dirty="0">
                <a:solidFill>
                  <a:srgbClr val="8FD6F5"/>
                </a:solidFill>
                <a:latin typeface="Arial" pitchFamily="34" charset="0"/>
                <a:ea typeface="Arial" pitchFamily="34" charset="-122"/>
                <a:cs typeface="Arial" pitchFamily="34" charset="-120"/>
              </a:rPr>
              <a:t>Not “Soundbox 2.0”. </a:t>
            </a:r>
            <a:pPr algn="l" indent="0" marL="0">
              <a:lnSpc>
                <a:spcPct val="102000"/>
              </a:lnSpc>
              <a:buNone/>
            </a:pPr>
            <a:r>
              <a:rPr lang="en-US" sz="1100" dirty="0">
                <a:solidFill>
                  <a:srgbClr val="FFFFFF"/>
                </a:solidFill>
                <a:latin typeface="Arial" pitchFamily="34" charset="0"/>
                <a:ea typeface="Arial" pitchFamily="34" charset="-122"/>
                <a:cs typeface="Arial" pitchFamily="34" charset="-120"/>
              </a:rPr>
              <a:t>Soundbox confirms the payment. We connect it to the bill, stock, Khata and the next decision.</a:t>
            </a:r>
            <a:endParaRPr lang="en-US" sz="1100" dirty="0"/>
          </a:p>
        </p:txBody>
      </p:sp>
      <p:sp>
        <p:nvSpPr>
          <p:cNvPr id="44" name="Text 38"/>
          <p:cNvSpPr txBox="1"/>
          <p:nvPr/>
        </p:nvSpPr>
        <p:spPr>
          <a:xfrm>
            <a:off x="548640" y="6419088"/>
            <a:ext cx="4572000" cy="228600"/>
          </a:xfrm>
          <a:prstGeom prst="rect">
            <a:avLst/>
          </a:prstGeom>
          <a:noFill/>
          <a:ln/>
        </p:spPr>
        <p:txBody>
          <a:bodyPr wrap="square" lIns="0" tIns="0" rIns="0" bIns="0" rtlCol="0" anchor="t"/>
          <a:lstStyle/>
          <a:p>
            <a:pPr algn="l" indent="0" marL="0">
              <a:lnSpc>
                <a:spcPct val="100000"/>
              </a:lnSpc>
              <a:buNone/>
            </a:pPr>
            <a:r>
              <a:rPr lang="en-US" sz="900" b="1" dirty="0">
                <a:solidFill>
                  <a:srgbClr val="8A99B3"/>
                </a:solidFill>
                <a:latin typeface="Arial" pitchFamily="34" charset="0"/>
                <a:ea typeface="Arial" pitchFamily="34" charset="-122"/>
                <a:cs typeface="Arial" pitchFamily="34" charset="-120"/>
              </a:rPr>
              <a:t>Kirana Shop AI</a:t>
            </a:r>
            <a:endParaRPr lang="en-US" sz="900" dirty="0"/>
          </a:p>
        </p:txBody>
      </p:sp>
      <p:sp>
        <p:nvSpPr>
          <p:cNvPr id="45" name="Text 39"/>
          <p:cNvSpPr txBox="1"/>
          <p:nvPr/>
        </p:nvSpPr>
        <p:spPr>
          <a:xfrm>
            <a:off x="9354312" y="6419088"/>
            <a:ext cx="2286000" cy="228600"/>
          </a:xfrm>
          <a:prstGeom prst="rect">
            <a:avLst/>
          </a:prstGeom>
          <a:noFill/>
          <a:ln/>
        </p:spPr>
        <p:txBody>
          <a:bodyPr wrap="square" lIns="0" tIns="0" rIns="0" bIns="0" rtlCol="0" anchor="t"/>
          <a:lstStyle/>
          <a:p>
            <a:pPr algn="r" indent="0" marL="0">
              <a:lnSpc>
                <a:spcPct val="100000"/>
              </a:lnSpc>
              <a:buNone/>
            </a:pPr>
            <a:r>
              <a:rPr lang="en-US" sz="900" dirty="0">
                <a:solidFill>
                  <a:srgbClr val="8A99B3"/>
                </a:solidFill>
                <a:latin typeface="Arial" pitchFamily="34" charset="0"/>
                <a:ea typeface="Arial" pitchFamily="34" charset="-122"/>
                <a:cs typeface="Arial" pitchFamily="34" charset="-120"/>
              </a:rPr>
              <a:t>08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0072BC"/>
                </a:solidFill>
                <a:latin typeface="Arial" pitchFamily="34" charset="0"/>
                <a:ea typeface="Arial" pitchFamily="34" charset="-122"/>
                <a:cs typeface="Arial" pitchFamily="34" charset="-120"/>
              </a:rPr>
              <a:t>BUSINESS MODEL AND TECHNICAL ARCHITECTURE</a:t>
            </a:r>
            <a:endParaRPr lang="en-US" sz="1100" dirty="0"/>
          </a:p>
        </p:txBody>
      </p:sp>
      <p:sp>
        <p:nvSpPr>
          <p:cNvPr id="3" name="Text 1"/>
          <p:cNvSpPr txBox="1"/>
          <p:nvPr/>
        </p:nvSpPr>
        <p:spPr>
          <a:xfrm>
            <a:off x="548640" y="676656"/>
            <a:ext cx="11064240" cy="566928"/>
          </a:xfrm>
          <a:prstGeom prst="rect">
            <a:avLst/>
          </a:prstGeom>
          <a:noFill/>
          <a:ln/>
        </p:spPr>
        <p:txBody>
          <a:bodyPr wrap="square" lIns="0" tIns="0" rIns="0" bIns="0" rtlCol="0" anchor="t"/>
          <a:lstStyle/>
          <a:p>
            <a:pPr algn="l" indent="0" marL="0">
              <a:lnSpc>
                <a:spcPct val="100000"/>
              </a:lnSpc>
              <a:buNone/>
            </a:pPr>
            <a:r>
              <a:rPr lang="en-US" sz="3000" b="1" dirty="0">
                <a:solidFill>
                  <a:srgbClr val="0B1F44"/>
                </a:solidFill>
                <a:latin typeface="Arial" pitchFamily="34" charset="0"/>
                <a:ea typeface="Arial" pitchFamily="34" charset="-122"/>
                <a:cs typeface="Arial" pitchFamily="34" charset="-120"/>
              </a:rPr>
              <a:t>How it earns, and how we build it.</a:t>
            </a:r>
            <a:endParaRPr lang="en-US" sz="3000" dirty="0"/>
          </a:p>
        </p:txBody>
      </p:sp>
      <p:sp>
        <p:nvSpPr>
          <p:cNvPr id="4" name="Text 2"/>
          <p:cNvSpPr txBox="1"/>
          <p:nvPr/>
        </p:nvSpPr>
        <p:spPr>
          <a:xfrm>
            <a:off x="548640" y="1371600"/>
            <a:ext cx="5120640" cy="256032"/>
          </a:xfrm>
          <a:prstGeom prst="rect">
            <a:avLst/>
          </a:prstGeom>
          <a:noFill/>
          <a:ln/>
        </p:spPr>
        <p:txBody>
          <a:bodyPr wrap="square" lIns="0" tIns="0" rIns="0" bIns="0" rtlCol="0" anchor="t"/>
          <a:lstStyle/>
          <a:p>
            <a:pPr algn="l" indent="0" marL="0">
              <a:lnSpc>
                <a:spcPct val="100000"/>
              </a:lnSpc>
              <a:buNone/>
            </a:pPr>
            <a:r>
              <a:rPr lang="en-US" sz="1050" b="1" spc="80" kern="0" dirty="0">
                <a:solidFill>
                  <a:srgbClr val="0072BC"/>
                </a:solidFill>
                <a:latin typeface="Arial" pitchFamily="34" charset="0"/>
                <a:ea typeface="Arial" pitchFamily="34" charset="-122"/>
                <a:cs typeface="Arial" pitchFamily="34" charset="-120"/>
              </a:rPr>
              <a:t>BUSINESS MODEL  ·  merchant value first, monetisation second</a:t>
            </a:r>
            <a:endParaRPr lang="en-US" sz="1050" dirty="0"/>
          </a:p>
        </p:txBody>
      </p:sp>
      <p:sp>
        <p:nvSpPr>
          <p:cNvPr id="5" name="Shape 3"/>
          <p:cNvSpPr/>
          <p:nvPr/>
        </p:nvSpPr>
        <p:spPr>
          <a:xfrm>
            <a:off x="548640" y="1719072"/>
            <a:ext cx="5166360" cy="777240"/>
          </a:xfrm>
          <a:prstGeom prst="roundRect">
            <a:avLst>
              <a:gd name="adj" fmla="val 14118"/>
            </a:avLst>
          </a:prstGeom>
          <a:solidFill>
            <a:srgbClr val="F4F8FC"/>
          </a:solidFill>
          <a:ln/>
        </p:spPr>
      </p:sp>
      <p:sp>
        <p:nvSpPr>
          <p:cNvPr id="6" name="Text 4"/>
          <p:cNvSpPr txBox="1"/>
          <p:nvPr/>
        </p:nvSpPr>
        <p:spPr>
          <a:xfrm>
            <a:off x="731520" y="1810512"/>
            <a:ext cx="2194560" cy="274320"/>
          </a:xfrm>
          <a:prstGeom prst="rect">
            <a:avLst/>
          </a:prstGeom>
          <a:noFill/>
          <a:ln/>
        </p:spPr>
        <p:txBody>
          <a:bodyPr wrap="square" lIns="0" tIns="0" rIns="0" bIns="0" rtlCol="0" anchor="t"/>
          <a:lstStyle/>
          <a:p>
            <a:pPr algn="l" indent="0" marL="0">
              <a:lnSpc>
                <a:spcPct val="100000"/>
              </a:lnSpc>
              <a:buNone/>
            </a:pPr>
            <a:r>
              <a:rPr lang="en-US" sz="1300" b="1" dirty="0">
                <a:solidFill>
                  <a:srgbClr val="0B1F44"/>
                </a:solidFill>
                <a:latin typeface="Arial" pitchFamily="34" charset="0"/>
                <a:ea typeface="Arial" pitchFamily="34" charset="-122"/>
                <a:cs typeface="Arial" pitchFamily="34" charset="-120"/>
              </a:rPr>
              <a:t>Free core</a:t>
            </a:r>
            <a:endParaRPr lang="en-US" sz="1300" dirty="0"/>
          </a:p>
        </p:txBody>
      </p:sp>
      <p:sp>
        <p:nvSpPr>
          <p:cNvPr id="7" name="Text 5"/>
          <p:cNvSpPr txBox="1"/>
          <p:nvPr/>
        </p:nvSpPr>
        <p:spPr>
          <a:xfrm>
            <a:off x="3520440" y="1810512"/>
            <a:ext cx="2011680" cy="274320"/>
          </a:xfrm>
          <a:prstGeom prst="rect">
            <a:avLst/>
          </a:prstGeom>
          <a:noFill/>
          <a:ln/>
        </p:spPr>
        <p:txBody>
          <a:bodyPr wrap="square" lIns="0" tIns="0" rIns="0" bIns="0" rtlCol="0" anchor="t"/>
          <a:lstStyle/>
          <a:p>
            <a:pPr algn="r" indent="0" marL="0">
              <a:lnSpc>
                <a:spcPct val="100000"/>
              </a:lnSpc>
              <a:buNone/>
            </a:pPr>
            <a:r>
              <a:rPr lang="en-US" sz="1300" b="1" dirty="0">
                <a:solidFill>
                  <a:srgbClr val="5A6A85"/>
                </a:solidFill>
                <a:latin typeface="Arial" pitchFamily="34" charset="0"/>
                <a:ea typeface="Arial" pitchFamily="34" charset="-122"/>
                <a:cs typeface="Arial" pitchFamily="34" charset="-120"/>
              </a:rPr>
              <a:t>Free</a:t>
            </a:r>
            <a:endParaRPr lang="en-US" sz="1300" dirty="0"/>
          </a:p>
        </p:txBody>
      </p:sp>
      <p:sp>
        <p:nvSpPr>
          <p:cNvPr id="8" name="Text 6"/>
          <p:cNvSpPr txBox="1"/>
          <p:nvPr/>
        </p:nvSpPr>
        <p:spPr>
          <a:xfrm>
            <a:off x="731520" y="2103120"/>
            <a:ext cx="4846320" cy="329184"/>
          </a:xfrm>
          <a:prstGeom prst="rect">
            <a:avLst/>
          </a:prstGeom>
          <a:noFill/>
          <a:ln/>
        </p:spPr>
        <p:txBody>
          <a:bodyPr wrap="square" lIns="0" tIns="0" rIns="0" bIns="0" rtlCol="0" anchor="t"/>
          <a:lstStyle/>
          <a:p>
            <a:pPr algn="l" indent="0" marL="0">
              <a:lnSpc>
                <a:spcPct val="100000"/>
              </a:lnSpc>
              <a:buNone/>
            </a:pPr>
            <a:r>
              <a:rPr lang="en-US" sz="1050" dirty="0">
                <a:solidFill>
                  <a:srgbClr val="5A6A85"/>
                </a:solidFill>
                <a:latin typeface="Arial" pitchFamily="34" charset="0"/>
                <a:ea typeface="Arial" pitchFamily="34" charset="-122"/>
                <a:cs typeface="Arial" pitchFamily="34" charset="-120"/>
              </a:rPr>
              <a:t>Counter billing, basic Khata, shop link. Goal: daily use.</a:t>
            </a:r>
            <a:endParaRPr lang="en-US" sz="1050" dirty="0"/>
          </a:p>
        </p:txBody>
      </p:sp>
      <p:sp>
        <p:nvSpPr>
          <p:cNvPr id="9" name="Shape 7"/>
          <p:cNvSpPr/>
          <p:nvPr/>
        </p:nvSpPr>
        <p:spPr>
          <a:xfrm>
            <a:off x="548640" y="2587752"/>
            <a:ext cx="5166360" cy="777240"/>
          </a:xfrm>
          <a:prstGeom prst="roundRect">
            <a:avLst>
              <a:gd name="adj" fmla="val 14118"/>
            </a:avLst>
          </a:prstGeom>
          <a:solidFill>
            <a:srgbClr val="0B1F44"/>
          </a:solidFill>
          <a:ln/>
        </p:spPr>
      </p:sp>
      <p:sp>
        <p:nvSpPr>
          <p:cNvPr id="10" name="Text 8"/>
          <p:cNvSpPr txBox="1"/>
          <p:nvPr/>
        </p:nvSpPr>
        <p:spPr>
          <a:xfrm>
            <a:off x="731520" y="2679192"/>
            <a:ext cx="2194560" cy="274320"/>
          </a:xfrm>
          <a:prstGeom prst="rect">
            <a:avLst/>
          </a:prstGeom>
          <a:noFill/>
          <a:ln/>
        </p:spPr>
        <p:txBody>
          <a:bodyPr wrap="square" lIns="0" tIns="0" rIns="0" bIns="0" rtlCol="0" anchor="t"/>
          <a:lstStyle/>
          <a:p>
            <a:pPr algn="l" indent="0" marL="0">
              <a:lnSpc>
                <a:spcPct val="100000"/>
              </a:lnSpc>
              <a:buNone/>
            </a:pPr>
            <a:r>
              <a:rPr lang="en-US" sz="1300" b="1" dirty="0">
                <a:solidFill>
                  <a:srgbClr val="FFFFFF"/>
                </a:solidFill>
                <a:latin typeface="Arial" pitchFamily="34" charset="0"/>
                <a:ea typeface="Arial" pitchFamily="34" charset="-122"/>
                <a:cs typeface="Arial" pitchFamily="34" charset="-120"/>
              </a:rPr>
              <a:t>Pro · AI</a:t>
            </a:r>
            <a:endParaRPr lang="en-US" sz="1300" dirty="0"/>
          </a:p>
        </p:txBody>
      </p:sp>
      <p:sp>
        <p:nvSpPr>
          <p:cNvPr id="11" name="Text 9"/>
          <p:cNvSpPr txBox="1"/>
          <p:nvPr/>
        </p:nvSpPr>
        <p:spPr>
          <a:xfrm>
            <a:off x="3520440" y="2679192"/>
            <a:ext cx="2011680" cy="274320"/>
          </a:xfrm>
          <a:prstGeom prst="rect">
            <a:avLst/>
          </a:prstGeom>
          <a:noFill/>
          <a:ln/>
        </p:spPr>
        <p:txBody>
          <a:bodyPr wrap="square" lIns="0" tIns="0" rIns="0" bIns="0" rtlCol="0" anchor="t"/>
          <a:lstStyle/>
          <a:p>
            <a:pPr algn="r" indent="0" marL="0">
              <a:lnSpc>
                <a:spcPct val="100000"/>
              </a:lnSpc>
              <a:buNone/>
            </a:pPr>
            <a:r>
              <a:rPr lang="en-US" sz="1300" b="1" dirty="0">
                <a:solidFill>
                  <a:srgbClr val="8FD6F5"/>
                </a:solidFill>
                <a:latin typeface="Arial" pitchFamily="34" charset="0"/>
                <a:ea typeface="Arial" pitchFamily="34" charset="-122"/>
                <a:cs typeface="Arial" pitchFamily="34" charset="-120"/>
              </a:rPr>
              <a:t>₹149/mo*</a:t>
            </a:r>
            <a:endParaRPr lang="en-US" sz="1300" dirty="0"/>
          </a:p>
        </p:txBody>
      </p:sp>
      <p:sp>
        <p:nvSpPr>
          <p:cNvPr id="12" name="Text 10"/>
          <p:cNvSpPr txBox="1"/>
          <p:nvPr/>
        </p:nvSpPr>
        <p:spPr>
          <a:xfrm>
            <a:off x="731520" y="2971800"/>
            <a:ext cx="4846320" cy="329184"/>
          </a:xfrm>
          <a:prstGeom prst="rect">
            <a:avLst/>
          </a:prstGeom>
          <a:noFill/>
          <a:ln/>
        </p:spPr>
        <p:txBody>
          <a:bodyPr wrap="square" lIns="0" tIns="0" rIns="0" bIns="0" rtlCol="0" anchor="t"/>
          <a:lstStyle/>
          <a:p>
            <a:pPr algn="l" indent="0" marL="0">
              <a:lnSpc>
                <a:spcPct val="100000"/>
              </a:lnSpc>
              <a:buNone/>
            </a:pPr>
            <a:r>
              <a:rPr lang="en-US" sz="1050" dirty="0">
                <a:solidFill>
                  <a:srgbClr val="B8C8E2"/>
                </a:solidFill>
                <a:latin typeface="Arial" pitchFamily="34" charset="0"/>
                <a:ea typeface="Arial" pitchFamily="34" charset="-122"/>
                <a:cs typeface="Arial" pitchFamily="34" charset="-120"/>
              </a:rPr>
              <a:t>Salaahkaar, automations, reminders, richer storefront.</a:t>
            </a:r>
            <a:endParaRPr lang="en-US" sz="1050" dirty="0"/>
          </a:p>
        </p:txBody>
      </p:sp>
      <p:sp>
        <p:nvSpPr>
          <p:cNvPr id="13" name="Shape 11"/>
          <p:cNvSpPr/>
          <p:nvPr/>
        </p:nvSpPr>
        <p:spPr>
          <a:xfrm>
            <a:off x="548640" y="3456432"/>
            <a:ext cx="5166360" cy="777240"/>
          </a:xfrm>
          <a:prstGeom prst="roundRect">
            <a:avLst>
              <a:gd name="adj" fmla="val 14118"/>
            </a:avLst>
          </a:prstGeom>
          <a:solidFill>
            <a:srgbClr val="EAF6FC"/>
          </a:solidFill>
          <a:ln/>
        </p:spPr>
      </p:sp>
      <p:sp>
        <p:nvSpPr>
          <p:cNvPr id="14" name="Text 12"/>
          <p:cNvSpPr txBox="1"/>
          <p:nvPr/>
        </p:nvSpPr>
        <p:spPr>
          <a:xfrm>
            <a:off x="731520" y="3547872"/>
            <a:ext cx="2194560" cy="274320"/>
          </a:xfrm>
          <a:prstGeom prst="rect">
            <a:avLst/>
          </a:prstGeom>
          <a:noFill/>
          <a:ln/>
        </p:spPr>
        <p:txBody>
          <a:bodyPr wrap="square" lIns="0" tIns="0" rIns="0" bIns="0" rtlCol="0" anchor="t"/>
          <a:lstStyle/>
          <a:p>
            <a:pPr algn="l" indent="0" marL="0">
              <a:lnSpc>
                <a:spcPct val="100000"/>
              </a:lnSpc>
              <a:buNone/>
            </a:pPr>
            <a:r>
              <a:rPr lang="en-US" sz="1300" b="1" dirty="0">
                <a:solidFill>
                  <a:srgbClr val="0B1F44"/>
                </a:solidFill>
                <a:latin typeface="Arial" pitchFamily="34" charset="0"/>
                <a:ea typeface="Arial" pitchFamily="34" charset="-122"/>
                <a:cs typeface="Arial" pitchFamily="34" charset="-120"/>
              </a:rPr>
              <a:t>Ecosystem upside</a:t>
            </a:r>
            <a:endParaRPr lang="en-US" sz="1300" dirty="0"/>
          </a:p>
        </p:txBody>
      </p:sp>
      <p:sp>
        <p:nvSpPr>
          <p:cNvPr id="15" name="Text 13"/>
          <p:cNvSpPr txBox="1"/>
          <p:nvPr/>
        </p:nvSpPr>
        <p:spPr>
          <a:xfrm>
            <a:off x="3520440" y="3547872"/>
            <a:ext cx="2011680" cy="274320"/>
          </a:xfrm>
          <a:prstGeom prst="rect">
            <a:avLst/>
          </a:prstGeom>
          <a:noFill/>
          <a:ln/>
        </p:spPr>
        <p:txBody>
          <a:bodyPr wrap="square" lIns="0" tIns="0" rIns="0" bIns="0" rtlCol="0" anchor="t"/>
          <a:lstStyle/>
          <a:p>
            <a:pPr algn="r" indent="0" marL="0">
              <a:lnSpc>
                <a:spcPct val="100000"/>
              </a:lnSpc>
              <a:buNone/>
            </a:pPr>
            <a:r>
              <a:rPr lang="en-US" sz="1300" b="1" dirty="0">
                <a:solidFill>
                  <a:srgbClr val="0072BC"/>
                </a:solidFill>
                <a:latin typeface="Arial" pitchFamily="34" charset="0"/>
                <a:ea typeface="Arial" pitchFamily="34" charset="-122"/>
                <a:cs typeface="Arial" pitchFamily="34" charset="-120"/>
              </a:rPr>
              <a:t>Paytm terms</a:t>
            </a:r>
            <a:endParaRPr lang="en-US" sz="1300" dirty="0"/>
          </a:p>
        </p:txBody>
      </p:sp>
      <p:sp>
        <p:nvSpPr>
          <p:cNvPr id="16" name="Text 14"/>
          <p:cNvSpPr txBox="1"/>
          <p:nvPr/>
        </p:nvSpPr>
        <p:spPr>
          <a:xfrm>
            <a:off x="731520" y="3840480"/>
            <a:ext cx="4846320" cy="329184"/>
          </a:xfrm>
          <a:prstGeom prst="rect">
            <a:avLst/>
          </a:prstGeom>
          <a:noFill/>
          <a:ln/>
        </p:spPr>
        <p:txBody>
          <a:bodyPr wrap="square" lIns="0" tIns="0" rIns="0" bIns="0" rtlCol="0" anchor="t"/>
          <a:lstStyle/>
          <a:p>
            <a:pPr algn="l" indent="0" marL="0">
              <a:lnSpc>
                <a:spcPct val="100000"/>
              </a:lnSpc>
              <a:buNone/>
            </a:pPr>
            <a:r>
              <a:rPr lang="en-US" sz="1050" dirty="0">
                <a:solidFill>
                  <a:srgbClr val="5A6A85"/>
                </a:solidFill>
                <a:latin typeface="Arial" pitchFamily="34" charset="0"/>
                <a:ea typeface="Arial" pitchFamily="34" charset="-122"/>
                <a:cs typeface="Arial" pitchFamily="34" charset="-120"/>
              </a:rPr>
              <a:t>Device attach and financial-product distribution, with eligibility and consent.</a:t>
            </a:r>
            <a:endParaRPr lang="en-US" sz="1050" dirty="0"/>
          </a:p>
        </p:txBody>
      </p:sp>
      <p:sp>
        <p:nvSpPr>
          <p:cNvPr id="17" name="Shape 15"/>
          <p:cNvSpPr/>
          <p:nvPr/>
        </p:nvSpPr>
        <p:spPr>
          <a:xfrm>
            <a:off x="548640" y="4389120"/>
            <a:ext cx="5166360" cy="1783080"/>
          </a:xfrm>
          <a:prstGeom prst="roundRect">
            <a:avLst>
              <a:gd name="adj" fmla="val 7179"/>
            </a:avLst>
          </a:prstGeom>
          <a:solidFill>
            <a:srgbClr val="FFFFFF"/>
          </a:solidFill>
          <a:ln w="12700">
            <a:solidFill>
              <a:srgbClr val="D5E3F0"/>
            </a:solidFill>
            <a:prstDash val="solid"/>
          </a:ln>
        </p:spPr>
      </p:sp>
      <p:sp>
        <p:nvSpPr>
          <p:cNvPr id="18" name="Text 16"/>
          <p:cNvSpPr txBox="1"/>
          <p:nvPr/>
        </p:nvSpPr>
        <p:spPr>
          <a:xfrm>
            <a:off x="731520" y="4498848"/>
            <a:ext cx="4846320" cy="256032"/>
          </a:xfrm>
          <a:prstGeom prst="rect">
            <a:avLst/>
          </a:prstGeom>
          <a:noFill/>
          <a:ln/>
        </p:spPr>
        <p:txBody>
          <a:bodyPr wrap="square" lIns="0" tIns="0" rIns="0" bIns="0" rtlCol="0" anchor="t"/>
          <a:lstStyle/>
          <a:p>
            <a:pPr algn="l" indent="0" marL="0">
              <a:lnSpc>
                <a:spcPct val="100000"/>
              </a:lnSpc>
              <a:buNone/>
            </a:pPr>
            <a:r>
              <a:rPr lang="en-US" sz="950" b="1" spc="100" kern="0" dirty="0">
                <a:solidFill>
                  <a:srgbClr val="5A6A85"/>
                </a:solidFill>
                <a:latin typeface="Arial" pitchFamily="34" charset="0"/>
                <a:ea typeface="Arial" pitchFamily="34" charset="-122"/>
                <a:cs typeface="Arial" pitchFamily="34" charset="-120"/>
              </a:rPr>
              <a:t>ILLUSTRATIVE SCENARIOS AT ₹149/MONTH</a:t>
            </a:r>
            <a:endParaRPr lang="en-US" sz="950" dirty="0"/>
          </a:p>
        </p:txBody>
      </p:sp>
      <p:sp>
        <p:nvSpPr>
          <p:cNvPr id="19" name="Text 17"/>
          <p:cNvSpPr txBox="1"/>
          <p:nvPr/>
        </p:nvSpPr>
        <p:spPr>
          <a:xfrm>
            <a:off x="731520" y="4800600"/>
            <a:ext cx="1554480" cy="365760"/>
          </a:xfrm>
          <a:prstGeom prst="rect">
            <a:avLst/>
          </a:prstGeom>
          <a:noFill/>
          <a:ln/>
        </p:spPr>
        <p:txBody>
          <a:bodyPr wrap="square" lIns="0" tIns="0" rIns="0" bIns="0" rtlCol="0" anchor="t"/>
          <a:lstStyle/>
          <a:p>
            <a:pPr algn="l" indent="0" marL="0">
              <a:lnSpc>
                <a:spcPct val="100000"/>
              </a:lnSpc>
              <a:buNone/>
            </a:pPr>
            <a:r>
              <a:rPr lang="en-US" sz="1900" b="1" dirty="0">
                <a:solidFill>
                  <a:srgbClr val="0072BC"/>
                </a:solidFill>
                <a:latin typeface="Arial" pitchFamily="34" charset="0"/>
                <a:ea typeface="Arial" pitchFamily="34" charset="-122"/>
                <a:cs typeface="Arial" pitchFamily="34" charset="-120"/>
              </a:rPr>
              <a:t>₹1.79 Cr</a:t>
            </a:r>
            <a:endParaRPr lang="en-US" sz="1900" dirty="0"/>
          </a:p>
        </p:txBody>
      </p:sp>
      <p:sp>
        <p:nvSpPr>
          <p:cNvPr id="20" name="Text 18"/>
          <p:cNvSpPr txBox="1"/>
          <p:nvPr/>
        </p:nvSpPr>
        <p:spPr>
          <a:xfrm>
            <a:off x="731520" y="5166360"/>
            <a:ext cx="1554480" cy="201168"/>
          </a:xfrm>
          <a:prstGeom prst="rect">
            <a:avLst/>
          </a:prstGeom>
          <a:noFill/>
          <a:ln/>
        </p:spPr>
        <p:txBody>
          <a:bodyPr wrap="square" lIns="0" tIns="0" rIns="0" bIns="0" rtlCol="0" anchor="t"/>
          <a:lstStyle/>
          <a:p>
            <a:pPr algn="l" indent="0" marL="0">
              <a:lnSpc>
                <a:spcPct val="100000"/>
              </a:lnSpc>
              <a:buNone/>
            </a:pPr>
            <a:r>
              <a:rPr lang="en-US" sz="950" b="1" dirty="0">
                <a:solidFill>
                  <a:srgbClr val="0B1F44"/>
                </a:solidFill>
                <a:latin typeface="Arial" pitchFamily="34" charset="0"/>
                <a:ea typeface="Arial" pitchFamily="34" charset="-122"/>
                <a:cs typeface="Arial" pitchFamily="34" charset="-120"/>
              </a:rPr>
              <a:t>ARR</a:t>
            </a:r>
            <a:endParaRPr lang="en-US" sz="950" dirty="0"/>
          </a:p>
        </p:txBody>
      </p:sp>
      <p:sp>
        <p:nvSpPr>
          <p:cNvPr id="21" name="Text 19"/>
          <p:cNvSpPr txBox="1"/>
          <p:nvPr/>
        </p:nvSpPr>
        <p:spPr>
          <a:xfrm>
            <a:off x="731520" y="5367528"/>
            <a:ext cx="1508760" cy="365760"/>
          </a:xfrm>
          <a:prstGeom prst="rect">
            <a:avLst/>
          </a:prstGeom>
          <a:noFill/>
          <a:ln/>
        </p:spPr>
        <p:txBody>
          <a:bodyPr wrap="square" lIns="0" tIns="0" rIns="0" bIns="0" rtlCol="0" anchor="t"/>
          <a:lstStyle/>
          <a:p>
            <a:pPr algn="l" indent="0" marL="0">
              <a:lnSpc>
                <a:spcPct val="100000"/>
              </a:lnSpc>
              <a:buNone/>
            </a:pPr>
            <a:r>
              <a:rPr lang="en-US" sz="950" dirty="0">
                <a:solidFill>
                  <a:srgbClr val="5A6A85"/>
                </a:solidFill>
                <a:latin typeface="Arial" pitchFamily="34" charset="0"/>
                <a:ea typeface="Arial" pitchFamily="34" charset="-122"/>
                <a:cs typeface="Arial" pitchFamily="34" charset="-120"/>
              </a:rPr>
              <a:t>10,000 paid merchants</a:t>
            </a:r>
            <a:endParaRPr lang="en-US" sz="950" dirty="0"/>
          </a:p>
        </p:txBody>
      </p:sp>
      <p:sp>
        <p:nvSpPr>
          <p:cNvPr id="22" name="Text 20"/>
          <p:cNvSpPr txBox="1"/>
          <p:nvPr/>
        </p:nvSpPr>
        <p:spPr>
          <a:xfrm>
            <a:off x="2377440" y="4800600"/>
            <a:ext cx="1554480" cy="365760"/>
          </a:xfrm>
          <a:prstGeom prst="rect">
            <a:avLst/>
          </a:prstGeom>
          <a:noFill/>
          <a:ln/>
        </p:spPr>
        <p:txBody>
          <a:bodyPr wrap="square" lIns="0" tIns="0" rIns="0" bIns="0" rtlCol="0" anchor="t"/>
          <a:lstStyle/>
          <a:p>
            <a:pPr algn="l" indent="0" marL="0">
              <a:lnSpc>
                <a:spcPct val="100000"/>
              </a:lnSpc>
              <a:buNone/>
            </a:pPr>
            <a:r>
              <a:rPr lang="en-US" sz="1900" b="1" dirty="0">
                <a:solidFill>
                  <a:srgbClr val="0072BC"/>
                </a:solidFill>
                <a:latin typeface="Arial" pitchFamily="34" charset="0"/>
                <a:ea typeface="Arial" pitchFamily="34" charset="-122"/>
                <a:cs typeface="Arial" pitchFamily="34" charset="-120"/>
              </a:rPr>
              <a:t>₹25.03 Cr</a:t>
            </a:r>
            <a:endParaRPr lang="en-US" sz="1900" dirty="0"/>
          </a:p>
        </p:txBody>
      </p:sp>
      <p:sp>
        <p:nvSpPr>
          <p:cNvPr id="23" name="Text 21"/>
          <p:cNvSpPr txBox="1"/>
          <p:nvPr/>
        </p:nvSpPr>
        <p:spPr>
          <a:xfrm>
            <a:off x="2377440" y="5166360"/>
            <a:ext cx="1554480" cy="201168"/>
          </a:xfrm>
          <a:prstGeom prst="rect">
            <a:avLst/>
          </a:prstGeom>
          <a:noFill/>
          <a:ln/>
        </p:spPr>
        <p:txBody>
          <a:bodyPr wrap="square" lIns="0" tIns="0" rIns="0" bIns="0" rtlCol="0" anchor="t"/>
          <a:lstStyle/>
          <a:p>
            <a:pPr algn="l" indent="0" marL="0">
              <a:lnSpc>
                <a:spcPct val="100000"/>
              </a:lnSpc>
              <a:buNone/>
            </a:pPr>
            <a:r>
              <a:rPr lang="en-US" sz="950" b="1" dirty="0">
                <a:solidFill>
                  <a:srgbClr val="0B1F44"/>
                </a:solidFill>
                <a:latin typeface="Arial" pitchFamily="34" charset="0"/>
                <a:ea typeface="Arial" pitchFamily="34" charset="-122"/>
                <a:cs typeface="Arial" pitchFamily="34" charset="-120"/>
              </a:rPr>
              <a:t>ARR</a:t>
            </a:r>
            <a:endParaRPr lang="en-US" sz="950" dirty="0"/>
          </a:p>
        </p:txBody>
      </p:sp>
      <p:sp>
        <p:nvSpPr>
          <p:cNvPr id="24" name="Text 22"/>
          <p:cNvSpPr txBox="1"/>
          <p:nvPr/>
        </p:nvSpPr>
        <p:spPr>
          <a:xfrm>
            <a:off x="2377440" y="5367528"/>
            <a:ext cx="1508760" cy="365760"/>
          </a:xfrm>
          <a:prstGeom prst="rect">
            <a:avLst/>
          </a:prstGeom>
          <a:noFill/>
          <a:ln/>
        </p:spPr>
        <p:txBody>
          <a:bodyPr wrap="square" lIns="0" tIns="0" rIns="0" bIns="0" rtlCol="0" anchor="t"/>
          <a:lstStyle/>
          <a:p>
            <a:pPr algn="l" indent="0" marL="0">
              <a:lnSpc>
                <a:spcPct val="100000"/>
              </a:lnSpc>
              <a:buNone/>
            </a:pPr>
            <a:r>
              <a:rPr lang="en-US" sz="950" dirty="0">
                <a:solidFill>
                  <a:srgbClr val="5A6A85"/>
                </a:solidFill>
                <a:latin typeface="Arial" pitchFamily="34" charset="0"/>
                <a:ea typeface="Arial" pitchFamily="34" charset="-122"/>
                <a:cs typeface="Arial" pitchFamily="34" charset="-120"/>
              </a:rPr>
              <a:t>1,40,000 = 1% of 1.4 Cr kiranas</a:t>
            </a:r>
            <a:endParaRPr lang="en-US" sz="950" dirty="0"/>
          </a:p>
        </p:txBody>
      </p:sp>
      <p:sp>
        <p:nvSpPr>
          <p:cNvPr id="25" name="Text 23"/>
          <p:cNvSpPr txBox="1"/>
          <p:nvPr/>
        </p:nvSpPr>
        <p:spPr>
          <a:xfrm>
            <a:off x="4023360" y="4800600"/>
            <a:ext cx="1554480" cy="365760"/>
          </a:xfrm>
          <a:prstGeom prst="rect">
            <a:avLst/>
          </a:prstGeom>
          <a:noFill/>
          <a:ln/>
        </p:spPr>
        <p:txBody>
          <a:bodyPr wrap="square" lIns="0" tIns="0" rIns="0" bIns="0" rtlCol="0" anchor="t"/>
          <a:lstStyle/>
          <a:p>
            <a:pPr algn="l" indent="0" marL="0">
              <a:lnSpc>
                <a:spcPct val="100000"/>
              </a:lnSpc>
              <a:buNone/>
            </a:pPr>
            <a:r>
              <a:rPr lang="en-US" sz="1900" b="1" dirty="0">
                <a:solidFill>
                  <a:srgbClr val="0072BC"/>
                </a:solidFill>
                <a:latin typeface="Arial" pitchFamily="34" charset="0"/>
                <a:ea typeface="Arial" pitchFamily="34" charset="-122"/>
                <a:cs typeface="Arial" pitchFamily="34" charset="-120"/>
              </a:rPr>
              <a:t>66%</a:t>
            </a:r>
            <a:endParaRPr lang="en-US" sz="1900" dirty="0"/>
          </a:p>
        </p:txBody>
      </p:sp>
      <p:sp>
        <p:nvSpPr>
          <p:cNvPr id="26" name="Text 24"/>
          <p:cNvSpPr txBox="1"/>
          <p:nvPr/>
        </p:nvSpPr>
        <p:spPr>
          <a:xfrm>
            <a:off x="4023360" y="5166360"/>
            <a:ext cx="1554480" cy="201168"/>
          </a:xfrm>
          <a:prstGeom prst="rect">
            <a:avLst/>
          </a:prstGeom>
          <a:noFill/>
          <a:ln/>
        </p:spPr>
        <p:txBody>
          <a:bodyPr wrap="square" lIns="0" tIns="0" rIns="0" bIns="0" rtlCol="0" anchor="t"/>
          <a:lstStyle/>
          <a:p>
            <a:pPr algn="l" indent="0" marL="0">
              <a:lnSpc>
                <a:spcPct val="100000"/>
              </a:lnSpc>
              <a:buNone/>
            </a:pPr>
            <a:r>
              <a:rPr lang="en-US" sz="950" b="1" dirty="0">
                <a:solidFill>
                  <a:srgbClr val="0B1F44"/>
                </a:solidFill>
                <a:latin typeface="Arial" pitchFamily="34" charset="0"/>
                <a:ea typeface="Arial" pitchFamily="34" charset="-122"/>
                <a:cs typeface="Arial" pitchFamily="34" charset="-120"/>
              </a:rPr>
              <a:t>margin*</a:t>
            </a:r>
            <a:endParaRPr lang="en-US" sz="950" dirty="0"/>
          </a:p>
        </p:txBody>
      </p:sp>
      <p:sp>
        <p:nvSpPr>
          <p:cNvPr id="27" name="Text 25"/>
          <p:cNvSpPr txBox="1"/>
          <p:nvPr/>
        </p:nvSpPr>
        <p:spPr>
          <a:xfrm>
            <a:off x="4023360" y="5367528"/>
            <a:ext cx="1508760" cy="365760"/>
          </a:xfrm>
          <a:prstGeom prst="rect">
            <a:avLst/>
          </a:prstGeom>
          <a:noFill/>
          <a:ln/>
        </p:spPr>
        <p:txBody>
          <a:bodyPr wrap="square" lIns="0" tIns="0" rIns="0" bIns="0" rtlCol="0" anchor="t"/>
          <a:lstStyle/>
          <a:p>
            <a:pPr algn="l" indent="0" marL="0">
              <a:lnSpc>
                <a:spcPct val="100000"/>
              </a:lnSpc>
              <a:buNone/>
            </a:pPr>
            <a:r>
              <a:rPr lang="en-US" sz="950" dirty="0">
                <a:solidFill>
                  <a:srgbClr val="5A6A85"/>
                </a:solidFill>
                <a:latin typeface="Arial" pitchFamily="34" charset="0"/>
                <a:ea typeface="Arial" pitchFamily="34" charset="-122"/>
                <a:cs typeface="Arial" pitchFamily="34" charset="-120"/>
              </a:rPr>
              <a:t>₹99 contribution / merchant / month</a:t>
            </a:r>
            <a:endParaRPr lang="en-US" sz="950" dirty="0"/>
          </a:p>
        </p:txBody>
      </p:sp>
      <p:sp>
        <p:nvSpPr>
          <p:cNvPr id="28" name="Text 26"/>
          <p:cNvSpPr txBox="1"/>
          <p:nvPr/>
        </p:nvSpPr>
        <p:spPr>
          <a:xfrm>
            <a:off x="731520" y="5806440"/>
            <a:ext cx="1060704" cy="237744"/>
          </a:xfrm>
          <a:prstGeom prst="roundRect">
            <a:avLst>
              <a:gd name="adj" fmla="val 50000"/>
            </a:avLst>
          </a:prstGeom>
          <a:solidFill>
            <a:srgbClr val="FDEFD9"/>
          </a:solidFill>
          <a:ln/>
        </p:spPr>
        <p:txBody>
          <a:bodyPr wrap="square" lIns="0" tIns="0" rIns="0" bIns="0" rtlCol="0" anchor="ctr"/>
          <a:lstStyle/>
          <a:p>
            <a:pPr algn="ctr" indent="0" marL="0">
              <a:lnSpc>
                <a:spcPct val="100000"/>
              </a:lnSpc>
              <a:buNone/>
            </a:pPr>
            <a:r>
              <a:rPr lang="en-US" sz="850" b="1" spc="60" kern="0" dirty="0">
                <a:solidFill>
                  <a:srgbClr val="8A5200"/>
                </a:solidFill>
                <a:latin typeface="Arial" pitchFamily="34" charset="0"/>
                <a:ea typeface="Arial" pitchFamily="34" charset="-122"/>
                <a:cs typeface="Arial" pitchFamily="34" charset="-120"/>
              </a:rPr>
              <a:t>ASSUMPTION</a:t>
            </a:r>
            <a:endParaRPr lang="en-US" sz="850" dirty="0"/>
          </a:p>
        </p:txBody>
      </p:sp>
      <p:sp>
        <p:nvSpPr>
          <p:cNvPr id="29" name="Text 27"/>
          <p:cNvSpPr txBox="1"/>
          <p:nvPr/>
        </p:nvSpPr>
        <p:spPr>
          <a:xfrm>
            <a:off x="1901952" y="5779008"/>
            <a:ext cx="3584448" cy="310896"/>
          </a:xfrm>
          <a:prstGeom prst="rect">
            <a:avLst/>
          </a:prstGeom>
          <a:noFill/>
          <a:ln/>
        </p:spPr>
        <p:txBody>
          <a:bodyPr wrap="square" lIns="0" tIns="0" rIns="0" bIns="0" rtlCol="0" anchor="t"/>
          <a:lstStyle/>
          <a:p>
            <a:pPr algn="l" indent="0" marL="0">
              <a:lnSpc>
                <a:spcPct val="100000"/>
              </a:lnSpc>
              <a:buNone/>
            </a:pPr>
            <a:r>
              <a:rPr lang="en-US" sz="800" dirty="0">
                <a:solidFill>
                  <a:srgbClr val="5A6A85"/>
                </a:solidFill>
                <a:latin typeface="Arial" pitchFamily="34" charset="0"/>
                <a:ea typeface="Arial" pitchFamily="34" charset="-122"/>
                <a:cs typeface="Arial" pitchFamily="34" charset="-120"/>
              </a:rPr>
              <a:t>*Proposed pilot price, not market-researched. Assumes ₹50/month variable cost. A pitch model, not a forecast.</a:t>
            </a:r>
            <a:endParaRPr lang="en-US" sz="800" dirty="0"/>
          </a:p>
        </p:txBody>
      </p:sp>
      <p:sp>
        <p:nvSpPr>
          <p:cNvPr id="30" name="Text 28"/>
          <p:cNvSpPr txBox="1"/>
          <p:nvPr/>
        </p:nvSpPr>
        <p:spPr>
          <a:xfrm>
            <a:off x="6172200" y="1371600"/>
            <a:ext cx="5468112" cy="256032"/>
          </a:xfrm>
          <a:prstGeom prst="rect">
            <a:avLst/>
          </a:prstGeom>
          <a:noFill/>
          <a:ln/>
        </p:spPr>
        <p:txBody>
          <a:bodyPr wrap="square" lIns="0" tIns="0" rIns="0" bIns="0" rtlCol="0" anchor="t"/>
          <a:lstStyle/>
          <a:p>
            <a:pPr algn="l" indent="0" marL="0">
              <a:lnSpc>
                <a:spcPct val="100000"/>
              </a:lnSpc>
              <a:buNone/>
            </a:pPr>
            <a:r>
              <a:rPr lang="en-US" sz="1050" b="1" spc="80" kern="0" dirty="0">
                <a:solidFill>
                  <a:srgbClr val="0072BC"/>
                </a:solidFill>
                <a:latin typeface="Arial" pitchFamily="34" charset="0"/>
                <a:ea typeface="Arial" pitchFamily="34" charset="-122"/>
                <a:cs typeface="Arial" pitchFamily="34" charset="-120"/>
              </a:rPr>
              <a:t>ARCHITECTURE  ·  planned hackathon stack</a:t>
            </a:r>
            <a:endParaRPr lang="en-US" sz="1050" dirty="0"/>
          </a:p>
        </p:txBody>
      </p:sp>
      <p:sp>
        <p:nvSpPr>
          <p:cNvPr id="31" name="Shape 29"/>
          <p:cNvSpPr/>
          <p:nvPr/>
        </p:nvSpPr>
        <p:spPr>
          <a:xfrm>
            <a:off x="6172200" y="1719072"/>
            <a:ext cx="5468112" cy="457200"/>
          </a:xfrm>
          <a:prstGeom prst="roundRect">
            <a:avLst>
              <a:gd name="adj" fmla="val 24000"/>
            </a:avLst>
          </a:prstGeom>
          <a:solidFill>
            <a:srgbClr val="F4F8FC"/>
          </a:solidFill>
          <a:ln/>
        </p:spPr>
      </p:sp>
      <p:sp>
        <p:nvSpPr>
          <p:cNvPr id="32" name="Text 30"/>
          <p:cNvSpPr txBox="1"/>
          <p:nvPr/>
        </p:nvSpPr>
        <p:spPr>
          <a:xfrm>
            <a:off x="6355080" y="1719072"/>
            <a:ext cx="2377440" cy="457200"/>
          </a:xfrm>
          <a:prstGeom prst="rect">
            <a:avLst/>
          </a:prstGeom>
          <a:noFill/>
          <a:ln/>
        </p:spPr>
        <p:txBody>
          <a:bodyPr wrap="square" lIns="0" tIns="0" rIns="0" bIns="0" rtlCol="0" anchor="ctr"/>
          <a:lstStyle/>
          <a:p>
            <a:pPr algn="l" indent="0" marL="0">
              <a:lnSpc>
                <a:spcPct val="100000"/>
              </a:lnSpc>
              <a:buNone/>
            </a:pPr>
            <a:r>
              <a:rPr lang="en-US" sz="1200" b="1" dirty="0">
                <a:solidFill>
                  <a:srgbClr val="0B1F44"/>
                </a:solidFill>
                <a:latin typeface="Arial" pitchFamily="34" charset="0"/>
                <a:ea typeface="Arial" pitchFamily="34" charset="-122"/>
                <a:cs typeface="Arial" pitchFamily="34" charset="-120"/>
              </a:rPr>
              <a:t>Inputs</a:t>
            </a:r>
            <a:endParaRPr lang="en-US" sz="1200" dirty="0"/>
          </a:p>
        </p:txBody>
      </p:sp>
      <p:sp>
        <p:nvSpPr>
          <p:cNvPr id="33" name="Text 31"/>
          <p:cNvSpPr txBox="1"/>
          <p:nvPr/>
        </p:nvSpPr>
        <p:spPr>
          <a:xfrm>
            <a:off x="8686800" y="1719072"/>
            <a:ext cx="2816352" cy="457200"/>
          </a:xfrm>
          <a:prstGeom prst="rect">
            <a:avLst/>
          </a:prstGeom>
          <a:noFill/>
          <a:ln/>
        </p:spPr>
        <p:txBody>
          <a:bodyPr wrap="square" lIns="0" tIns="0" rIns="0" bIns="0" rtlCol="0" anchor="ctr"/>
          <a:lstStyle/>
          <a:p>
            <a:pPr algn="r" indent="0" marL="0">
              <a:lnSpc>
                <a:spcPct val="100000"/>
              </a:lnSpc>
              <a:buNone/>
            </a:pPr>
            <a:r>
              <a:rPr lang="en-US" sz="1000" dirty="0">
                <a:solidFill>
                  <a:srgbClr val="5A6A85"/>
                </a:solidFill>
                <a:latin typeface="Arial" pitchFamily="34" charset="0"/>
                <a:ea typeface="Arial" pitchFamily="34" charset="-122"/>
                <a:cs typeface="Arial" pitchFamily="34" charset="-120"/>
              </a:rPr>
              <a:t>barcode · photo · voice · parchi · online order</a:t>
            </a:r>
            <a:endParaRPr lang="en-US" sz="1000" dirty="0"/>
          </a:p>
        </p:txBody>
      </p:sp>
      <p:sp>
        <p:nvSpPr>
          <p:cNvPr id="34" name="Shape 32"/>
          <p:cNvSpPr/>
          <p:nvPr/>
        </p:nvSpPr>
        <p:spPr>
          <a:xfrm>
            <a:off x="8906256" y="2194560"/>
            <a:ext cx="91" cy="137160"/>
          </a:xfrm>
          <a:prstGeom prst="line">
            <a:avLst/>
          </a:prstGeom>
          <a:noFill/>
          <a:ln w="15875">
            <a:solidFill>
              <a:srgbClr val="5A6A85"/>
            </a:solidFill>
            <a:prstDash val="solid"/>
            <a:tailEnd type="triangle"/>
          </a:ln>
        </p:spPr>
      </p:sp>
      <p:sp>
        <p:nvSpPr>
          <p:cNvPr id="35" name="Shape 33"/>
          <p:cNvSpPr/>
          <p:nvPr/>
        </p:nvSpPr>
        <p:spPr>
          <a:xfrm>
            <a:off x="6172200" y="2359152"/>
            <a:ext cx="5468112" cy="530352"/>
          </a:xfrm>
          <a:prstGeom prst="roundRect">
            <a:avLst>
              <a:gd name="adj" fmla="val 20690"/>
            </a:avLst>
          </a:prstGeom>
          <a:solidFill>
            <a:srgbClr val="0B1F44"/>
          </a:solidFill>
          <a:ln/>
        </p:spPr>
      </p:sp>
      <p:sp>
        <p:nvSpPr>
          <p:cNvPr id="36" name="Text 34"/>
          <p:cNvSpPr txBox="1"/>
          <p:nvPr/>
        </p:nvSpPr>
        <p:spPr>
          <a:xfrm>
            <a:off x="6355080" y="2359152"/>
            <a:ext cx="2377440" cy="530352"/>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Arial" pitchFamily="34" charset="0"/>
                <a:ea typeface="Arial" pitchFamily="34" charset="-122"/>
                <a:cs typeface="Arial" pitchFamily="34" charset="-120"/>
              </a:rPr>
              <a:t>Merchant PWA</a:t>
            </a:r>
            <a:endParaRPr lang="en-US" sz="1200" dirty="0"/>
          </a:p>
        </p:txBody>
      </p:sp>
      <p:sp>
        <p:nvSpPr>
          <p:cNvPr id="37" name="Text 35"/>
          <p:cNvSpPr txBox="1"/>
          <p:nvPr/>
        </p:nvSpPr>
        <p:spPr>
          <a:xfrm>
            <a:off x="8686800" y="2359152"/>
            <a:ext cx="2816352" cy="530352"/>
          </a:xfrm>
          <a:prstGeom prst="rect">
            <a:avLst/>
          </a:prstGeom>
          <a:noFill/>
          <a:ln/>
        </p:spPr>
        <p:txBody>
          <a:bodyPr wrap="square" lIns="0" tIns="0" rIns="0" bIns="0" rtlCol="0" anchor="ctr"/>
          <a:lstStyle/>
          <a:p>
            <a:pPr algn="r" indent="0" marL="0">
              <a:lnSpc>
                <a:spcPct val="100000"/>
              </a:lnSpc>
              <a:buNone/>
            </a:pPr>
            <a:r>
              <a:rPr lang="en-US" sz="1000" dirty="0">
                <a:solidFill>
                  <a:srgbClr val="B8C8E2"/>
                </a:solidFill>
                <a:latin typeface="Arial" pitchFamily="34" charset="0"/>
                <a:ea typeface="Arial" pitchFamily="34" charset="-122"/>
                <a:cs typeface="Arial" pitchFamily="34" charset="-120"/>
              </a:rPr>
              <a:t>Next.js / React PWA · all four modules</a:t>
            </a:r>
            <a:endParaRPr lang="en-US" sz="1000" dirty="0"/>
          </a:p>
        </p:txBody>
      </p:sp>
      <p:sp>
        <p:nvSpPr>
          <p:cNvPr id="38" name="Shape 36"/>
          <p:cNvSpPr/>
          <p:nvPr/>
        </p:nvSpPr>
        <p:spPr>
          <a:xfrm>
            <a:off x="8906256" y="2907792"/>
            <a:ext cx="91" cy="137160"/>
          </a:xfrm>
          <a:prstGeom prst="line">
            <a:avLst/>
          </a:prstGeom>
          <a:noFill/>
          <a:ln w="15875">
            <a:solidFill>
              <a:srgbClr val="5A6A85"/>
            </a:solidFill>
            <a:prstDash val="solid"/>
            <a:tailEnd type="triangle"/>
          </a:ln>
        </p:spPr>
      </p:sp>
      <p:sp>
        <p:nvSpPr>
          <p:cNvPr id="39" name="Shape 37"/>
          <p:cNvSpPr/>
          <p:nvPr/>
        </p:nvSpPr>
        <p:spPr>
          <a:xfrm>
            <a:off x="6172200" y="3072384"/>
            <a:ext cx="5468112" cy="530352"/>
          </a:xfrm>
          <a:prstGeom prst="roundRect">
            <a:avLst>
              <a:gd name="adj" fmla="val 20690"/>
            </a:avLst>
          </a:prstGeom>
          <a:solidFill>
            <a:srgbClr val="132D5E"/>
          </a:solidFill>
          <a:ln/>
        </p:spPr>
      </p:sp>
      <p:sp>
        <p:nvSpPr>
          <p:cNvPr id="40" name="Text 38"/>
          <p:cNvSpPr txBox="1"/>
          <p:nvPr/>
        </p:nvSpPr>
        <p:spPr>
          <a:xfrm>
            <a:off x="6355080" y="3072384"/>
            <a:ext cx="2377440" cy="530352"/>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Arial" pitchFamily="34" charset="0"/>
                <a:ea typeface="Arial" pitchFamily="34" charset="-122"/>
                <a:cs typeface="Arial" pitchFamily="34" charset="-120"/>
              </a:rPr>
              <a:t>API + orchestration</a:t>
            </a:r>
            <a:endParaRPr lang="en-US" sz="1200" dirty="0"/>
          </a:p>
        </p:txBody>
      </p:sp>
      <p:sp>
        <p:nvSpPr>
          <p:cNvPr id="41" name="Text 39"/>
          <p:cNvSpPr txBox="1"/>
          <p:nvPr/>
        </p:nvSpPr>
        <p:spPr>
          <a:xfrm>
            <a:off x="8686800" y="3072384"/>
            <a:ext cx="2816352" cy="530352"/>
          </a:xfrm>
          <a:prstGeom prst="rect">
            <a:avLst/>
          </a:prstGeom>
          <a:noFill/>
          <a:ln/>
        </p:spPr>
        <p:txBody>
          <a:bodyPr wrap="square" lIns="0" tIns="0" rIns="0" bIns="0" rtlCol="0" anchor="ctr"/>
          <a:lstStyle/>
          <a:p>
            <a:pPr algn="r" indent="0" marL="0">
              <a:lnSpc>
                <a:spcPct val="100000"/>
              </a:lnSpc>
              <a:buNone/>
            </a:pPr>
            <a:r>
              <a:rPr lang="en-US" sz="1000" dirty="0">
                <a:solidFill>
                  <a:srgbClr val="B8C8E2"/>
                </a:solidFill>
                <a:latin typeface="Arial" pitchFamily="34" charset="0"/>
                <a:ea typeface="Arial" pitchFamily="34" charset="-122"/>
                <a:cs typeface="Arial" pitchFamily="34" charset="-120"/>
              </a:rPr>
              <a:t>Node.js / TypeScript · business rules · tool calls</a:t>
            </a:r>
            <a:endParaRPr lang="en-US" sz="1000" dirty="0"/>
          </a:p>
        </p:txBody>
      </p:sp>
      <p:sp>
        <p:nvSpPr>
          <p:cNvPr id="42" name="Shape 40"/>
          <p:cNvSpPr/>
          <p:nvPr/>
        </p:nvSpPr>
        <p:spPr>
          <a:xfrm>
            <a:off x="7046976" y="3611880"/>
            <a:ext cx="91" cy="128016"/>
          </a:xfrm>
          <a:prstGeom prst="line">
            <a:avLst/>
          </a:prstGeom>
          <a:noFill/>
          <a:ln w="15875">
            <a:solidFill>
              <a:srgbClr val="5A6A85"/>
            </a:solidFill>
            <a:prstDash val="solid"/>
          </a:ln>
        </p:spPr>
      </p:sp>
      <p:sp>
        <p:nvSpPr>
          <p:cNvPr id="43" name="Shape 41"/>
          <p:cNvSpPr/>
          <p:nvPr/>
        </p:nvSpPr>
        <p:spPr>
          <a:xfrm>
            <a:off x="6172200" y="3749040"/>
            <a:ext cx="1749552" cy="1051560"/>
          </a:xfrm>
          <a:prstGeom prst="roundRect">
            <a:avLst>
              <a:gd name="adj" fmla="val 10435"/>
            </a:avLst>
          </a:prstGeom>
          <a:solidFill>
            <a:srgbClr val="EAF6FC"/>
          </a:solidFill>
          <a:ln/>
        </p:spPr>
      </p:sp>
      <p:pic>
        <p:nvPicPr>
          <p:cNvPr id="44" name="Image 0" descr="/private/tmp/claude-501/-Users-jaypandey-Library-Application-Support-Claude-scratch-workspaces-e205fcbe-ff17-47a0-b0da-08b9c2cd8dd1-9a575c31-2854-4c86-a69f-21eba1183528-scratch-2026-09-25-918942/ab509d62-e048-41fc-927b-5525291df5de/scratchpad/img/icons/LuAudioLines_0072BC.png">    </p:cNvPr>
          <p:cNvPicPr>
            <a:picLocks noChangeAspect="1"/>
          </p:cNvPicPr>
          <p:nvPr/>
        </p:nvPicPr>
        <p:blipFill>
          <a:blip r:embed="rId1"/>
          <a:stretch>
            <a:fillRect/>
          </a:stretch>
        </p:blipFill>
        <p:spPr>
          <a:xfrm>
            <a:off x="6309360" y="3877056"/>
            <a:ext cx="237744" cy="237744"/>
          </a:xfrm>
          <a:prstGeom prst="rect">
            <a:avLst/>
          </a:prstGeom>
        </p:spPr>
      </p:pic>
      <p:sp>
        <p:nvSpPr>
          <p:cNvPr id="45" name="Text 42"/>
          <p:cNvSpPr txBox="1"/>
          <p:nvPr/>
        </p:nvSpPr>
        <p:spPr>
          <a:xfrm>
            <a:off x="6611112" y="3858768"/>
            <a:ext cx="1246632" cy="274320"/>
          </a:xfrm>
          <a:prstGeom prst="rect">
            <a:avLst/>
          </a:prstGeom>
          <a:noFill/>
          <a:ln/>
        </p:spPr>
        <p:txBody>
          <a:bodyPr wrap="square" lIns="0" tIns="0" rIns="0" bIns="0" rtlCol="0" anchor="ctr"/>
          <a:lstStyle/>
          <a:p>
            <a:pPr algn="l" indent="0" marL="0">
              <a:lnSpc>
                <a:spcPct val="100000"/>
              </a:lnSpc>
              <a:buNone/>
            </a:pPr>
            <a:r>
              <a:rPr lang="en-US" sz="1050" b="1" dirty="0">
                <a:solidFill>
                  <a:srgbClr val="0B1F44"/>
                </a:solidFill>
                <a:latin typeface="Arial" pitchFamily="34" charset="0"/>
                <a:ea typeface="Arial" pitchFamily="34" charset="-122"/>
                <a:cs typeface="Arial" pitchFamily="34" charset="-120"/>
              </a:rPr>
              <a:t>Voice + documents</a:t>
            </a:r>
            <a:endParaRPr lang="en-US" sz="1050" dirty="0"/>
          </a:p>
        </p:txBody>
      </p:sp>
      <p:sp>
        <p:nvSpPr>
          <p:cNvPr id="46" name="Text 43"/>
          <p:cNvSpPr txBox="1"/>
          <p:nvPr/>
        </p:nvSpPr>
        <p:spPr>
          <a:xfrm>
            <a:off x="6309360" y="4206240"/>
            <a:ext cx="1493520" cy="548640"/>
          </a:xfrm>
          <a:prstGeom prst="rect">
            <a:avLst/>
          </a:prstGeom>
          <a:noFill/>
          <a:ln/>
        </p:spPr>
        <p:txBody>
          <a:bodyPr wrap="square" lIns="0" tIns="0" rIns="0" bIns="0" rtlCol="0" anchor="t"/>
          <a:lstStyle/>
          <a:p>
            <a:pPr algn="l" indent="0" marL="0">
              <a:lnSpc>
                <a:spcPct val="102000"/>
              </a:lnSpc>
              <a:buNone/>
            </a:pPr>
            <a:r>
              <a:rPr lang="en-US" sz="950" dirty="0">
                <a:solidFill>
                  <a:srgbClr val="5A6A85"/>
                </a:solidFill>
                <a:latin typeface="Arial" pitchFamily="34" charset="0"/>
                <a:ea typeface="Arial" pitchFamily="34" charset="-122"/>
                <a:cs typeface="Arial" pitchFamily="34" charset="-120"/>
              </a:rPr>
              <a:t>Sarvam STT / TTS, Document AI (parchi OCR)</a:t>
            </a:r>
            <a:endParaRPr lang="en-US" sz="950" dirty="0"/>
          </a:p>
        </p:txBody>
      </p:sp>
      <p:sp>
        <p:nvSpPr>
          <p:cNvPr id="47" name="Shape 44"/>
          <p:cNvSpPr/>
          <p:nvPr/>
        </p:nvSpPr>
        <p:spPr>
          <a:xfrm>
            <a:off x="8906256" y="3611880"/>
            <a:ext cx="91" cy="128016"/>
          </a:xfrm>
          <a:prstGeom prst="line">
            <a:avLst/>
          </a:prstGeom>
          <a:noFill/>
          <a:ln w="15875">
            <a:solidFill>
              <a:srgbClr val="5A6A85"/>
            </a:solidFill>
            <a:prstDash val="solid"/>
          </a:ln>
        </p:spPr>
      </p:sp>
      <p:sp>
        <p:nvSpPr>
          <p:cNvPr id="48" name="Shape 45"/>
          <p:cNvSpPr/>
          <p:nvPr/>
        </p:nvSpPr>
        <p:spPr>
          <a:xfrm>
            <a:off x="8031480" y="3749040"/>
            <a:ext cx="1749552" cy="1051560"/>
          </a:xfrm>
          <a:prstGeom prst="roundRect">
            <a:avLst>
              <a:gd name="adj" fmla="val 10435"/>
            </a:avLst>
          </a:prstGeom>
          <a:solidFill>
            <a:srgbClr val="EAF6FC"/>
          </a:solidFill>
          <a:ln/>
        </p:spPr>
      </p:sp>
      <p:pic>
        <p:nvPicPr>
          <p:cNvPr id="49" name="Image 1" descr="/private/tmp/claude-501/-Users-jaypandey-Library-Application-Support-Claude-scratch-workspaces-e205fcbe-ff17-47a0-b0da-08b9c2cd8dd1-9a575c31-2854-4c86-a69f-21eba1183528-scratch-2026-09-25-918942/ab509d62-e048-41fc-927b-5525291df5de/scratchpad/img/icons/LuBrainCircuit_0072BC.png">    </p:cNvPr>
          <p:cNvPicPr>
            <a:picLocks noChangeAspect="1"/>
          </p:cNvPicPr>
          <p:nvPr/>
        </p:nvPicPr>
        <p:blipFill>
          <a:blip r:embed="rId2"/>
          <a:stretch>
            <a:fillRect/>
          </a:stretch>
        </p:blipFill>
        <p:spPr>
          <a:xfrm>
            <a:off x="8168640" y="3877056"/>
            <a:ext cx="237744" cy="237744"/>
          </a:xfrm>
          <a:prstGeom prst="rect">
            <a:avLst/>
          </a:prstGeom>
        </p:spPr>
      </p:pic>
      <p:sp>
        <p:nvSpPr>
          <p:cNvPr id="50" name="Text 46"/>
          <p:cNvSpPr txBox="1"/>
          <p:nvPr/>
        </p:nvSpPr>
        <p:spPr>
          <a:xfrm>
            <a:off x="8470392" y="3858768"/>
            <a:ext cx="1246632" cy="274320"/>
          </a:xfrm>
          <a:prstGeom prst="rect">
            <a:avLst/>
          </a:prstGeom>
          <a:noFill/>
          <a:ln/>
        </p:spPr>
        <p:txBody>
          <a:bodyPr wrap="square" lIns="0" tIns="0" rIns="0" bIns="0" rtlCol="0" anchor="ctr"/>
          <a:lstStyle/>
          <a:p>
            <a:pPr algn="l" indent="0" marL="0">
              <a:lnSpc>
                <a:spcPct val="100000"/>
              </a:lnSpc>
              <a:buNone/>
            </a:pPr>
            <a:r>
              <a:rPr lang="en-US" sz="1050" b="1" dirty="0">
                <a:solidFill>
                  <a:srgbClr val="0B1F44"/>
                </a:solidFill>
                <a:latin typeface="Arial" pitchFamily="34" charset="0"/>
                <a:ea typeface="Arial" pitchFamily="34" charset="-122"/>
                <a:cs typeface="Arial" pitchFamily="34" charset="-120"/>
              </a:rPr>
              <a:t>Reasoning</a:t>
            </a:r>
            <a:endParaRPr lang="en-US" sz="1050" dirty="0"/>
          </a:p>
        </p:txBody>
      </p:sp>
      <p:sp>
        <p:nvSpPr>
          <p:cNvPr id="51" name="Text 47"/>
          <p:cNvSpPr txBox="1"/>
          <p:nvPr/>
        </p:nvSpPr>
        <p:spPr>
          <a:xfrm>
            <a:off x="8168640" y="4206240"/>
            <a:ext cx="1493520" cy="548640"/>
          </a:xfrm>
          <a:prstGeom prst="rect">
            <a:avLst/>
          </a:prstGeom>
          <a:noFill/>
          <a:ln/>
        </p:spPr>
        <p:txBody>
          <a:bodyPr wrap="square" lIns="0" tIns="0" rIns="0" bIns="0" rtlCol="0" anchor="t"/>
          <a:lstStyle/>
          <a:p>
            <a:pPr algn="l" indent="0" marL="0">
              <a:lnSpc>
                <a:spcPct val="102000"/>
              </a:lnSpc>
              <a:buNone/>
            </a:pPr>
            <a:r>
              <a:rPr lang="en-US" sz="950" dirty="0">
                <a:solidFill>
                  <a:srgbClr val="5A6A85"/>
                </a:solidFill>
                <a:latin typeface="Arial" pitchFamily="34" charset="0"/>
                <a:ea typeface="Arial" pitchFamily="34" charset="-122"/>
                <a:cs typeface="Arial" pitchFamily="34" charset="-120"/>
              </a:rPr>
              <a:t>LLM with structured tools, grounded on shop data</a:t>
            </a:r>
            <a:endParaRPr lang="en-US" sz="950" dirty="0"/>
          </a:p>
        </p:txBody>
      </p:sp>
      <p:sp>
        <p:nvSpPr>
          <p:cNvPr id="52" name="Shape 48"/>
          <p:cNvSpPr/>
          <p:nvPr/>
        </p:nvSpPr>
        <p:spPr>
          <a:xfrm>
            <a:off x="10765536" y="3611880"/>
            <a:ext cx="91" cy="128016"/>
          </a:xfrm>
          <a:prstGeom prst="line">
            <a:avLst/>
          </a:prstGeom>
          <a:noFill/>
          <a:ln w="15875">
            <a:solidFill>
              <a:srgbClr val="5A6A85"/>
            </a:solidFill>
            <a:prstDash val="solid"/>
          </a:ln>
        </p:spPr>
      </p:sp>
      <p:sp>
        <p:nvSpPr>
          <p:cNvPr id="53" name="Shape 49"/>
          <p:cNvSpPr/>
          <p:nvPr/>
        </p:nvSpPr>
        <p:spPr>
          <a:xfrm>
            <a:off x="9890760" y="3749040"/>
            <a:ext cx="1749552" cy="1051560"/>
          </a:xfrm>
          <a:prstGeom prst="roundRect">
            <a:avLst>
              <a:gd name="adj" fmla="val 10435"/>
            </a:avLst>
          </a:prstGeom>
          <a:solidFill>
            <a:srgbClr val="0072BC"/>
          </a:solidFill>
          <a:ln/>
        </p:spPr>
      </p:sp>
      <p:pic>
        <p:nvPicPr>
          <p:cNvPr id="54" name="Image 2" descr="/private/tmp/claude-501/-Users-jaypandey-Library-Application-Support-Claude-scratch-workspaces-e205fcbe-ff17-47a0-b0da-08b9c2cd8dd1-9a575c31-2854-4c86-a69f-21eba1183528-scratch-2026-09-25-918942/ab509d62-e048-41fc-927b-5525291df5de/scratchpad/img/icons/LuShieldCheck_FFFFFF.png">    </p:cNvPr>
          <p:cNvPicPr>
            <a:picLocks noChangeAspect="1"/>
          </p:cNvPicPr>
          <p:nvPr/>
        </p:nvPicPr>
        <p:blipFill>
          <a:blip r:embed="rId3"/>
          <a:stretch>
            <a:fillRect/>
          </a:stretch>
        </p:blipFill>
        <p:spPr>
          <a:xfrm>
            <a:off x="10027920" y="3877056"/>
            <a:ext cx="237744" cy="237744"/>
          </a:xfrm>
          <a:prstGeom prst="rect">
            <a:avLst/>
          </a:prstGeom>
        </p:spPr>
      </p:pic>
      <p:sp>
        <p:nvSpPr>
          <p:cNvPr id="55" name="Text 50"/>
          <p:cNvSpPr txBox="1"/>
          <p:nvPr/>
        </p:nvSpPr>
        <p:spPr>
          <a:xfrm>
            <a:off x="10329672" y="3858768"/>
            <a:ext cx="1246632" cy="274320"/>
          </a:xfrm>
          <a:prstGeom prst="rect">
            <a:avLst/>
          </a:prstGeom>
          <a:noFill/>
          <a:ln/>
        </p:spPr>
        <p:txBody>
          <a:bodyPr wrap="square" lIns="0" tIns="0" rIns="0" bIns="0" rtlCol="0" anchor="ctr"/>
          <a:lstStyle/>
          <a:p>
            <a:pPr algn="l" indent="0" marL="0">
              <a:lnSpc>
                <a:spcPct val="100000"/>
              </a:lnSpc>
              <a:buNone/>
            </a:pPr>
            <a:r>
              <a:rPr lang="en-US" sz="1050" b="1" dirty="0">
                <a:solidFill>
                  <a:srgbClr val="FFFFFF"/>
                </a:solidFill>
                <a:latin typeface="Arial" pitchFamily="34" charset="0"/>
                <a:ea typeface="Arial" pitchFamily="34" charset="-122"/>
                <a:cs typeface="Arial" pitchFamily="34" charset="-120"/>
              </a:rPr>
              <a:t>Paytm PG (staging)</a:t>
            </a:r>
            <a:endParaRPr lang="en-US" sz="1050" dirty="0"/>
          </a:p>
        </p:txBody>
      </p:sp>
      <p:sp>
        <p:nvSpPr>
          <p:cNvPr id="56" name="Text 51"/>
          <p:cNvSpPr txBox="1"/>
          <p:nvPr/>
        </p:nvSpPr>
        <p:spPr>
          <a:xfrm>
            <a:off x="10027920" y="4206240"/>
            <a:ext cx="1493520" cy="548640"/>
          </a:xfrm>
          <a:prstGeom prst="rect">
            <a:avLst/>
          </a:prstGeom>
          <a:noFill/>
          <a:ln/>
        </p:spPr>
        <p:txBody>
          <a:bodyPr wrap="square" lIns="0" tIns="0" rIns="0" bIns="0" rtlCol="0" anchor="t"/>
          <a:lstStyle/>
          <a:p>
            <a:pPr algn="l" indent="0" marL="0">
              <a:lnSpc>
                <a:spcPct val="102000"/>
              </a:lnSpc>
              <a:buNone/>
            </a:pPr>
            <a:r>
              <a:rPr lang="en-US" sz="950" dirty="0">
                <a:solidFill>
                  <a:srgbClr val="DCEFFA"/>
                </a:solidFill>
                <a:latin typeface="Arial" pitchFamily="34" charset="0"/>
                <a:ea typeface="Arial" pitchFamily="34" charset="-122"/>
                <a:cs typeface="Arial" pitchFamily="34" charset="-120"/>
              </a:rPr>
              <a:t>Checkout · transaction status · callback / webhook</a:t>
            </a:r>
            <a:endParaRPr lang="en-US" sz="950" dirty="0"/>
          </a:p>
        </p:txBody>
      </p:sp>
      <p:sp>
        <p:nvSpPr>
          <p:cNvPr id="57" name="Shape 52"/>
          <p:cNvSpPr/>
          <p:nvPr/>
        </p:nvSpPr>
        <p:spPr>
          <a:xfrm>
            <a:off x="6172200" y="4937760"/>
            <a:ext cx="5468112" cy="502920"/>
          </a:xfrm>
          <a:prstGeom prst="roundRect">
            <a:avLst>
              <a:gd name="adj" fmla="val 21818"/>
            </a:avLst>
          </a:prstGeom>
          <a:solidFill>
            <a:srgbClr val="F4F8FC"/>
          </a:solidFill>
          <a:ln/>
        </p:spPr>
      </p:sp>
      <p:sp>
        <p:nvSpPr>
          <p:cNvPr id="58" name="Text 53"/>
          <p:cNvSpPr txBox="1"/>
          <p:nvPr/>
        </p:nvSpPr>
        <p:spPr>
          <a:xfrm>
            <a:off x="6355080" y="4937760"/>
            <a:ext cx="2377440" cy="502920"/>
          </a:xfrm>
          <a:prstGeom prst="rect">
            <a:avLst/>
          </a:prstGeom>
          <a:noFill/>
          <a:ln/>
        </p:spPr>
        <p:txBody>
          <a:bodyPr wrap="square" lIns="0" tIns="0" rIns="0" bIns="0" rtlCol="0" anchor="ctr"/>
          <a:lstStyle/>
          <a:p>
            <a:pPr algn="l" indent="0" marL="0">
              <a:lnSpc>
                <a:spcPct val="100000"/>
              </a:lnSpc>
              <a:buNone/>
            </a:pPr>
            <a:r>
              <a:rPr lang="en-US" sz="1200" b="1" dirty="0">
                <a:solidFill>
                  <a:srgbClr val="0B1F44"/>
                </a:solidFill>
                <a:latin typeface="Arial" pitchFamily="34" charset="0"/>
                <a:ea typeface="Arial" pitchFamily="34" charset="-122"/>
                <a:cs typeface="Arial" pitchFamily="34" charset="-120"/>
              </a:rPr>
              <a:t>Data + automation</a:t>
            </a:r>
            <a:endParaRPr lang="en-US" sz="1200" dirty="0"/>
          </a:p>
        </p:txBody>
      </p:sp>
      <p:sp>
        <p:nvSpPr>
          <p:cNvPr id="59" name="Text 54"/>
          <p:cNvSpPr txBox="1"/>
          <p:nvPr/>
        </p:nvSpPr>
        <p:spPr>
          <a:xfrm>
            <a:off x="8686800" y="4937760"/>
            <a:ext cx="2816352" cy="502920"/>
          </a:xfrm>
          <a:prstGeom prst="rect">
            <a:avLst/>
          </a:prstGeom>
          <a:noFill/>
          <a:ln/>
        </p:spPr>
        <p:txBody>
          <a:bodyPr wrap="square" lIns="0" tIns="0" rIns="0" bIns="0" rtlCol="0" anchor="ctr"/>
          <a:lstStyle/>
          <a:p>
            <a:pPr algn="r" indent="0" marL="0">
              <a:lnSpc>
                <a:spcPct val="100000"/>
              </a:lnSpc>
              <a:buNone/>
            </a:pPr>
            <a:r>
              <a:rPr lang="en-US" sz="1000" dirty="0">
                <a:solidFill>
                  <a:srgbClr val="5A6A85"/>
                </a:solidFill>
                <a:latin typeface="Arial" pitchFamily="34" charset="0"/>
                <a:ea typeface="Arial" pitchFamily="34" charset="-122"/>
                <a:cs typeface="Arial" pitchFamily="34" charset="-120"/>
              </a:rPr>
              <a:t>PostgreSQL / Supabase · n8n workflows</a:t>
            </a:r>
            <a:endParaRPr lang="en-US" sz="1000" dirty="0"/>
          </a:p>
        </p:txBody>
      </p:sp>
      <p:sp>
        <p:nvSpPr>
          <p:cNvPr id="60" name="Shape 55"/>
          <p:cNvSpPr/>
          <p:nvPr/>
        </p:nvSpPr>
        <p:spPr>
          <a:xfrm>
            <a:off x="6172200" y="5577840"/>
            <a:ext cx="5468112" cy="621792"/>
          </a:xfrm>
          <a:prstGeom prst="roundRect">
            <a:avLst>
              <a:gd name="adj" fmla="val 17647"/>
            </a:avLst>
          </a:prstGeom>
          <a:solidFill>
            <a:srgbClr val="E3F4EC"/>
          </a:solidFill>
          <a:ln/>
        </p:spPr>
      </p:sp>
      <p:pic>
        <p:nvPicPr>
          <p:cNvPr id="61" name="Image 3" descr="/private/tmp/claude-501/-Users-jaypandey-Library-Application-Support-Claude-scratch-workspaces-e205fcbe-ff17-47a0-b0da-08b9c2cd8dd1-9a575c31-2854-4c86-a69f-21eba1183528-scratch-2026-09-25-918942/ab509d62-e048-41fc-927b-5525291df5de/scratchpad/img/icons/LuLockKeyhole_17704A.png">    </p:cNvPr>
          <p:cNvPicPr>
            <a:picLocks noChangeAspect="1"/>
          </p:cNvPicPr>
          <p:nvPr/>
        </p:nvPicPr>
        <p:blipFill>
          <a:blip r:embed="rId4"/>
          <a:stretch>
            <a:fillRect/>
          </a:stretch>
        </p:blipFill>
        <p:spPr>
          <a:xfrm>
            <a:off x="6355080" y="5742432"/>
            <a:ext cx="292608" cy="292608"/>
          </a:xfrm>
          <a:prstGeom prst="rect">
            <a:avLst/>
          </a:prstGeom>
        </p:spPr>
      </p:pic>
      <p:sp>
        <p:nvSpPr>
          <p:cNvPr id="62" name="Text 56"/>
          <p:cNvSpPr txBox="1"/>
          <p:nvPr/>
        </p:nvSpPr>
        <p:spPr>
          <a:xfrm>
            <a:off x="6766560" y="5577840"/>
            <a:ext cx="4736592" cy="621792"/>
          </a:xfrm>
          <a:prstGeom prst="rect">
            <a:avLst/>
          </a:prstGeom>
          <a:noFill/>
          <a:ln/>
        </p:spPr>
        <p:txBody>
          <a:bodyPr wrap="square" lIns="0" tIns="0" rIns="0" bIns="0" rtlCol="0" anchor="ctr"/>
          <a:lstStyle/>
          <a:p>
            <a:pPr algn="l" indent="0" marL="0">
              <a:lnSpc>
                <a:spcPct val="102000"/>
              </a:lnSpc>
              <a:buNone/>
            </a:pPr>
            <a:r>
              <a:rPr lang="en-US" sz="1050" b="1" dirty="0">
                <a:solidFill>
                  <a:srgbClr val="12593A"/>
                </a:solidFill>
                <a:latin typeface="Arial" pitchFamily="34" charset="0"/>
                <a:ea typeface="Arial" pitchFamily="34" charset="-122"/>
                <a:cs typeface="Arial" pitchFamily="34" charset="-120"/>
              </a:rPr>
              <a:t>AI assists; verified payment systems decide. </a:t>
            </a:r>
            <a:pPr algn="l" indent="0" marL="0">
              <a:lnSpc>
                <a:spcPct val="102000"/>
              </a:lnSpc>
              <a:buNone/>
            </a:pPr>
            <a:r>
              <a:rPr lang="en-US" sz="1050" dirty="0">
                <a:solidFill>
                  <a:srgbClr val="12593A"/>
                </a:solidFill>
                <a:latin typeface="Arial" pitchFamily="34" charset="0"/>
                <a:ea typeface="Arial" pitchFamily="34" charset="-122"/>
                <a:cs typeface="Arial" pitchFamily="34" charset="-120"/>
              </a:rPr>
              <a:t>An order is marked paid only after a verified server-side event, never a browser message.</a:t>
            </a:r>
            <a:endParaRPr lang="en-US" sz="1050" dirty="0"/>
          </a:p>
        </p:txBody>
      </p:sp>
      <p:sp>
        <p:nvSpPr>
          <p:cNvPr id="63" name="Text 57"/>
          <p:cNvSpPr txBox="1"/>
          <p:nvPr/>
        </p:nvSpPr>
        <p:spPr>
          <a:xfrm>
            <a:off x="548640" y="6419088"/>
            <a:ext cx="4572000" cy="228600"/>
          </a:xfrm>
          <a:prstGeom prst="rect">
            <a:avLst/>
          </a:prstGeom>
          <a:noFill/>
          <a:ln/>
        </p:spPr>
        <p:txBody>
          <a:bodyPr wrap="square" lIns="0" tIns="0" rIns="0" bIns="0" rtlCol="0" anchor="t"/>
          <a:lstStyle/>
          <a:p>
            <a:pPr algn="l" indent="0" marL="0">
              <a:lnSpc>
                <a:spcPct val="100000"/>
              </a:lnSpc>
              <a:buNone/>
            </a:pPr>
            <a:r>
              <a:rPr lang="en-US" sz="900" b="1" dirty="0">
                <a:solidFill>
                  <a:srgbClr val="8A99B3"/>
                </a:solidFill>
                <a:latin typeface="Arial" pitchFamily="34" charset="0"/>
                <a:ea typeface="Arial" pitchFamily="34" charset="-122"/>
                <a:cs typeface="Arial" pitchFamily="34" charset="-120"/>
              </a:rPr>
              <a:t>Kirana Shop AI</a:t>
            </a:r>
            <a:endParaRPr lang="en-US" sz="900" dirty="0"/>
          </a:p>
        </p:txBody>
      </p:sp>
      <p:sp>
        <p:nvSpPr>
          <p:cNvPr id="64" name="Text 58"/>
          <p:cNvSpPr txBox="1"/>
          <p:nvPr/>
        </p:nvSpPr>
        <p:spPr>
          <a:xfrm>
            <a:off x="9354312" y="6419088"/>
            <a:ext cx="2286000" cy="228600"/>
          </a:xfrm>
          <a:prstGeom prst="rect">
            <a:avLst/>
          </a:prstGeom>
          <a:noFill/>
          <a:ln/>
        </p:spPr>
        <p:txBody>
          <a:bodyPr wrap="square" lIns="0" tIns="0" rIns="0" bIns="0" rtlCol="0" anchor="t"/>
          <a:lstStyle/>
          <a:p>
            <a:pPr algn="r" indent="0" marL="0">
              <a:lnSpc>
                <a:spcPct val="100000"/>
              </a:lnSpc>
              <a:buNone/>
            </a:pPr>
            <a:r>
              <a:rPr lang="en-US" sz="900" dirty="0">
                <a:solidFill>
                  <a:srgbClr val="8A99B3"/>
                </a:solidFill>
                <a:latin typeface="Arial" pitchFamily="34" charset="0"/>
                <a:ea typeface="Arial" pitchFamily="34" charset="-122"/>
                <a:cs typeface="Arial" pitchFamily="34" charset="-120"/>
              </a:rPr>
              <a:t>09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44"/>
        </a:solidFill>
      </p:bgPr>
    </p:bg>
    <p:spTree>
      <p:nvGrpSpPr>
        <p:cNvPr id="1" name=""/>
        <p:cNvGrpSpPr/>
        <p:nvPr/>
      </p:nvGrpSpPr>
      <p:grpSpPr>
        <a:xfrm>
          <a:off x="0" y="0"/>
          <a:ext cx="0" cy="0"/>
          <a:chOff x="0" y="0"/>
          <a:chExt cx="0" cy="0"/>
        </a:xfrm>
      </p:grpSpPr>
      <p:sp>
        <p:nvSpPr>
          <p:cNvPr id="2" name="Text 0"/>
          <p:cNvSpPr txBox="1"/>
          <p:nvPr/>
        </p:nvSpPr>
        <p:spPr>
          <a:xfrm>
            <a:off x="548640" y="384048"/>
            <a:ext cx="10972800" cy="274320"/>
          </a:xfrm>
          <a:prstGeom prst="rect">
            <a:avLst/>
          </a:prstGeom>
          <a:noFill/>
          <a:ln/>
        </p:spPr>
        <p:txBody>
          <a:bodyPr wrap="square" lIns="0" tIns="0" rIns="0" bIns="0" rtlCol="0" anchor="t"/>
          <a:lstStyle/>
          <a:p>
            <a:pPr algn="l" indent="0" marL="0">
              <a:lnSpc>
                <a:spcPct val="100000"/>
              </a:lnSpc>
              <a:buNone/>
            </a:pPr>
            <a:r>
              <a:rPr lang="en-US" sz="1100" b="1" spc="150" kern="0" dirty="0">
                <a:solidFill>
                  <a:srgbClr val="8FD6F5"/>
                </a:solidFill>
                <a:latin typeface="Arial" pitchFamily="34" charset="0"/>
                <a:ea typeface="Arial" pitchFamily="34" charset="-122"/>
                <a:cs typeface="Arial" pitchFamily="34" charset="-120"/>
              </a:rPr>
              <a:t>PILOT, IMPACT METRICS AND WHAT’S NEXT</a:t>
            </a:r>
            <a:endParaRPr lang="en-US" sz="1100" dirty="0"/>
          </a:p>
        </p:txBody>
      </p:sp>
      <p:sp>
        <p:nvSpPr>
          <p:cNvPr id="3" name="Text 1"/>
          <p:cNvSpPr txBox="1"/>
          <p:nvPr/>
        </p:nvSpPr>
        <p:spPr>
          <a:xfrm>
            <a:off x="548640" y="676656"/>
            <a:ext cx="11064240" cy="566928"/>
          </a:xfrm>
          <a:prstGeom prst="rect">
            <a:avLst/>
          </a:prstGeom>
          <a:noFill/>
          <a:ln/>
        </p:spPr>
        <p:txBody>
          <a:bodyPr wrap="square" lIns="0" tIns="0" rIns="0" bIns="0" rtlCol="0" anchor="t"/>
          <a:lstStyle/>
          <a:p>
            <a:pPr algn="l" indent="0" marL="0">
              <a:lnSpc>
                <a:spcPct val="100000"/>
              </a:lnSpc>
              <a:buNone/>
            </a:pPr>
            <a:r>
              <a:rPr lang="en-US" sz="3000" b="1" dirty="0">
                <a:solidFill>
                  <a:srgbClr val="FFFFFF"/>
                </a:solidFill>
                <a:latin typeface="Arial" pitchFamily="34" charset="0"/>
                <a:ea typeface="Arial" pitchFamily="34" charset="-122"/>
                <a:cs typeface="Arial" pitchFamily="34" charset="-120"/>
              </a:rPr>
              <a:t>Prove it in a few dozen shops, then scale.</a:t>
            </a:r>
            <a:endParaRPr lang="en-US" sz="3000" dirty="0"/>
          </a:p>
        </p:txBody>
      </p:sp>
      <p:sp>
        <p:nvSpPr>
          <p:cNvPr id="4" name="Shape 2"/>
          <p:cNvSpPr/>
          <p:nvPr/>
        </p:nvSpPr>
        <p:spPr>
          <a:xfrm>
            <a:off x="685800" y="1627632"/>
            <a:ext cx="10835640" cy="91"/>
          </a:xfrm>
          <a:prstGeom prst="line">
            <a:avLst/>
          </a:prstGeom>
          <a:noFill/>
          <a:ln w="25400">
            <a:solidFill>
              <a:srgbClr val="2E4C80"/>
            </a:solidFill>
            <a:prstDash val="solid"/>
          </a:ln>
        </p:spPr>
      </p:sp>
      <p:sp>
        <p:nvSpPr>
          <p:cNvPr id="5" name="Shape 3"/>
          <p:cNvSpPr/>
          <p:nvPr/>
        </p:nvSpPr>
        <p:spPr>
          <a:xfrm>
            <a:off x="548640" y="1490472"/>
            <a:ext cx="274320" cy="274320"/>
          </a:xfrm>
          <a:prstGeom prst="ellipse">
            <a:avLst/>
          </a:prstGeom>
          <a:solidFill>
            <a:srgbClr val="0B1F44"/>
          </a:solidFill>
          <a:ln w="25400">
            <a:solidFill>
              <a:srgbClr val="00A7E1"/>
            </a:solidFill>
            <a:prstDash val="solid"/>
          </a:ln>
        </p:spPr>
      </p:sp>
      <p:sp>
        <p:nvSpPr>
          <p:cNvPr id="6" name="Text 4"/>
          <p:cNvSpPr txBox="1"/>
          <p:nvPr/>
        </p:nvSpPr>
        <p:spPr>
          <a:xfrm>
            <a:off x="877824" y="1481328"/>
            <a:ext cx="484632" cy="292608"/>
          </a:xfrm>
          <a:prstGeom prst="rect">
            <a:avLst/>
          </a:prstGeom>
          <a:solidFill>
            <a:srgbClr val="0B1F44"/>
          </a:solidFill>
          <a:ln/>
        </p:spPr>
        <p:txBody>
          <a:bodyPr wrap="square" lIns="0" tIns="0" rIns="0" bIns="0" rtlCol="0" anchor="ctr"/>
          <a:lstStyle/>
          <a:p>
            <a:pPr algn="ctr" indent="0" marL="0">
              <a:lnSpc>
                <a:spcPct val="100000"/>
              </a:lnSpc>
              <a:buNone/>
            </a:pPr>
            <a:r>
              <a:rPr lang="en-US" sz="1100" b="1" spc="80" kern="0" dirty="0">
                <a:solidFill>
                  <a:srgbClr val="8FD6F5"/>
                </a:solidFill>
                <a:latin typeface="Arial" pitchFamily="34" charset="0"/>
                <a:ea typeface="Arial" pitchFamily="34" charset="-122"/>
                <a:cs typeface="Arial" pitchFamily="34" charset="-120"/>
              </a:rPr>
              <a:t>Now</a:t>
            </a:r>
            <a:endParaRPr lang="en-US" sz="1100" dirty="0"/>
          </a:p>
        </p:txBody>
      </p:sp>
      <p:sp>
        <p:nvSpPr>
          <p:cNvPr id="7" name="Text 5"/>
          <p:cNvSpPr txBox="1"/>
          <p:nvPr/>
        </p:nvSpPr>
        <p:spPr>
          <a:xfrm>
            <a:off x="548640" y="1892808"/>
            <a:ext cx="2651760" cy="274320"/>
          </a:xfrm>
          <a:prstGeom prst="rect">
            <a:avLst/>
          </a:prstGeom>
          <a:noFill/>
          <a:ln/>
        </p:spPr>
        <p:txBody>
          <a:bodyPr wrap="square" lIns="0" tIns="0" rIns="0" bIns="0" rtlCol="0" anchor="t"/>
          <a:lstStyle/>
          <a:p>
            <a:pPr algn="l" indent="0" marL="0">
              <a:lnSpc>
                <a:spcPct val="100000"/>
              </a:lnSpc>
              <a:buNone/>
            </a:pPr>
            <a:r>
              <a:rPr lang="en-US" sz="1400" b="1" dirty="0">
                <a:solidFill>
                  <a:srgbClr val="FFFFFF"/>
                </a:solidFill>
                <a:latin typeface="Arial" pitchFamily="34" charset="0"/>
                <a:ea typeface="Arial" pitchFamily="34" charset="-122"/>
                <a:cs typeface="Arial" pitchFamily="34" charset="-120"/>
              </a:rPr>
              <a:t>Round 1 concept</a:t>
            </a:r>
            <a:endParaRPr lang="en-US" sz="1400" dirty="0"/>
          </a:p>
        </p:txBody>
      </p:sp>
      <p:sp>
        <p:nvSpPr>
          <p:cNvPr id="8" name="Text 6"/>
          <p:cNvSpPr txBox="1"/>
          <p:nvPr/>
        </p:nvSpPr>
        <p:spPr>
          <a:xfrm>
            <a:off x="548640" y="2176272"/>
            <a:ext cx="2560320" cy="384048"/>
          </a:xfrm>
          <a:prstGeom prst="rect">
            <a:avLst/>
          </a:prstGeom>
          <a:noFill/>
          <a:ln/>
        </p:spPr>
        <p:txBody>
          <a:bodyPr wrap="square" lIns="0" tIns="0" rIns="0" bIns="0" rtlCol="0" anchor="t"/>
          <a:lstStyle/>
          <a:p>
            <a:pPr algn="l" indent="0" marL="0">
              <a:lnSpc>
                <a:spcPct val="102000"/>
              </a:lnSpc>
              <a:buNone/>
            </a:pPr>
            <a:r>
              <a:rPr lang="en-US" sz="1050" dirty="0">
                <a:solidFill>
                  <a:srgbClr val="B8C8E2"/>
                </a:solidFill>
                <a:latin typeface="Arial" pitchFamily="34" charset="0"/>
                <a:ea typeface="Arial" pitchFamily="34" charset="-122"/>
                <a:cs typeface="Arial" pitchFamily="34" charset="-120"/>
              </a:rPr>
              <a:t>Problem, product, model, architecture</a:t>
            </a:r>
            <a:endParaRPr lang="en-US" sz="1050" dirty="0"/>
          </a:p>
        </p:txBody>
      </p:sp>
      <p:sp>
        <p:nvSpPr>
          <p:cNvPr id="9" name="Shape 7"/>
          <p:cNvSpPr/>
          <p:nvPr/>
        </p:nvSpPr>
        <p:spPr>
          <a:xfrm>
            <a:off x="3364992" y="1490472"/>
            <a:ext cx="274320" cy="274320"/>
          </a:xfrm>
          <a:prstGeom prst="ellipse">
            <a:avLst/>
          </a:prstGeom>
          <a:solidFill>
            <a:srgbClr val="00A7E1"/>
          </a:solidFill>
          <a:ln w="25400">
            <a:solidFill>
              <a:srgbClr val="00A7E1"/>
            </a:solidFill>
            <a:prstDash val="solid"/>
          </a:ln>
        </p:spPr>
      </p:sp>
      <p:sp>
        <p:nvSpPr>
          <p:cNvPr id="10" name="Text 8"/>
          <p:cNvSpPr txBox="1"/>
          <p:nvPr/>
        </p:nvSpPr>
        <p:spPr>
          <a:xfrm>
            <a:off x="3694176" y="1481328"/>
            <a:ext cx="685800" cy="292608"/>
          </a:xfrm>
          <a:prstGeom prst="rect">
            <a:avLst/>
          </a:prstGeom>
          <a:solidFill>
            <a:srgbClr val="0B1F44"/>
          </a:solidFill>
          <a:ln/>
        </p:spPr>
        <p:txBody>
          <a:bodyPr wrap="square" lIns="0" tIns="0" rIns="0" bIns="0" rtlCol="0" anchor="ctr"/>
          <a:lstStyle/>
          <a:p>
            <a:pPr algn="ctr" indent="0" marL="0">
              <a:lnSpc>
                <a:spcPct val="100000"/>
              </a:lnSpc>
              <a:buNone/>
            </a:pPr>
            <a:r>
              <a:rPr lang="en-US" sz="1100" b="1" spc="80" kern="0" dirty="0">
                <a:solidFill>
                  <a:srgbClr val="8FD6F5"/>
                </a:solidFill>
                <a:latin typeface="Arial" pitchFamily="34" charset="0"/>
                <a:ea typeface="Arial" pitchFamily="34" charset="-122"/>
                <a:cs typeface="Arial" pitchFamily="34" charset="-120"/>
              </a:rPr>
              <a:t>3 Oct</a:t>
            </a:r>
            <a:endParaRPr lang="en-US" sz="1100" dirty="0"/>
          </a:p>
        </p:txBody>
      </p:sp>
      <p:sp>
        <p:nvSpPr>
          <p:cNvPr id="11" name="Text 9"/>
          <p:cNvSpPr txBox="1"/>
          <p:nvPr/>
        </p:nvSpPr>
        <p:spPr>
          <a:xfrm>
            <a:off x="3364992" y="1892808"/>
            <a:ext cx="2651760" cy="274320"/>
          </a:xfrm>
          <a:prstGeom prst="rect">
            <a:avLst/>
          </a:prstGeom>
          <a:noFill/>
          <a:ln/>
        </p:spPr>
        <p:txBody>
          <a:bodyPr wrap="square" lIns="0" tIns="0" rIns="0" bIns="0" rtlCol="0" anchor="t"/>
          <a:lstStyle/>
          <a:p>
            <a:pPr algn="l" indent="0" marL="0">
              <a:lnSpc>
                <a:spcPct val="100000"/>
              </a:lnSpc>
              <a:buNone/>
            </a:pPr>
            <a:r>
              <a:rPr lang="en-US" sz="1400" b="1" dirty="0">
                <a:solidFill>
                  <a:srgbClr val="FFFFFF"/>
                </a:solidFill>
                <a:latin typeface="Arial" pitchFamily="34" charset="0"/>
                <a:ea typeface="Arial" pitchFamily="34" charset="-122"/>
                <a:cs typeface="Arial" pitchFamily="34" charset="-120"/>
              </a:rPr>
              <a:t>Hackathon MVP</a:t>
            </a:r>
            <a:endParaRPr lang="en-US" sz="1400" dirty="0"/>
          </a:p>
        </p:txBody>
      </p:sp>
      <p:sp>
        <p:nvSpPr>
          <p:cNvPr id="12" name="Text 10"/>
          <p:cNvSpPr txBox="1"/>
          <p:nvPr/>
        </p:nvSpPr>
        <p:spPr>
          <a:xfrm>
            <a:off x="3364992" y="2176272"/>
            <a:ext cx="2560320" cy="384048"/>
          </a:xfrm>
          <a:prstGeom prst="rect">
            <a:avLst/>
          </a:prstGeom>
          <a:noFill/>
          <a:ln/>
        </p:spPr>
        <p:txBody>
          <a:bodyPr wrap="square" lIns="0" tIns="0" rIns="0" bIns="0" rtlCol="0" anchor="t"/>
          <a:lstStyle/>
          <a:p>
            <a:pPr algn="l" indent="0" marL="0">
              <a:lnSpc>
                <a:spcPct val="102000"/>
              </a:lnSpc>
              <a:buNone/>
            </a:pPr>
            <a:r>
              <a:rPr lang="en-US" sz="1050" dirty="0">
                <a:solidFill>
                  <a:srgbClr val="B8C8E2"/>
                </a:solidFill>
                <a:latin typeface="Arial" pitchFamily="34" charset="0"/>
                <a:ea typeface="Arial" pitchFamily="34" charset="-122"/>
                <a:cs typeface="Arial" pitchFamily="34" charset="-120"/>
              </a:rPr>
              <a:t>One working golden path, live</a:t>
            </a:r>
            <a:endParaRPr lang="en-US" sz="1050" dirty="0"/>
          </a:p>
        </p:txBody>
      </p:sp>
      <p:sp>
        <p:nvSpPr>
          <p:cNvPr id="13" name="Shape 11"/>
          <p:cNvSpPr/>
          <p:nvPr/>
        </p:nvSpPr>
        <p:spPr>
          <a:xfrm>
            <a:off x="6181344" y="1490472"/>
            <a:ext cx="274320" cy="274320"/>
          </a:xfrm>
          <a:prstGeom prst="ellipse">
            <a:avLst/>
          </a:prstGeom>
          <a:solidFill>
            <a:srgbClr val="0B1F44"/>
          </a:solidFill>
          <a:ln w="25400">
            <a:solidFill>
              <a:srgbClr val="00A7E1"/>
            </a:solidFill>
            <a:prstDash val="solid"/>
          </a:ln>
        </p:spPr>
      </p:sp>
      <p:sp>
        <p:nvSpPr>
          <p:cNvPr id="14" name="Text 12"/>
          <p:cNvSpPr txBox="1"/>
          <p:nvPr/>
        </p:nvSpPr>
        <p:spPr>
          <a:xfrm>
            <a:off x="6510528" y="1481328"/>
            <a:ext cx="685800" cy="292608"/>
          </a:xfrm>
          <a:prstGeom prst="rect">
            <a:avLst/>
          </a:prstGeom>
          <a:solidFill>
            <a:srgbClr val="0B1F44"/>
          </a:solidFill>
          <a:ln/>
        </p:spPr>
        <p:txBody>
          <a:bodyPr wrap="square" lIns="0" tIns="0" rIns="0" bIns="0" rtlCol="0" anchor="ctr"/>
          <a:lstStyle/>
          <a:p>
            <a:pPr algn="ctr" indent="0" marL="0">
              <a:lnSpc>
                <a:spcPct val="100000"/>
              </a:lnSpc>
              <a:buNone/>
            </a:pPr>
            <a:r>
              <a:rPr lang="en-US" sz="1100" b="1" spc="80" kern="0" dirty="0">
                <a:solidFill>
                  <a:srgbClr val="8FD6F5"/>
                </a:solidFill>
                <a:latin typeface="Arial" pitchFamily="34" charset="0"/>
                <a:ea typeface="Arial" pitchFamily="34" charset="-122"/>
                <a:cs typeface="Arial" pitchFamily="34" charset="-120"/>
              </a:rPr>
              <a:t>Pilot</a:t>
            </a:r>
            <a:endParaRPr lang="en-US" sz="1100" dirty="0"/>
          </a:p>
        </p:txBody>
      </p:sp>
      <p:sp>
        <p:nvSpPr>
          <p:cNvPr id="15" name="Text 13"/>
          <p:cNvSpPr txBox="1"/>
          <p:nvPr/>
        </p:nvSpPr>
        <p:spPr>
          <a:xfrm>
            <a:off x="6181344" y="1892808"/>
            <a:ext cx="2651760" cy="274320"/>
          </a:xfrm>
          <a:prstGeom prst="rect">
            <a:avLst/>
          </a:prstGeom>
          <a:noFill/>
          <a:ln/>
        </p:spPr>
        <p:txBody>
          <a:bodyPr wrap="square" lIns="0" tIns="0" rIns="0" bIns="0" rtlCol="0" anchor="t"/>
          <a:lstStyle/>
          <a:p>
            <a:pPr algn="l" indent="0" marL="0">
              <a:lnSpc>
                <a:spcPct val="100000"/>
              </a:lnSpc>
              <a:buNone/>
            </a:pPr>
            <a:r>
              <a:rPr lang="en-US" sz="1400" b="1" dirty="0">
                <a:solidFill>
                  <a:srgbClr val="FFFFFF"/>
                </a:solidFill>
                <a:latin typeface="Arial" pitchFamily="34" charset="0"/>
                <a:ea typeface="Arial" pitchFamily="34" charset="-122"/>
                <a:cs typeface="Arial" pitchFamily="34" charset="-120"/>
              </a:rPr>
              <a:t>20–50 local shops</a:t>
            </a:r>
            <a:endParaRPr lang="en-US" sz="1400" dirty="0"/>
          </a:p>
        </p:txBody>
      </p:sp>
      <p:sp>
        <p:nvSpPr>
          <p:cNvPr id="16" name="Text 14"/>
          <p:cNvSpPr txBox="1"/>
          <p:nvPr/>
        </p:nvSpPr>
        <p:spPr>
          <a:xfrm>
            <a:off x="6181344" y="2176272"/>
            <a:ext cx="2560320" cy="384048"/>
          </a:xfrm>
          <a:prstGeom prst="rect">
            <a:avLst/>
          </a:prstGeom>
          <a:noFill/>
          <a:ln/>
        </p:spPr>
        <p:txBody>
          <a:bodyPr wrap="square" lIns="0" tIns="0" rIns="0" bIns="0" rtlCol="0" anchor="t"/>
          <a:lstStyle/>
          <a:p>
            <a:pPr algn="l" indent="0" marL="0">
              <a:lnSpc>
                <a:spcPct val="102000"/>
              </a:lnSpc>
              <a:buNone/>
            </a:pPr>
            <a:r>
              <a:rPr lang="en-US" sz="1050" dirty="0">
                <a:solidFill>
                  <a:srgbClr val="B8C8E2"/>
                </a:solidFill>
                <a:latin typeface="Arial" pitchFamily="34" charset="0"/>
                <a:ea typeface="Arial" pitchFamily="34" charset="-122"/>
                <a:cs typeface="Arial" pitchFamily="34" charset="-120"/>
              </a:rPr>
              <a:t>One region, one language, narrow SKU set</a:t>
            </a:r>
            <a:endParaRPr lang="en-US" sz="1050" dirty="0"/>
          </a:p>
        </p:txBody>
      </p:sp>
      <p:sp>
        <p:nvSpPr>
          <p:cNvPr id="17" name="Shape 15"/>
          <p:cNvSpPr/>
          <p:nvPr/>
        </p:nvSpPr>
        <p:spPr>
          <a:xfrm>
            <a:off x="8997696" y="1490472"/>
            <a:ext cx="274320" cy="274320"/>
          </a:xfrm>
          <a:prstGeom prst="ellipse">
            <a:avLst/>
          </a:prstGeom>
          <a:solidFill>
            <a:srgbClr val="0B1F44"/>
          </a:solidFill>
          <a:ln w="25400">
            <a:solidFill>
              <a:srgbClr val="00A7E1"/>
            </a:solidFill>
            <a:prstDash val="solid"/>
          </a:ln>
        </p:spPr>
      </p:sp>
      <p:sp>
        <p:nvSpPr>
          <p:cNvPr id="18" name="Text 16"/>
          <p:cNvSpPr txBox="1"/>
          <p:nvPr/>
        </p:nvSpPr>
        <p:spPr>
          <a:xfrm>
            <a:off x="9326880" y="1481328"/>
            <a:ext cx="685800" cy="292608"/>
          </a:xfrm>
          <a:prstGeom prst="rect">
            <a:avLst/>
          </a:prstGeom>
          <a:solidFill>
            <a:srgbClr val="0B1F44"/>
          </a:solidFill>
          <a:ln/>
        </p:spPr>
        <p:txBody>
          <a:bodyPr wrap="square" lIns="0" tIns="0" rIns="0" bIns="0" rtlCol="0" anchor="ctr"/>
          <a:lstStyle/>
          <a:p>
            <a:pPr algn="ctr" indent="0" marL="0">
              <a:lnSpc>
                <a:spcPct val="100000"/>
              </a:lnSpc>
              <a:buNone/>
            </a:pPr>
            <a:r>
              <a:rPr lang="en-US" sz="1100" b="1" spc="80" kern="0" dirty="0">
                <a:solidFill>
                  <a:srgbClr val="8FD6F5"/>
                </a:solidFill>
                <a:latin typeface="Arial" pitchFamily="34" charset="0"/>
                <a:ea typeface="Arial" pitchFamily="34" charset="-122"/>
                <a:cs typeface="Arial" pitchFamily="34" charset="-120"/>
              </a:rPr>
              <a:t>Scale</a:t>
            </a:r>
            <a:endParaRPr lang="en-US" sz="1100" dirty="0"/>
          </a:p>
        </p:txBody>
      </p:sp>
      <p:sp>
        <p:nvSpPr>
          <p:cNvPr id="19" name="Text 17"/>
          <p:cNvSpPr txBox="1"/>
          <p:nvPr/>
        </p:nvSpPr>
        <p:spPr>
          <a:xfrm>
            <a:off x="8997696" y="1892808"/>
            <a:ext cx="2651760" cy="274320"/>
          </a:xfrm>
          <a:prstGeom prst="rect">
            <a:avLst/>
          </a:prstGeom>
          <a:noFill/>
          <a:ln/>
        </p:spPr>
        <p:txBody>
          <a:bodyPr wrap="square" lIns="0" tIns="0" rIns="0" bIns="0" rtlCol="0" anchor="t"/>
          <a:lstStyle/>
          <a:p>
            <a:pPr algn="l" indent="0" marL="0">
              <a:lnSpc>
                <a:spcPct val="100000"/>
              </a:lnSpc>
              <a:buNone/>
            </a:pPr>
            <a:r>
              <a:rPr lang="en-US" sz="1400" b="1" dirty="0">
                <a:solidFill>
                  <a:srgbClr val="FFFFFF"/>
                </a:solidFill>
                <a:latin typeface="Arial" pitchFamily="34" charset="0"/>
                <a:ea typeface="Arial" pitchFamily="34" charset="-122"/>
                <a:cs typeface="Arial" pitchFamily="34" charset="-120"/>
              </a:rPr>
              <a:t>Grow with Paytm</a:t>
            </a:r>
            <a:endParaRPr lang="en-US" sz="1400" dirty="0"/>
          </a:p>
        </p:txBody>
      </p:sp>
      <p:sp>
        <p:nvSpPr>
          <p:cNvPr id="20" name="Text 18"/>
          <p:cNvSpPr txBox="1"/>
          <p:nvPr/>
        </p:nvSpPr>
        <p:spPr>
          <a:xfrm>
            <a:off x="8997696" y="2176272"/>
            <a:ext cx="2560320" cy="384048"/>
          </a:xfrm>
          <a:prstGeom prst="rect">
            <a:avLst/>
          </a:prstGeom>
          <a:noFill/>
          <a:ln/>
        </p:spPr>
        <p:txBody>
          <a:bodyPr wrap="square" lIns="0" tIns="0" rIns="0" bIns="0" rtlCol="0" anchor="t"/>
          <a:lstStyle/>
          <a:p>
            <a:pPr algn="l" indent="0" marL="0">
              <a:lnSpc>
                <a:spcPct val="102000"/>
              </a:lnSpc>
              <a:buNone/>
            </a:pPr>
            <a:r>
              <a:rPr lang="en-US" sz="1050" dirty="0">
                <a:solidFill>
                  <a:srgbClr val="B8C8E2"/>
                </a:solidFill>
                <a:latin typeface="Arial" pitchFamily="34" charset="0"/>
                <a:ea typeface="Arial" pitchFamily="34" charset="-122"/>
                <a:cs typeface="Arial" pitchFamily="34" charset="-120"/>
              </a:rPr>
              <a:t>More languages, multi-store, Mini Apps if approved</a:t>
            </a:r>
            <a:endParaRPr lang="en-US" sz="1050" dirty="0"/>
          </a:p>
        </p:txBody>
      </p:sp>
      <p:sp>
        <p:nvSpPr>
          <p:cNvPr id="21" name="Text 19"/>
          <p:cNvSpPr txBox="1"/>
          <p:nvPr/>
        </p:nvSpPr>
        <p:spPr>
          <a:xfrm>
            <a:off x="548640" y="2852928"/>
            <a:ext cx="6400800" cy="256032"/>
          </a:xfrm>
          <a:prstGeom prst="rect">
            <a:avLst/>
          </a:prstGeom>
          <a:noFill/>
          <a:ln/>
        </p:spPr>
        <p:txBody>
          <a:bodyPr wrap="square" lIns="0" tIns="0" rIns="0" bIns="0" rtlCol="0" anchor="t"/>
          <a:lstStyle/>
          <a:p>
            <a:pPr algn="l" indent="0" marL="0">
              <a:lnSpc>
                <a:spcPct val="100000"/>
              </a:lnSpc>
              <a:buNone/>
            </a:pPr>
            <a:r>
              <a:rPr lang="en-US" sz="1050" b="1" spc="100" kern="0" dirty="0">
                <a:solidFill>
                  <a:srgbClr val="8FD6F5"/>
                </a:solidFill>
                <a:latin typeface="Arial" pitchFamily="34" charset="0"/>
                <a:ea typeface="Arial" pitchFamily="34" charset="-122"/>
                <a:cs typeface="Arial" pitchFamily="34" charset="-120"/>
              </a:rPr>
              <a:t>WHAT WE’LL MEASURE  ·  direction, not promises</a:t>
            </a:r>
            <a:endParaRPr lang="en-US" sz="1050" dirty="0"/>
          </a:p>
        </p:txBody>
      </p:sp>
      <p:sp>
        <p:nvSpPr>
          <p:cNvPr id="22" name="Shape 20"/>
          <p:cNvSpPr/>
          <p:nvPr/>
        </p:nvSpPr>
        <p:spPr>
          <a:xfrm>
            <a:off x="548640" y="3200400"/>
            <a:ext cx="2103120" cy="1170432"/>
          </a:xfrm>
          <a:prstGeom prst="roundRect">
            <a:avLst>
              <a:gd name="adj" fmla="val 10938"/>
            </a:avLst>
          </a:prstGeom>
          <a:solidFill>
            <a:srgbClr val="132D5E"/>
          </a:solidFill>
          <a:ln/>
        </p:spPr>
      </p:sp>
      <p:sp>
        <p:nvSpPr>
          <p:cNvPr id="23" name="Text 21"/>
          <p:cNvSpPr txBox="1"/>
          <p:nvPr/>
        </p:nvSpPr>
        <p:spPr>
          <a:xfrm>
            <a:off x="685800" y="3291840"/>
            <a:ext cx="365760" cy="384048"/>
          </a:xfrm>
          <a:prstGeom prst="rect">
            <a:avLst/>
          </a:prstGeom>
          <a:noFill/>
          <a:ln/>
        </p:spPr>
        <p:txBody>
          <a:bodyPr wrap="square" lIns="0" tIns="0" rIns="0" bIns="0" rtlCol="0" anchor="t"/>
          <a:lstStyle/>
          <a:p>
            <a:pPr algn="l" indent="0" marL="0">
              <a:lnSpc>
                <a:spcPct val="100000"/>
              </a:lnSpc>
              <a:buNone/>
            </a:pPr>
            <a:r>
              <a:rPr lang="en-US" sz="2000" b="1" dirty="0">
                <a:solidFill>
                  <a:srgbClr val="7FE0B5"/>
                </a:solidFill>
                <a:latin typeface="Arial" pitchFamily="34" charset="0"/>
                <a:ea typeface="Arial" pitchFamily="34" charset="-122"/>
                <a:cs typeface="Arial" pitchFamily="34" charset="-120"/>
              </a:rPr>
              <a:t>↓</a:t>
            </a:r>
            <a:endParaRPr lang="en-US" sz="2000" dirty="0"/>
          </a:p>
        </p:txBody>
      </p:sp>
      <p:sp>
        <p:nvSpPr>
          <p:cNvPr id="24" name="Text 22"/>
          <p:cNvSpPr txBox="1"/>
          <p:nvPr/>
        </p:nvSpPr>
        <p:spPr>
          <a:xfrm>
            <a:off x="685800" y="3657600"/>
            <a:ext cx="1874520" cy="256032"/>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Arial" pitchFamily="34" charset="0"/>
                <a:ea typeface="Arial" pitchFamily="34" charset="-122"/>
                <a:cs typeface="Arial" pitchFamily="34" charset="-120"/>
              </a:rPr>
              <a:t>Bill creation time</a:t>
            </a:r>
            <a:endParaRPr lang="en-US" sz="1150" dirty="0"/>
          </a:p>
        </p:txBody>
      </p:sp>
      <p:sp>
        <p:nvSpPr>
          <p:cNvPr id="25" name="Text 23"/>
          <p:cNvSpPr txBox="1"/>
          <p:nvPr/>
        </p:nvSpPr>
        <p:spPr>
          <a:xfrm>
            <a:off x="685800" y="3913632"/>
            <a:ext cx="1874520" cy="384048"/>
          </a:xfrm>
          <a:prstGeom prst="rect">
            <a:avLst/>
          </a:prstGeom>
          <a:noFill/>
          <a:ln/>
        </p:spPr>
        <p:txBody>
          <a:bodyPr wrap="square" lIns="0" tIns="0" rIns="0" bIns="0" rtlCol="0" anchor="t"/>
          <a:lstStyle/>
          <a:p>
            <a:pPr algn="l" indent="0" marL="0">
              <a:lnSpc>
                <a:spcPct val="100000"/>
              </a:lnSpc>
              <a:buNone/>
            </a:pPr>
            <a:r>
              <a:rPr lang="en-US" sz="950" dirty="0">
                <a:solidFill>
                  <a:srgbClr val="B8C8E2"/>
                </a:solidFill>
                <a:latin typeface="Arial" pitchFamily="34" charset="0"/>
                <a:ea typeface="Arial" pitchFamily="34" charset="-122"/>
                <a:cs typeface="Arial" pitchFamily="34" charset="-120"/>
              </a:rPr>
              <a:t>Start of bill to confirmed invoice</a:t>
            </a:r>
            <a:endParaRPr lang="en-US" sz="950" dirty="0"/>
          </a:p>
        </p:txBody>
      </p:sp>
      <p:sp>
        <p:nvSpPr>
          <p:cNvPr id="26" name="Shape 24"/>
          <p:cNvSpPr/>
          <p:nvPr/>
        </p:nvSpPr>
        <p:spPr>
          <a:xfrm>
            <a:off x="2761488" y="3200400"/>
            <a:ext cx="2103120" cy="1170432"/>
          </a:xfrm>
          <a:prstGeom prst="roundRect">
            <a:avLst>
              <a:gd name="adj" fmla="val 10938"/>
            </a:avLst>
          </a:prstGeom>
          <a:solidFill>
            <a:srgbClr val="132D5E"/>
          </a:solidFill>
          <a:ln/>
        </p:spPr>
      </p:sp>
      <p:sp>
        <p:nvSpPr>
          <p:cNvPr id="27" name="Text 25"/>
          <p:cNvSpPr txBox="1"/>
          <p:nvPr/>
        </p:nvSpPr>
        <p:spPr>
          <a:xfrm>
            <a:off x="2898648" y="3291840"/>
            <a:ext cx="365760" cy="384048"/>
          </a:xfrm>
          <a:prstGeom prst="rect">
            <a:avLst/>
          </a:prstGeom>
          <a:noFill/>
          <a:ln/>
        </p:spPr>
        <p:txBody>
          <a:bodyPr wrap="square" lIns="0" tIns="0" rIns="0" bIns="0" rtlCol="0" anchor="t"/>
          <a:lstStyle/>
          <a:p>
            <a:pPr algn="l" indent="0" marL="0">
              <a:lnSpc>
                <a:spcPct val="100000"/>
              </a:lnSpc>
              <a:buNone/>
            </a:pPr>
            <a:r>
              <a:rPr lang="en-US" sz="2000" b="1" dirty="0">
                <a:solidFill>
                  <a:srgbClr val="7FE0B5"/>
                </a:solidFill>
                <a:latin typeface="Arial" pitchFamily="34" charset="0"/>
                <a:ea typeface="Arial" pitchFamily="34" charset="-122"/>
                <a:cs typeface="Arial" pitchFamily="34" charset="-120"/>
              </a:rPr>
              <a:t>↓</a:t>
            </a:r>
            <a:endParaRPr lang="en-US" sz="2000" dirty="0"/>
          </a:p>
        </p:txBody>
      </p:sp>
      <p:sp>
        <p:nvSpPr>
          <p:cNvPr id="28" name="Text 26"/>
          <p:cNvSpPr txBox="1"/>
          <p:nvPr/>
        </p:nvSpPr>
        <p:spPr>
          <a:xfrm>
            <a:off x="2898648" y="3657600"/>
            <a:ext cx="1874520" cy="256032"/>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Arial" pitchFamily="34" charset="0"/>
                <a:ea typeface="Arial" pitchFamily="34" charset="-122"/>
                <a:cs typeface="Arial" pitchFamily="34" charset="-120"/>
              </a:rPr>
              <a:t>AI bill correction rate</a:t>
            </a:r>
            <a:endParaRPr lang="en-US" sz="1150" dirty="0"/>
          </a:p>
        </p:txBody>
      </p:sp>
      <p:sp>
        <p:nvSpPr>
          <p:cNvPr id="29" name="Text 27"/>
          <p:cNvSpPr txBox="1"/>
          <p:nvPr/>
        </p:nvSpPr>
        <p:spPr>
          <a:xfrm>
            <a:off x="2898648" y="3913632"/>
            <a:ext cx="1874520" cy="384048"/>
          </a:xfrm>
          <a:prstGeom prst="rect">
            <a:avLst/>
          </a:prstGeom>
          <a:noFill/>
          <a:ln/>
        </p:spPr>
        <p:txBody>
          <a:bodyPr wrap="square" lIns="0" tIns="0" rIns="0" bIns="0" rtlCol="0" anchor="t"/>
          <a:lstStyle/>
          <a:p>
            <a:pPr algn="l" indent="0" marL="0">
              <a:lnSpc>
                <a:spcPct val="100000"/>
              </a:lnSpc>
              <a:buNone/>
            </a:pPr>
            <a:r>
              <a:rPr lang="en-US" sz="950" dirty="0">
                <a:solidFill>
                  <a:srgbClr val="B8C8E2"/>
                </a:solidFill>
                <a:latin typeface="Arial" pitchFamily="34" charset="0"/>
                <a:ea typeface="Arial" pitchFamily="34" charset="-122"/>
                <a:cs typeface="Arial" pitchFamily="34" charset="-120"/>
              </a:rPr>
              <a:t>% of AI bills edited by hand</a:t>
            </a:r>
            <a:endParaRPr lang="en-US" sz="950" dirty="0"/>
          </a:p>
        </p:txBody>
      </p:sp>
      <p:sp>
        <p:nvSpPr>
          <p:cNvPr id="30" name="Shape 28"/>
          <p:cNvSpPr/>
          <p:nvPr/>
        </p:nvSpPr>
        <p:spPr>
          <a:xfrm>
            <a:off x="4974336" y="3200400"/>
            <a:ext cx="2103120" cy="1170432"/>
          </a:xfrm>
          <a:prstGeom prst="roundRect">
            <a:avLst>
              <a:gd name="adj" fmla="val 10938"/>
            </a:avLst>
          </a:prstGeom>
          <a:solidFill>
            <a:srgbClr val="132D5E"/>
          </a:solidFill>
          <a:ln/>
        </p:spPr>
      </p:sp>
      <p:sp>
        <p:nvSpPr>
          <p:cNvPr id="31" name="Text 29"/>
          <p:cNvSpPr txBox="1"/>
          <p:nvPr/>
        </p:nvSpPr>
        <p:spPr>
          <a:xfrm>
            <a:off x="5111496" y="3291840"/>
            <a:ext cx="365760" cy="384048"/>
          </a:xfrm>
          <a:prstGeom prst="rect">
            <a:avLst/>
          </a:prstGeom>
          <a:noFill/>
          <a:ln/>
        </p:spPr>
        <p:txBody>
          <a:bodyPr wrap="square" lIns="0" tIns="0" rIns="0" bIns="0" rtlCol="0" anchor="t"/>
          <a:lstStyle/>
          <a:p>
            <a:pPr algn="l" indent="0" marL="0">
              <a:lnSpc>
                <a:spcPct val="100000"/>
              </a:lnSpc>
              <a:buNone/>
            </a:pPr>
            <a:r>
              <a:rPr lang="en-US" sz="2000" b="1" dirty="0">
                <a:solidFill>
                  <a:srgbClr val="00A7E1"/>
                </a:solidFill>
                <a:latin typeface="Arial" pitchFamily="34" charset="0"/>
                <a:ea typeface="Arial" pitchFamily="34" charset="-122"/>
                <a:cs typeface="Arial" pitchFamily="34" charset="-120"/>
              </a:rPr>
              <a:t>↑</a:t>
            </a:r>
            <a:endParaRPr lang="en-US" sz="2000" dirty="0"/>
          </a:p>
        </p:txBody>
      </p:sp>
      <p:sp>
        <p:nvSpPr>
          <p:cNvPr id="32" name="Text 30"/>
          <p:cNvSpPr txBox="1"/>
          <p:nvPr/>
        </p:nvSpPr>
        <p:spPr>
          <a:xfrm>
            <a:off x="5111496" y="3657600"/>
            <a:ext cx="1874520" cy="256032"/>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Arial" pitchFamily="34" charset="0"/>
                <a:ea typeface="Arial" pitchFamily="34" charset="-122"/>
                <a:cs typeface="Arial" pitchFamily="34" charset="-120"/>
              </a:rPr>
              <a:t>Auto-reconciled payments</a:t>
            </a:r>
            <a:endParaRPr lang="en-US" sz="1150" dirty="0"/>
          </a:p>
        </p:txBody>
      </p:sp>
      <p:sp>
        <p:nvSpPr>
          <p:cNvPr id="33" name="Text 31"/>
          <p:cNvSpPr txBox="1"/>
          <p:nvPr/>
        </p:nvSpPr>
        <p:spPr>
          <a:xfrm>
            <a:off x="5111496" y="3913632"/>
            <a:ext cx="1874520" cy="384048"/>
          </a:xfrm>
          <a:prstGeom prst="rect">
            <a:avLst/>
          </a:prstGeom>
          <a:noFill/>
          <a:ln/>
        </p:spPr>
        <p:txBody>
          <a:bodyPr wrap="square" lIns="0" tIns="0" rIns="0" bIns="0" rtlCol="0" anchor="t"/>
          <a:lstStyle/>
          <a:p>
            <a:pPr algn="l" indent="0" marL="0">
              <a:lnSpc>
                <a:spcPct val="100000"/>
              </a:lnSpc>
              <a:buNone/>
            </a:pPr>
            <a:r>
              <a:rPr lang="en-US" sz="950" dirty="0">
                <a:solidFill>
                  <a:srgbClr val="B8C8E2"/>
                </a:solidFill>
                <a:latin typeface="Arial" pitchFamily="34" charset="0"/>
                <a:ea typeface="Arial" pitchFamily="34" charset="-122"/>
                <a:cs typeface="Arial" pitchFamily="34" charset="-120"/>
              </a:rPr>
              <a:t>% of paid orders matched automatically</a:t>
            </a:r>
            <a:endParaRPr lang="en-US" sz="950" dirty="0"/>
          </a:p>
        </p:txBody>
      </p:sp>
      <p:sp>
        <p:nvSpPr>
          <p:cNvPr id="34" name="Shape 32"/>
          <p:cNvSpPr/>
          <p:nvPr/>
        </p:nvSpPr>
        <p:spPr>
          <a:xfrm>
            <a:off x="548640" y="4480560"/>
            <a:ext cx="2103120" cy="1170432"/>
          </a:xfrm>
          <a:prstGeom prst="roundRect">
            <a:avLst>
              <a:gd name="adj" fmla="val 10938"/>
            </a:avLst>
          </a:prstGeom>
          <a:solidFill>
            <a:srgbClr val="132D5E"/>
          </a:solidFill>
          <a:ln/>
        </p:spPr>
      </p:sp>
      <p:sp>
        <p:nvSpPr>
          <p:cNvPr id="35" name="Text 33"/>
          <p:cNvSpPr txBox="1"/>
          <p:nvPr/>
        </p:nvSpPr>
        <p:spPr>
          <a:xfrm>
            <a:off x="685800" y="4572000"/>
            <a:ext cx="365760" cy="384048"/>
          </a:xfrm>
          <a:prstGeom prst="rect">
            <a:avLst/>
          </a:prstGeom>
          <a:noFill/>
          <a:ln/>
        </p:spPr>
        <p:txBody>
          <a:bodyPr wrap="square" lIns="0" tIns="0" rIns="0" bIns="0" rtlCol="0" anchor="t"/>
          <a:lstStyle/>
          <a:p>
            <a:pPr algn="l" indent="0" marL="0">
              <a:lnSpc>
                <a:spcPct val="100000"/>
              </a:lnSpc>
              <a:buNone/>
            </a:pPr>
            <a:r>
              <a:rPr lang="en-US" sz="2000" b="1" dirty="0">
                <a:solidFill>
                  <a:srgbClr val="00A7E1"/>
                </a:solidFill>
                <a:latin typeface="Arial" pitchFamily="34" charset="0"/>
                <a:ea typeface="Arial" pitchFamily="34" charset="-122"/>
                <a:cs typeface="Arial" pitchFamily="34" charset="-120"/>
              </a:rPr>
              <a:t>↑</a:t>
            </a:r>
            <a:endParaRPr lang="en-US" sz="2000" dirty="0"/>
          </a:p>
        </p:txBody>
      </p:sp>
      <p:sp>
        <p:nvSpPr>
          <p:cNvPr id="36" name="Text 34"/>
          <p:cNvSpPr txBox="1"/>
          <p:nvPr/>
        </p:nvSpPr>
        <p:spPr>
          <a:xfrm>
            <a:off x="685800" y="4937760"/>
            <a:ext cx="1874520" cy="256032"/>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Arial" pitchFamily="34" charset="0"/>
                <a:ea typeface="Arial" pitchFamily="34" charset="-122"/>
                <a:cs typeface="Arial" pitchFamily="34" charset="-120"/>
              </a:rPr>
              <a:t>Weekly active merchants</a:t>
            </a:r>
            <a:endParaRPr lang="en-US" sz="1150" dirty="0"/>
          </a:p>
        </p:txBody>
      </p:sp>
      <p:sp>
        <p:nvSpPr>
          <p:cNvPr id="37" name="Text 35"/>
          <p:cNvSpPr txBox="1"/>
          <p:nvPr/>
        </p:nvSpPr>
        <p:spPr>
          <a:xfrm>
            <a:off x="685800" y="5193792"/>
            <a:ext cx="1874520" cy="384048"/>
          </a:xfrm>
          <a:prstGeom prst="rect">
            <a:avLst/>
          </a:prstGeom>
          <a:noFill/>
          <a:ln/>
        </p:spPr>
        <p:txBody>
          <a:bodyPr wrap="square" lIns="0" tIns="0" rIns="0" bIns="0" rtlCol="0" anchor="t"/>
          <a:lstStyle/>
          <a:p>
            <a:pPr algn="l" indent="0" marL="0">
              <a:lnSpc>
                <a:spcPct val="100000"/>
              </a:lnSpc>
              <a:buNone/>
            </a:pPr>
            <a:r>
              <a:rPr lang="en-US" sz="950" dirty="0">
                <a:solidFill>
                  <a:srgbClr val="B8C8E2"/>
                </a:solidFill>
                <a:latin typeface="Arial" pitchFamily="34" charset="0"/>
                <a:ea typeface="Arial" pitchFamily="34" charset="-122"/>
                <a:cs typeface="Arial" pitchFamily="34" charset="-120"/>
              </a:rPr>
              <a:t>% of onboarded shops using it weekly</a:t>
            </a:r>
            <a:endParaRPr lang="en-US" sz="950" dirty="0"/>
          </a:p>
        </p:txBody>
      </p:sp>
      <p:sp>
        <p:nvSpPr>
          <p:cNvPr id="38" name="Shape 36"/>
          <p:cNvSpPr/>
          <p:nvPr/>
        </p:nvSpPr>
        <p:spPr>
          <a:xfrm>
            <a:off x="2761488" y="4480560"/>
            <a:ext cx="2103120" cy="1170432"/>
          </a:xfrm>
          <a:prstGeom prst="roundRect">
            <a:avLst>
              <a:gd name="adj" fmla="val 10938"/>
            </a:avLst>
          </a:prstGeom>
          <a:solidFill>
            <a:srgbClr val="132D5E"/>
          </a:solidFill>
          <a:ln/>
        </p:spPr>
      </p:sp>
      <p:sp>
        <p:nvSpPr>
          <p:cNvPr id="39" name="Text 37"/>
          <p:cNvSpPr txBox="1"/>
          <p:nvPr/>
        </p:nvSpPr>
        <p:spPr>
          <a:xfrm>
            <a:off x="2898648" y="4572000"/>
            <a:ext cx="365760" cy="384048"/>
          </a:xfrm>
          <a:prstGeom prst="rect">
            <a:avLst/>
          </a:prstGeom>
          <a:noFill/>
          <a:ln/>
        </p:spPr>
        <p:txBody>
          <a:bodyPr wrap="square" lIns="0" tIns="0" rIns="0" bIns="0" rtlCol="0" anchor="t"/>
          <a:lstStyle/>
          <a:p>
            <a:pPr algn="l" indent="0" marL="0">
              <a:lnSpc>
                <a:spcPct val="100000"/>
              </a:lnSpc>
              <a:buNone/>
            </a:pPr>
            <a:r>
              <a:rPr lang="en-US" sz="2000" b="1" dirty="0">
                <a:solidFill>
                  <a:srgbClr val="00A7E1"/>
                </a:solidFill>
                <a:latin typeface="Arial" pitchFamily="34" charset="0"/>
                <a:ea typeface="Arial" pitchFamily="34" charset="-122"/>
                <a:cs typeface="Arial" pitchFamily="34" charset="-120"/>
              </a:rPr>
              <a:t>↑</a:t>
            </a:r>
            <a:endParaRPr lang="en-US" sz="2000" dirty="0"/>
          </a:p>
        </p:txBody>
      </p:sp>
      <p:sp>
        <p:nvSpPr>
          <p:cNvPr id="40" name="Text 38"/>
          <p:cNvSpPr txBox="1"/>
          <p:nvPr/>
        </p:nvSpPr>
        <p:spPr>
          <a:xfrm>
            <a:off x="2898648" y="4937760"/>
            <a:ext cx="1874520" cy="256032"/>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Arial" pitchFamily="34" charset="0"/>
                <a:ea typeface="Arial" pitchFamily="34" charset="-122"/>
                <a:cs typeface="Arial" pitchFamily="34" charset="-120"/>
              </a:rPr>
              <a:t>Khata dues collected</a:t>
            </a:r>
            <a:endParaRPr lang="en-US" sz="1150" dirty="0"/>
          </a:p>
        </p:txBody>
      </p:sp>
      <p:sp>
        <p:nvSpPr>
          <p:cNvPr id="41" name="Text 39"/>
          <p:cNvSpPr txBox="1"/>
          <p:nvPr/>
        </p:nvSpPr>
        <p:spPr>
          <a:xfrm>
            <a:off x="2898648" y="5193792"/>
            <a:ext cx="1874520" cy="384048"/>
          </a:xfrm>
          <a:prstGeom prst="rect">
            <a:avLst/>
          </a:prstGeom>
          <a:noFill/>
          <a:ln/>
        </p:spPr>
        <p:txBody>
          <a:bodyPr wrap="square" lIns="0" tIns="0" rIns="0" bIns="0" rtlCol="0" anchor="t"/>
          <a:lstStyle/>
          <a:p>
            <a:pPr algn="l" indent="0" marL="0">
              <a:lnSpc>
                <a:spcPct val="100000"/>
              </a:lnSpc>
              <a:buNone/>
            </a:pPr>
            <a:r>
              <a:rPr lang="en-US" sz="950" dirty="0">
                <a:solidFill>
                  <a:srgbClr val="B8C8E2"/>
                </a:solidFill>
                <a:latin typeface="Arial" pitchFamily="34" charset="0"/>
                <a:ea typeface="Arial" pitchFamily="34" charset="-122"/>
                <a:cs typeface="Arial" pitchFamily="34" charset="-120"/>
              </a:rPr>
              <a:t>% of overdue balance recovered after reminders</a:t>
            </a:r>
            <a:endParaRPr lang="en-US" sz="950" dirty="0"/>
          </a:p>
        </p:txBody>
      </p:sp>
      <p:sp>
        <p:nvSpPr>
          <p:cNvPr id="42" name="Shape 40"/>
          <p:cNvSpPr/>
          <p:nvPr/>
        </p:nvSpPr>
        <p:spPr>
          <a:xfrm>
            <a:off x="4974336" y="4480560"/>
            <a:ext cx="2103120" cy="1170432"/>
          </a:xfrm>
          <a:prstGeom prst="roundRect">
            <a:avLst>
              <a:gd name="adj" fmla="val 10938"/>
            </a:avLst>
          </a:prstGeom>
          <a:solidFill>
            <a:srgbClr val="132D5E"/>
          </a:solidFill>
          <a:ln/>
        </p:spPr>
      </p:sp>
      <p:sp>
        <p:nvSpPr>
          <p:cNvPr id="43" name="Text 41"/>
          <p:cNvSpPr txBox="1"/>
          <p:nvPr/>
        </p:nvSpPr>
        <p:spPr>
          <a:xfrm>
            <a:off x="5111496" y="4572000"/>
            <a:ext cx="365760" cy="384048"/>
          </a:xfrm>
          <a:prstGeom prst="rect">
            <a:avLst/>
          </a:prstGeom>
          <a:noFill/>
          <a:ln/>
        </p:spPr>
        <p:txBody>
          <a:bodyPr wrap="square" lIns="0" tIns="0" rIns="0" bIns="0" rtlCol="0" anchor="t"/>
          <a:lstStyle/>
          <a:p>
            <a:pPr algn="l" indent="0" marL="0">
              <a:lnSpc>
                <a:spcPct val="100000"/>
              </a:lnSpc>
              <a:buNone/>
            </a:pPr>
            <a:r>
              <a:rPr lang="en-US" sz="2000" b="1" dirty="0">
                <a:solidFill>
                  <a:srgbClr val="00A7E1"/>
                </a:solidFill>
                <a:latin typeface="Arial" pitchFamily="34" charset="0"/>
                <a:ea typeface="Arial" pitchFamily="34" charset="-122"/>
                <a:cs typeface="Arial" pitchFamily="34" charset="-120"/>
              </a:rPr>
              <a:t>↑</a:t>
            </a:r>
            <a:endParaRPr lang="en-US" sz="2000" dirty="0"/>
          </a:p>
        </p:txBody>
      </p:sp>
      <p:sp>
        <p:nvSpPr>
          <p:cNvPr id="44" name="Text 42"/>
          <p:cNvSpPr txBox="1"/>
          <p:nvPr/>
        </p:nvSpPr>
        <p:spPr>
          <a:xfrm>
            <a:off x="5111496" y="4937760"/>
            <a:ext cx="1874520" cy="256032"/>
          </a:xfrm>
          <a:prstGeom prst="rect">
            <a:avLst/>
          </a:prstGeom>
          <a:noFill/>
          <a:ln/>
        </p:spPr>
        <p:txBody>
          <a:bodyPr wrap="square" lIns="0" tIns="0" rIns="0" bIns="0" rtlCol="0" anchor="t"/>
          <a:lstStyle/>
          <a:p>
            <a:pPr algn="l" indent="0" marL="0">
              <a:lnSpc>
                <a:spcPct val="100000"/>
              </a:lnSpc>
              <a:buNone/>
            </a:pPr>
            <a:r>
              <a:rPr lang="en-US" sz="1150" b="1" dirty="0">
                <a:solidFill>
                  <a:srgbClr val="FFFFFF"/>
                </a:solidFill>
                <a:latin typeface="Arial" pitchFamily="34" charset="0"/>
                <a:ea typeface="Arial" pitchFamily="34" charset="-122"/>
                <a:cs typeface="Arial" pitchFamily="34" charset="-120"/>
              </a:rPr>
              <a:t>AI suggestions accepted</a:t>
            </a:r>
            <a:endParaRPr lang="en-US" sz="1150" dirty="0"/>
          </a:p>
        </p:txBody>
      </p:sp>
      <p:sp>
        <p:nvSpPr>
          <p:cNvPr id="45" name="Text 43"/>
          <p:cNvSpPr txBox="1"/>
          <p:nvPr/>
        </p:nvSpPr>
        <p:spPr>
          <a:xfrm>
            <a:off x="5111496" y="5193792"/>
            <a:ext cx="1874520" cy="384048"/>
          </a:xfrm>
          <a:prstGeom prst="rect">
            <a:avLst/>
          </a:prstGeom>
          <a:noFill/>
          <a:ln/>
        </p:spPr>
        <p:txBody>
          <a:bodyPr wrap="square" lIns="0" tIns="0" rIns="0" bIns="0" rtlCol="0" anchor="t"/>
          <a:lstStyle/>
          <a:p>
            <a:pPr algn="l" indent="0" marL="0">
              <a:lnSpc>
                <a:spcPct val="100000"/>
              </a:lnSpc>
              <a:buNone/>
            </a:pPr>
            <a:r>
              <a:rPr lang="en-US" sz="950" dirty="0">
                <a:solidFill>
                  <a:srgbClr val="B8C8E2"/>
                </a:solidFill>
                <a:latin typeface="Arial" pitchFamily="34" charset="0"/>
                <a:ea typeface="Arial" pitchFamily="34" charset="-122"/>
                <a:cs typeface="Arial" pitchFamily="34" charset="-120"/>
              </a:rPr>
              <a:t>% of Salaahkaar actions approved and done</a:t>
            </a:r>
            <a:endParaRPr lang="en-US" sz="950" dirty="0"/>
          </a:p>
        </p:txBody>
      </p:sp>
      <p:sp>
        <p:nvSpPr>
          <p:cNvPr id="46" name="Shape 44"/>
          <p:cNvSpPr/>
          <p:nvPr/>
        </p:nvSpPr>
        <p:spPr>
          <a:xfrm>
            <a:off x="7315200" y="3200400"/>
            <a:ext cx="4325112" cy="1188720"/>
          </a:xfrm>
          <a:prstGeom prst="roundRect">
            <a:avLst>
              <a:gd name="adj" fmla="val 10769"/>
            </a:avLst>
          </a:prstGeom>
          <a:solidFill>
            <a:srgbClr val="0072BC"/>
          </a:solidFill>
          <a:ln/>
        </p:spPr>
      </p:sp>
      <p:sp>
        <p:nvSpPr>
          <p:cNvPr id="47" name="Text 45"/>
          <p:cNvSpPr txBox="1"/>
          <p:nvPr/>
        </p:nvSpPr>
        <p:spPr>
          <a:xfrm>
            <a:off x="7516368" y="3310128"/>
            <a:ext cx="3931920" cy="237744"/>
          </a:xfrm>
          <a:prstGeom prst="rect">
            <a:avLst/>
          </a:prstGeom>
          <a:noFill/>
          <a:ln/>
        </p:spPr>
        <p:txBody>
          <a:bodyPr wrap="square" lIns="0" tIns="0" rIns="0" bIns="0" rtlCol="0" anchor="t"/>
          <a:lstStyle/>
          <a:p>
            <a:pPr algn="l" indent="0" marL="0">
              <a:lnSpc>
                <a:spcPct val="100000"/>
              </a:lnSpc>
              <a:buNone/>
            </a:pPr>
            <a:r>
              <a:rPr lang="en-US" sz="950" b="1" spc="120" kern="0" dirty="0">
                <a:solidFill>
                  <a:srgbClr val="DCEFFA"/>
                </a:solidFill>
                <a:latin typeface="Arial" pitchFamily="34" charset="0"/>
                <a:ea typeface="Arial" pitchFamily="34" charset="-122"/>
                <a:cs typeface="Arial" pitchFamily="34" charset="-120"/>
              </a:rPr>
              <a:t>NORTH-STAR METRIC</a:t>
            </a:r>
            <a:endParaRPr lang="en-US" sz="950" dirty="0"/>
          </a:p>
        </p:txBody>
      </p:sp>
      <p:sp>
        <p:nvSpPr>
          <p:cNvPr id="48" name="Text 46"/>
          <p:cNvSpPr txBox="1"/>
          <p:nvPr/>
        </p:nvSpPr>
        <p:spPr>
          <a:xfrm>
            <a:off x="7516368" y="3566160"/>
            <a:ext cx="3977640" cy="731520"/>
          </a:xfrm>
          <a:prstGeom prst="rect">
            <a:avLst/>
          </a:prstGeom>
          <a:noFill/>
          <a:ln/>
        </p:spPr>
        <p:txBody>
          <a:bodyPr wrap="square" lIns="0" tIns="0" rIns="0" bIns="0" rtlCol="0" anchor="t"/>
          <a:lstStyle/>
          <a:p>
            <a:pPr algn="l" indent="0" marL="0">
              <a:lnSpc>
                <a:spcPct val="105000"/>
              </a:lnSpc>
              <a:buNone/>
            </a:pPr>
            <a:r>
              <a:rPr lang="en-US" sz="1300" b="1" dirty="0">
                <a:solidFill>
                  <a:srgbClr val="FFFFFF"/>
                </a:solidFill>
                <a:latin typeface="Arial" pitchFamily="34" charset="0"/>
                <a:ea typeface="Arial" pitchFamily="34" charset="-122"/>
                <a:cs typeface="Arial" pitchFamily="34" charset="-120"/>
              </a:rPr>
              <a:t>Weekly active merchants who complete a bill or payment and take one value-added action.</a:t>
            </a:r>
            <a:endParaRPr lang="en-US" sz="1300" dirty="0"/>
          </a:p>
        </p:txBody>
      </p:sp>
      <p:sp>
        <p:nvSpPr>
          <p:cNvPr id="49" name="Text 47"/>
          <p:cNvSpPr txBox="1"/>
          <p:nvPr/>
        </p:nvSpPr>
        <p:spPr>
          <a:xfrm>
            <a:off x="7315200" y="4617720"/>
            <a:ext cx="4325112" cy="1097280"/>
          </a:xfrm>
          <a:prstGeom prst="rect">
            <a:avLst/>
          </a:prstGeom>
          <a:noFill/>
          <a:ln/>
        </p:spPr>
        <p:txBody>
          <a:bodyPr wrap="square" lIns="0" tIns="0" rIns="0" bIns="0" rtlCol="0" anchor="t"/>
          <a:lstStyle/>
          <a:p>
            <a:pPr algn="l" indent="0" marL="0">
              <a:lnSpc>
                <a:spcPct val="105000"/>
              </a:lnSpc>
              <a:buNone/>
            </a:pPr>
            <a:r>
              <a:rPr lang="en-US" sz="2000" b="1" dirty="0">
                <a:solidFill>
                  <a:srgbClr val="FFFFFF"/>
                </a:solidFill>
                <a:latin typeface="Arial" pitchFamily="34" charset="0"/>
                <a:ea typeface="Arial" pitchFamily="34" charset="-122"/>
                <a:cs typeface="Arial" pitchFamily="34" charset="-120"/>
              </a:rPr>
              <a:t>Payments made the kirana digital. </a:t>
            </a:r>
            <a:pPr algn="l" indent="0" marL="0">
              <a:lnSpc>
                <a:spcPct val="105000"/>
              </a:lnSpc>
              <a:buNone/>
            </a:pPr>
            <a:r>
              <a:rPr lang="en-US" sz="2000" b="1" dirty="0">
                <a:solidFill>
                  <a:srgbClr val="8FD6F5"/>
                </a:solidFill>
                <a:latin typeface="Arial" pitchFamily="34" charset="0"/>
                <a:ea typeface="Arial" pitchFamily="34" charset="-122"/>
                <a:cs typeface="Arial" pitchFamily="34" charset="-120"/>
              </a:rPr>
              <a:t>Kirana Shop AI makes it smarter, every day.</a:t>
            </a:r>
            <a:endParaRPr lang="en-US" sz="2000" dirty="0"/>
          </a:p>
        </p:txBody>
      </p:sp>
      <p:sp>
        <p:nvSpPr>
          <p:cNvPr id="50" name="Text 48"/>
          <p:cNvSpPr txBox="1"/>
          <p:nvPr/>
        </p:nvSpPr>
        <p:spPr>
          <a:xfrm>
            <a:off x="7315200" y="5833872"/>
            <a:ext cx="4325112" cy="274320"/>
          </a:xfrm>
          <a:prstGeom prst="rect">
            <a:avLst/>
          </a:prstGeom>
          <a:noFill/>
          <a:ln/>
        </p:spPr>
        <p:txBody>
          <a:bodyPr wrap="square" lIns="0" tIns="0" rIns="0" bIns="0" rtlCol="0" anchor="t"/>
          <a:lstStyle/>
          <a:p>
            <a:pPr algn="l" indent="0" marL="0">
              <a:lnSpc>
                <a:spcPct val="100000"/>
              </a:lnSpc>
              <a:buNone/>
            </a:pPr>
            <a:r>
              <a:rPr lang="en-US" sz="1150" dirty="0">
                <a:solidFill>
                  <a:srgbClr val="B8C8E2"/>
                </a:solidFill>
                <a:latin typeface="Arial" pitchFamily="34" charset="0"/>
                <a:ea typeface="Arial" pitchFamily="34" charset="-122"/>
                <a:cs typeface="Arial" pitchFamily="34" charset="-120"/>
              </a:rPr>
              <a:t>Dhanyavaad. We’re ready to build it on 3 October.</a:t>
            </a:r>
            <a:endParaRPr lang="en-US" sz="1150" dirty="0"/>
          </a:p>
        </p:txBody>
      </p:sp>
      <p:sp>
        <p:nvSpPr>
          <p:cNvPr id="51" name="Text 49"/>
          <p:cNvSpPr txBox="1"/>
          <p:nvPr/>
        </p:nvSpPr>
        <p:spPr>
          <a:xfrm>
            <a:off x="548640" y="5852160"/>
            <a:ext cx="4206240" cy="237744"/>
          </a:xfrm>
          <a:prstGeom prst="roundRect">
            <a:avLst>
              <a:gd name="adj" fmla="val 50000"/>
            </a:avLst>
          </a:prstGeom>
          <a:solidFill>
            <a:srgbClr val="3A3322"/>
          </a:solidFill>
          <a:ln/>
        </p:spPr>
        <p:txBody>
          <a:bodyPr wrap="square" lIns="0" tIns="0" rIns="0" bIns="0" rtlCol="0" anchor="ctr"/>
          <a:lstStyle/>
          <a:p>
            <a:pPr algn="ctr" indent="0" marL="0">
              <a:lnSpc>
                <a:spcPct val="100000"/>
              </a:lnSpc>
              <a:buNone/>
            </a:pPr>
            <a:r>
              <a:rPr lang="en-US" sz="850" b="1" spc="60" kern="0" dirty="0">
                <a:solidFill>
                  <a:srgbClr val="F7C979"/>
                </a:solidFill>
                <a:latin typeface="Arial" pitchFamily="34" charset="0"/>
                <a:ea typeface="Arial" pitchFamily="34" charset="-122"/>
                <a:cs typeface="Arial" pitchFamily="34" charset="-120"/>
              </a:rPr>
              <a:t>PILOT SIZE IS OUR PLAN · TARGETS SET AFTER A BASELINE</a:t>
            </a:r>
            <a:endParaRPr lang="en-US" sz="850" dirty="0"/>
          </a:p>
        </p:txBody>
      </p:sp>
      <p:sp>
        <p:nvSpPr>
          <p:cNvPr id="52" name="Text 50"/>
          <p:cNvSpPr txBox="1"/>
          <p:nvPr/>
        </p:nvSpPr>
        <p:spPr>
          <a:xfrm>
            <a:off x="548640" y="6419088"/>
            <a:ext cx="4572000" cy="228600"/>
          </a:xfrm>
          <a:prstGeom prst="rect">
            <a:avLst/>
          </a:prstGeom>
          <a:noFill/>
          <a:ln/>
        </p:spPr>
        <p:txBody>
          <a:bodyPr wrap="square" lIns="0" tIns="0" rIns="0" bIns="0" rtlCol="0" anchor="t"/>
          <a:lstStyle/>
          <a:p>
            <a:pPr algn="l" indent="0" marL="0">
              <a:lnSpc>
                <a:spcPct val="100000"/>
              </a:lnSpc>
              <a:buNone/>
            </a:pPr>
            <a:r>
              <a:rPr lang="en-US" sz="900" b="1" dirty="0">
                <a:solidFill>
                  <a:srgbClr val="7F93B5"/>
                </a:solidFill>
                <a:latin typeface="Arial" pitchFamily="34" charset="0"/>
                <a:ea typeface="Arial" pitchFamily="34" charset="-122"/>
                <a:cs typeface="Arial" pitchFamily="34" charset="-120"/>
              </a:rPr>
              <a:t>Kirana Shop AI  ·  Team HackHorizon</a:t>
            </a:r>
            <a:endParaRPr lang="en-US" sz="900" dirty="0"/>
          </a:p>
        </p:txBody>
      </p:sp>
      <p:sp>
        <p:nvSpPr>
          <p:cNvPr id="53" name="Text 51"/>
          <p:cNvSpPr txBox="1"/>
          <p:nvPr/>
        </p:nvSpPr>
        <p:spPr>
          <a:xfrm>
            <a:off x="9354312" y="6419088"/>
            <a:ext cx="2286000" cy="228600"/>
          </a:xfrm>
          <a:prstGeom prst="rect">
            <a:avLst/>
          </a:prstGeom>
          <a:noFill/>
          <a:ln/>
        </p:spPr>
        <p:txBody>
          <a:bodyPr wrap="square" lIns="0" tIns="0" rIns="0" bIns="0" rtlCol="0" anchor="t"/>
          <a:lstStyle/>
          <a:p>
            <a:pPr algn="r" indent="0" marL="0">
              <a:lnSpc>
                <a:spcPct val="100000"/>
              </a:lnSpc>
              <a:buNone/>
            </a:pPr>
            <a:r>
              <a:rPr lang="en-US" sz="900" dirty="0">
                <a:solidFill>
                  <a:srgbClr val="7F93B5"/>
                </a:solidFill>
                <a:latin typeface="Arial" pitchFamily="34" charset="0"/>
                <a:ea typeface="Arial" pitchFamily="34" charset="-122"/>
                <a:cs typeface="Arial" pitchFamily="34" charset="-120"/>
              </a:rPr>
              <a:t>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Kirana Shop AI</dc:title>
  <dc:subject>Paytm Build for India AI Hackathon · Merchant Growth AI</dc:subject>
  <dc:creator>PptxGenJS</dc:creator>
  <cp:lastModifiedBy>PptxGenJS</cp:lastModifiedBy>
  <cp:revision>1</cp:revision>
  <dcterms:created xsi:type="dcterms:W3CDTF">2026-09-25T17:14:13Z</dcterms:created>
  <dcterms:modified xsi:type="dcterms:W3CDTF">2026-09-25T17:14:13Z</dcterms:modified>
</cp:coreProperties>
</file>